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E66E2C"/>
                </a:solidFill>
                <a:latin typeface="Calibri"/>
              </a:rPr>
              <a:t>WHOOP 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194560"/>
            <a:ext cx="164592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800" b="1">
                <a:solidFill>
                  <a:srgbClr val="1F3A5F"/>
                </a:solidFill>
                <a:latin typeface="Calibri"/>
              </a:rPr>
              <a:t>Is Series G $10.1B fairly priced?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93192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6B7280"/>
                </a:solidFill>
                <a:latin typeface="Calibri"/>
              </a:rPr>
              <a:t>Pressure-testing the March 2026 Series G — five methods, one verdict.</a:t>
            </a:r>
          </a:p>
        </p:txBody>
      </p:sp>
      <p:pic>
        <p:nvPicPr>
          <p:cNvPr id="6" name="Picture 5" descr="funding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4663440"/>
            <a:ext cx="15544800" cy="48626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8503920"/>
            <a:ext cx="1645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66E2C"/>
                </a:solidFill>
                <a:latin typeface="Calibri"/>
              </a:rPr>
              <a:t>Verdict: intrinsic $11.56B  |  +14.4% to Series G  |  modestly under-priced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982980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BUSN 20410 · Spring 2026 · Yannelis | Landon Brice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0" y="9829800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Calibri"/>
              </a:rPr>
              <a:t>01 / 17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737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E66E2C"/>
                </a:solidFill>
                <a:latin typeface="Calibri"/>
              </a:rPr>
              <a:t>COMPANY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0080"/>
            <a:ext cx="17373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1F3A5F"/>
                </a:solidFill>
                <a:latin typeface="Calibri"/>
              </a:rPr>
              <a:t>A premium wearable with healthcare ambitions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25880"/>
            <a:ext cx="1737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Calibri"/>
              </a:rPr>
              <a:t>Where WHOOP sits on the consumer–medical-device spectrum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1691640"/>
            <a:ext cx="17373600" cy="0"/>
          </a:xfrm>
          <a:prstGeom prst="line">
            <a:avLst/>
          </a:prstGeom>
          <a:ln w="190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457200" y="2103120"/>
            <a:ext cx="5669280" cy="4572000"/>
          </a:xfrm>
          <a:prstGeom prst="rect">
            <a:avLst/>
          </a:prstGeom>
          <a:solidFill>
            <a:srgbClr val="F3F4F6"/>
          </a:solidFill>
          <a:ln w="635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24028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E66E2C"/>
                </a:solidFill>
                <a:latin typeface="Calibri"/>
              </a:rPr>
              <a:t>WHAT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651760"/>
            <a:ext cx="512064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Hardware-free subscription wearable — band ships with active membership; revenue is recurring, not transactional.</a:t>
            </a:r>
          </a:p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/>
            </a:r>
          </a:p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· 2.5M+ paying members (end-2025)</a:t>
            </a:r>
          </a:p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· $30/month consumer Pro tier</a:t>
            </a:r>
          </a:p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· FDA-cleared ECG, BPI, Healthspan</a:t>
            </a:r>
          </a:p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· WHOOP Coach (generative AI)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2103120"/>
            <a:ext cx="5669280" cy="4572000"/>
          </a:xfrm>
          <a:prstGeom prst="rect">
            <a:avLst/>
          </a:prstGeom>
          <a:solidFill>
            <a:srgbClr val="F3F4F6"/>
          </a:solidFill>
          <a:ln w="635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0" y="224028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E66E2C"/>
                </a:solidFill>
                <a:latin typeface="Calibri"/>
              </a:rPr>
              <a:t>HOW IT GROWS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2651760"/>
            <a:ext cx="512064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103% YoY subscription growth.</a:t>
            </a:r>
          </a:p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Cash-flow positive in 2025.</a:t>
            </a:r>
          </a:p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FY25 recognized revenue ~$520M.</a:t>
            </a:r>
          </a:p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/>
            </a:r>
          </a:p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· ~80% consumer / ~20% B2B (Unite)</a:t>
            </a:r>
          </a:p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· 40-45% international revenue</a:t>
            </a:r>
          </a:p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· 60% of NEW members international</a:t>
            </a:r>
          </a:p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· 5 interim raises 2022-2025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344400" y="2103120"/>
            <a:ext cx="5669280" cy="4572000"/>
          </a:xfrm>
          <a:prstGeom prst="rect">
            <a:avLst/>
          </a:prstGeom>
          <a:solidFill>
            <a:srgbClr val="F3F4F6"/>
          </a:solidFill>
          <a:ln w="635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618720" y="224028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E66E2C"/>
                </a:solidFill>
                <a:latin typeface="Calibri"/>
              </a:rPr>
              <a:t>WHY HARD TO VALUE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618720" y="2651760"/>
            <a:ext cx="512064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No public comparable holds together what WHOOP is becoming:</a:t>
            </a:r>
          </a:p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/>
            </a:r>
          </a:p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· Hardware (Garmin) — sells boxes</a:t>
            </a:r>
          </a:p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· Subscription (Spotify/Peloton) — owns content</a:t>
            </a:r>
          </a:p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· Medical (Dexcom, ResMed) — paid by payers</a:t>
            </a:r>
          </a:p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/>
            </a:r>
          </a:p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WHOOP combines all three vectors before the platform is publicly visible. Comps systematically miss this.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6949440"/>
            <a:ext cx="17373600" cy="2286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7086600"/>
            <a:ext cx="1737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E66E2C"/>
                </a:solidFill>
                <a:latin typeface="Calibri"/>
              </a:rPr>
              <a:t>SERIES G — MARCH 31,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7589520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$575M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832104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F3F4F6"/>
                </a:solidFill>
                <a:latin typeface="Calibri"/>
              </a:rPr>
              <a:t>raised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80" y="7589520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$10.1B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11880" y="832104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F3F4F6"/>
                </a:solidFill>
                <a:latin typeface="Calibri"/>
              </a:rPr>
              <a:t>post-money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7589520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2.8x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832104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F3F4F6"/>
                </a:solidFill>
                <a:latin typeface="Calibri"/>
              </a:rPr>
              <a:t>step-up vs 2021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72600" y="7589520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Collaborative Fund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72600" y="832104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F3F4F6"/>
                </a:solidFill>
                <a:latin typeface="Calibri"/>
              </a:rPr>
              <a:t>lead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252960" y="7589520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Abbott · Mayo · QIA · Mubadala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0" y="832104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F3F4F6"/>
                </a:solidFill>
                <a:latin typeface="Calibri"/>
              </a:rPr>
              <a:t>strategic + sovereign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133320" y="7589520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IPO 2027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133320" y="832104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F3F4F6"/>
                </a:solidFill>
                <a:latin typeface="Calibri"/>
              </a:rPr>
              <a:t>explicit trajectory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982980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BUSN 20410 · Spring 2026 · Yannelis | Landon Brice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916400" y="9829800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Calibri"/>
              </a:rPr>
              <a:t>02 / 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737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E66E2C"/>
                </a:solidFill>
                <a:latin typeface="Calibri"/>
              </a:rPr>
              <a:t>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0080"/>
            <a:ext cx="17373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1F3A5F"/>
                </a:solidFill>
                <a:latin typeface="Calibri"/>
              </a:rPr>
              <a:t>Architecture: scenario-weighted DCF as primary, comps as cross-check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25880"/>
            <a:ext cx="1737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Calibri"/>
              </a:rPr>
              <a:t>How four valuation lenses triangulate against the Series G mark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1691640"/>
            <a:ext cx="17373600" cy="0"/>
          </a:xfrm>
          <a:prstGeom prst="line">
            <a:avLst/>
          </a:prstGeom>
          <a:ln w="190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457200" y="2103120"/>
            <a:ext cx="3383280" cy="36576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E66E2C"/>
                </a:solidFill>
                <a:latin typeface="Calibri"/>
              </a:rPr>
              <a:t>INTRINSIC DCF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1760"/>
            <a:ext cx="310896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  <a:latin typeface="Calibri"/>
              </a:rPr>
              <a:t>Scenario-weighted</a:t>
            </a:r>
          </a:p>
          <a:p>
            <a:pPr algn="l"/>
            <a:r>
              <a:rPr sz="1100" b="0">
                <a:solidFill>
                  <a:srgbClr val="111827"/>
                </a:solidFill>
                <a:latin typeface="Calibri"/>
              </a:rPr>
              <a:t>(Bear / Base / Bull)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023360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F3A5F"/>
                </a:solidFill>
                <a:latin typeface="Calibri"/>
              </a:rPr>
              <a:t>$11.56B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75488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40% weight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977639" y="2103120"/>
            <a:ext cx="3383280" cy="36576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60520" y="224028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E66E2C"/>
                </a:solidFill>
                <a:latin typeface="Calibri"/>
              </a:rPr>
              <a:t>PUBLIC COMPS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60520" y="2651760"/>
            <a:ext cx="310896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  <a:latin typeface="Calibri"/>
              </a:rPr>
              <a:t>Three buckets:</a:t>
            </a:r>
          </a:p>
          <a:p>
            <a:pPr algn="l"/>
            <a:r>
              <a:rPr sz="1100" b="0">
                <a:solidFill>
                  <a:srgbClr val="111827"/>
                </a:solidFill>
                <a:latin typeface="Calibri"/>
              </a:rPr>
              <a:t>hardware · sub · health-data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60520" y="4023360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F3A5F"/>
                </a:solidFill>
                <a:latin typeface="Calibri"/>
              </a:rPr>
              <a:t>$3.57B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60520" y="475488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35% weight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98079" y="2103120"/>
            <a:ext cx="3383280" cy="36576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80959" y="224028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E66E2C"/>
                </a:solidFill>
                <a:latin typeface="Calibri"/>
              </a:rPr>
              <a:t>PRECEDENT M&amp;A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59" y="2651760"/>
            <a:ext cx="310896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  <a:latin typeface="Calibri"/>
              </a:rPr>
              <a:t>14 deals across</a:t>
            </a:r>
          </a:p>
          <a:p>
            <a:pPr algn="l"/>
            <a:r>
              <a:rPr sz="1100" b="0">
                <a:solidFill>
                  <a:srgbClr val="111827"/>
                </a:solidFill>
                <a:latin typeface="Calibri"/>
              </a:rPr>
              <a:t>the three buckets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59" y="4023360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F3A5F"/>
                </a:solidFill>
                <a:latin typeface="Calibri"/>
              </a:rPr>
              <a:t>$5-8B*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59" y="475488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0% (cross-check)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018520" y="2103120"/>
            <a:ext cx="3383280" cy="36576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201400" y="224028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E66E2C"/>
                </a:solidFill>
                <a:latin typeface="Calibri"/>
              </a:rPr>
              <a:t>LAST-ROUND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01400" y="2651760"/>
            <a:ext cx="310896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  <a:latin typeface="Calibri"/>
              </a:rPr>
              <a:t>Series G post-money</a:t>
            </a:r>
          </a:p>
          <a:p>
            <a:pPr algn="l"/>
            <a:r>
              <a:rPr sz="1100" b="0">
                <a:solidFill>
                  <a:srgbClr val="111827"/>
                </a:solidFill>
                <a:latin typeface="Calibri"/>
              </a:rPr>
              <a:t>(Mar 2026)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01400" y="4023360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F3A5F"/>
                </a:solidFill>
                <a:latin typeface="Calibri"/>
              </a:rPr>
              <a:t>$10.10B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01400" y="475488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10% weight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4538960" y="2103120"/>
            <a:ext cx="3383280" cy="36576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721840" y="224028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E66E2C"/>
                </a:solidFill>
                <a:latin typeface="Calibri"/>
              </a:rPr>
              <a:t>IMPLIED IPO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721840" y="2651760"/>
            <a:ext cx="310896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  <a:latin typeface="Calibri"/>
              </a:rPr>
              <a:t>Private→IPO step-up</a:t>
            </a:r>
          </a:p>
          <a:p>
            <a:pPr algn="l"/>
            <a:r>
              <a:rPr sz="1100" b="0">
                <a:solidFill>
                  <a:srgbClr val="111827"/>
                </a:solidFill>
                <a:latin typeface="Calibri"/>
              </a:rPr>
              <a:t>reference class (6 deals)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721840" y="4023360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F3A5F"/>
                </a:solidFill>
                <a:latin typeface="Calibri"/>
              </a:rPr>
              <a:t>$14.69B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721840" y="475488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15% weight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126480"/>
            <a:ext cx="1737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E66E2C"/>
                </a:solidFill>
                <a:latin typeface="Calibri"/>
              </a:rPr>
              <a:t>WHY THIS ARCHITECTURE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537960"/>
            <a:ext cx="3840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F3A5F"/>
                </a:solidFill>
                <a:latin typeface="Calibri"/>
              </a:rPr>
              <a:t>Scenario-weighted DCF, not input-level.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34840" y="6537960"/>
            <a:ext cx="13258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111827"/>
                </a:solidFill>
                <a:latin typeface="Calibri"/>
              </a:rPr>
              <a:t>Jensen's inequality: input-averaging at the driver level destroys correlation. WHOOP's drivers co-move within scenarios — scenario-weighted captures the convexity premium worth $3.4B (Slide 9).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7040880"/>
            <a:ext cx="3840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F3A5F"/>
                </a:solidFill>
                <a:latin typeface="Calibri"/>
              </a:rPr>
              <a:t>Real options retained as exhibit, NOT additive.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34840" y="7040880"/>
            <a:ext cx="13258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111827"/>
                </a:solidFill>
                <a:latin typeface="Calibri"/>
              </a:rPr>
              <a:t>Healthcare reimbursement, women's health, glucose monitoring — modeled as correlated outcome clusters (success $5-6B at 15-20% prob; mixed $2-3B at 40-50%; failure $0.5-1B at 30-40%). Cross-validation only.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7543800"/>
            <a:ext cx="3840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F3A5F"/>
                </a:solidFill>
                <a:latin typeface="Calibri"/>
              </a:rPr>
              <a:t>Three-bucket comp framework, disaggregated.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34840" y="7543800"/>
            <a:ext cx="13258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111827"/>
                </a:solidFill>
                <a:latin typeface="Calibri"/>
              </a:rPr>
              <a:t>Bucket 2 (consumer subscription): Peloton 1.2x → Spotify 5.1x. Range IS the analysis; averaging destroys it.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8046720"/>
            <a:ext cx="3840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F3A5F"/>
                </a:solidFill>
                <a:latin typeface="Calibri"/>
              </a:rPr>
              <a:t>Take-private LBO leg excluded.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34840" y="8046720"/>
            <a:ext cx="13258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111827"/>
                </a:solidFill>
                <a:latin typeface="Calibri"/>
              </a:rPr>
              <a:t>All-VC preferred capital structure offers no debt capacity; sovereign + crossover signal locked-in IPO path; antitrust blocks Apple/Google strategic acquisition.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8549640"/>
            <a:ext cx="3840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F3A5F"/>
                </a:solidFill>
                <a:latin typeface="Calibri"/>
              </a:rPr>
              <a:t>Class connections.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34840" y="8549640"/>
            <a:ext cx="13258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111827"/>
                </a:solidFill>
                <a:latin typeface="Calibri"/>
              </a:rPr>
              <a:t>Lecture 1A (DCF mechanics) · 1B (cost of capital, Slide 7) · 3B (real options as exhibit) · 4B (relative valuation).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7200" y="982980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BUSN 20410 · Spring 2026 · Yannelis | Landon Brice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6916400" y="9829800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Calibri"/>
              </a:rPr>
              <a:t>03 / 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737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E66E2C"/>
                </a:solidFill>
                <a:latin typeface="Calibri"/>
              </a:rPr>
              <a:t>ASSUMPTION INVENTORY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0080"/>
            <a:ext cx="17373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1F3A5F"/>
                </a:solidFill>
                <a:latin typeface="Calibri"/>
              </a:rPr>
              <a:t>20 ProbWeighted drivers — what we sourced, what we stress-tested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25880"/>
            <a:ext cx="1737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Calibri"/>
              </a:rPr>
              <a:t>Ranked by Bull−Bear spread as % of |Base|; member growth dominates by section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1691640"/>
            <a:ext cx="17373600" cy="0"/>
          </a:xfrm>
          <a:prstGeom prst="line">
            <a:avLst/>
          </a:prstGeom>
          <a:ln w="190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assumption_inven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28800"/>
            <a:ext cx="17556480" cy="7675157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57200" y="9189720"/>
            <a:ext cx="17373600" cy="5943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9281160"/>
            <a:ext cx="17373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Read: 6 of the top 10 drivers are member-growth waypoints (MG1-MG8); ARPU growth is rank-13 by design. WACC and Terminal Multiple are the only non-volume drivers in the top 12 — exactly what Members-as-numerator architecture predicts.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982980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BUSN 20410 · Spring 2026 · Yannelis | Landon Brice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0" y="9829800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Calibri"/>
              </a:rPr>
              <a:t>04 / 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737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E66E2C"/>
                </a:solidFill>
                <a:latin typeface="Calibri"/>
              </a:rPr>
              <a:t>DCF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0080"/>
            <a:ext cx="17373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1F3A5F"/>
                </a:solidFill>
                <a:latin typeface="Calibri"/>
              </a:rPr>
              <a:t>Revenue = Members × ARPU; Members triangulated through four lenses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25880"/>
            <a:ext cx="1737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Calibri"/>
              </a:rPr>
              <a:t>Heavy analytical effort on Members; controlled discipline on ARPU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1691640"/>
            <a:ext cx="17373600" cy="0"/>
          </a:xfrm>
          <a:prstGeom prst="line">
            <a:avLst/>
          </a:prstGeom>
          <a:ln w="190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457200" y="2011680"/>
            <a:ext cx="17373600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240280"/>
            <a:ext cx="17373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Calibri"/>
              </a:rPr>
              <a:t>Revenue  =  Members  ×  ARPU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200400"/>
            <a:ext cx="8412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E66E2C"/>
                </a:solidFill>
                <a:latin typeface="Calibri"/>
              </a:rPr>
              <a:t>MEMBERS — FOUR-LENS TRIANGULATION (2033 Base ENDPOINT)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566160"/>
            <a:ext cx="8412480" cy="5120640"/>
          </a:xfrm>
          <a:prstGeom prst="rect">
            <a:avLst/>
          </a:prstGeom>
          <a:solidFill>
            <a:srgbClr val="F3F4F6"/>
          </a:solidFill>
          <a:ln w="635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749039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  <a:latin typeface="Calibri"/>
              </a:rPr>
              <a:t>Lens A — TAM × Terminal Share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3749039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25M premium-WTP TAM × 6%/yr × 30% share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3749039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F3A5F"/>
                </a:solidFill>
                <a:latin typeface="Calibri"/>
              </a:rPr>
              <a:t>→ 11.95M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  <a:latin typeface="Calibri"/>
              </a:rPr>
              <a:t>Lens B — Peloton stage-shift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420624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10.7M base × 1.08 free-hw × 0.97 ARPU drag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420624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F3A5F"/>
                </a:solidFill>
                <a:latin typeface="Calibri"/>
              </a:rPr>
              <a:t>→ 11.21M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663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  <a:latin typeface="Calibri"/>
              </a:rPr>
              <a:t>Lens C — Multi-comp (Apple/Oura)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466344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Three independent comps converge (median)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79" y="466344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F3A5F"/>
                </a:solidFill>
                <a:latin typeface="Calibri"/>
              </a:rPr>
              <a:t>→ 10.63M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1206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  <a:latin typeface="Calibri"/>
              </a:rPr>
              <a:t>Lens D — Capital-led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0" y="512064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$1.4B raised → S&amp;M capacity backsolve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79" y="512064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F3A5F"/>
                </a:solidFill>
                <a:latin typeface="Calibri"/>
              </a:rPr>
              <a:t>→ 8.38M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5778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F3A5F"/>
                </a:solidFill>
                <a:latin typeface="Calibri"/>
              </a:rPr>
              <a:t>Median across four lenses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2080" y="557784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/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79" y="557784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E66E2C"/>
                </a:solidFill>
                <a:latin typeface="Calibri"/>
              </a:rPr>
              <a:t>→ 10.92M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0350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F3A5F"/>
                </a:solidFill>
                <a:latin typeface="Calibri"/>
              </a:rPr>
              <a:t>Calibrated Base endpoint (model)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603504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MG-sequence 49/37/25/19/14/11/8/6%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79" y="603504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E66E2C"/>
                </a:solidFill>
                <a:latin typeface="Calibri"/>
              </a:rPr>
              <a:t>→ 10.92M 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7863840"/>
            <a:ext cx="8046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F3A5F"/>
                </a:solidFill>
                <a:latin typeface="Calibri"/>
              </a:rPr>
              <a:t>All four converge within ±15% of 10.9M Base endpoint.</a:t>
            </a:r>
          </a:p>
          <a:p>
            <a:pPr algn="l"/>
            <a:r>
              <a:rPr sz="1100" b="1">
                <a:solidFill>
                  <a:srgbClr val="1F3A5F"/>
                </a:solidFill>
                <a:latin typeface="Calibri"/>
              </a:rPr>
              <a:t>This convergence IS the methodology — not coincidence.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0" y="3200400"/>
            <a:ext cx="8686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E66E2C"/>
                </a:solidFill>
                <a:latin typeface="Calibri"/>
              </a:rPr>
              <a:t>ARPU — ASYMMETRIC DISCIPLINE BY SCENARIO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144000" y="3566160"/>
            <a:ext cx="8686800" cy="5120640"/>
          </a:xfrm>
          <a:prstGeom prst="rect">
            <a:avLst/>
          </a:prstGeom>
          <a:solidFill>
            <a:srgbClr val="F3F4F6"/>
          </a:solidFill>
          <a:ln w="635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26880" y="3749039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  <a:latin typeface="Calibri"/>
              </a:rPr>
              <a:t>2025 anchor: $274 (subscription $258 + Labs $15 + accessories $1)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26880" y="411480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  <a:latin typeface="Calibri"/>
              </a:rPr>
              <a:t>Growth rate IS where the scenario differentiates: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26880" y="466344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C0392B"/>
                </a:solidFill>
                <a:latin typeface="Calibri"/>
              </a:rPr>
              <a:t>Bear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32720" y="466344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11827"/>
                </a:solidFill>
                <a:latin typeface="Calibri"/>
              </a:rPr>
              <a:t>2.5%/yr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612880" y="46634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  <a:latin typeface="Calibri"/>
              </a:rPr>
              <a:t>$274 → $334 by 2033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356080" y="466344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Consumer pricing pressure; Apple Watch undercuts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26880" y="525780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3A5F"/>
                </a:solidFill>
                <a:latin typeface="Calibri"/>
              </a:rPr>
              <a:t>Base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332720" y="525780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11827"/>
                </a:solidFill>
                <a:latin typeface="Calibri"/>
              </a:rPr>
              <a:t>3.0%/yr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612880" y="525780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  <a:latin typeface="Calibri"/>
              </a:rPr>
              <a:t>$274 → $347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4356080" y="525780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Modest mix shift to higher tiers; Labs at 5-8% attach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26880" y="585216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2E7D32"/>
                </a:solidFill>
                <a:latin typeface="Calibri"/>
              </a:rPr>
              <a:t>Bull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332720" y="585216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11827"/>
                </a:solidFill>
                <a:latin typeface="Calibri"/>
              </a:rPr>
              <a:t>6.0%/yr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612880" y="585216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  <a:latin typeface="Calibri"/>
              </a:rPr>
              <a:t>$274 → $437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4356080" y="585216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Healthcare reimbursement materializes; bundle ramps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326880" y="6675120"/>
            <a:ext cx="82296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111827"/>
                </a:solidFill>
                <a:latin typeface="Calibri"/>
              </a:rPr>
              <a:t>WHY ASYMMETRIC?</a:t>
            </a:r>
          </a:p>
          <a:p>
            <a:pPr algn="l"/>
            <a:r>
              <a:rPr sz="1050" b="0">
                <a:solidFill>
                  <a:srgbClr val="111827"/>
                </a:solidFill>
                <a:latin typeface="Calibri"/>
              </a:rPr>
              <a:t/>
            </a:r>
          </a:p>
          <a:p>
            <a:pPr algn="l"/>
            <a:r>
              <a:rPr sz="1050" b="0">
                <a:solidFill>
                  <a:srgbClr val="111827"/>
                </a:solidFill>
                <a:latin typeface="Calibri"/>
              </a:rPr>
              <a:t>Bear/Base allow ARPU just enough to keep up with inflation + modest tier mix.</a:t>
            </a:r>
          </a:p>
          <a:p>
            <a:pPr algn="l"/>
            <a:r>
              <a:rPr sz="1050" b="0">
                <a:solidFill>
                  <a:srgbClr val="111827"/>
                </a:solidFill>
                <a:latin typeface="Calibri"/>
              </a:rPr>
              <a:t/>
            </a:r>
          </a:p>
          <a:p>
            <a:pPr algn="l"/>
            <a:r>
              <a:rPr sz="1050" b="0">
                <a:solidFill>
                  <a:srgbClr val="111827"/>
                </a:solidFill>
                <a:latin typeface="Calibri"/>
              </a:rPr>
              <a:t>Bull is where ARPU levers — but ONLY because Bull also requires healthcare reimbursement materialization, which mechanically lifts ARPU through payer-paid pricing. ARPU growth in Bull is a CONSEQUENCE of the scenario, not an independent assumption.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7200" y="982980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BUSN 20410 · Spring 2026 · Yannelis | Landon Brice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6916400" y="9829800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Calibri"/>
              </a:rPr>
              <a:t>05 / 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737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E66E2C"/>
                </a:solidFill>
                <a:latin typeface="Calibri"/>
              </a:rPr>
              <a:t>DCF MECHANICS — BUILD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0080"/>
            <a:ext cx="17373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1F3A5F"/>
                </a:solidFill>
                <a:latin typeface="Calibri"/>
              </a:rPr>
              <a:t>Year-by-year P&amp;L → FCF → discounting → Equity ($M)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25880"/>
            <a:ext cx="1737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Calibri"/>
              </a:rPr>
              <a:t>Base case; mid-year convention; 8-year explicit period (2026-2033); terminal value at year 8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1691640"/>
            <a:ext cx="17373600" cy="0"/>
          </a:xfrm>
          <a:prstGeom prst="line">
            <a:avLst/>
          </a:prstGeom>
          <a:ln w="190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57200" y="1920240"/>
            <a:ext cx="1737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E66E2C"/>
                </a:solidFill>
                <a:latin typeface="Calibri"/>
              </a:rPr>
              <a:t>P&amp;L YEAR-BY-YEAR  (Base case, $M)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240280"/>
            <a:ext cx="17373600" cy="3931920"/>
          </a:xfrm>
          <a:prstGeom prst="rect">
            <a:avLst/>
          </a:prstGeom>
          <a:solidFill>
            <a:srgbClr val="FFFFFF"/>
          </a:solidFill>
          <a:ln w="635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28600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6B7280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2286000"/>
            <a:ext cx="157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1F3A5F"/>
                </a:solidFill>
                <a:latin typeface="Calibri"/>
              </a:rPr>
              <a:t>2025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32400" y="2286000"/>
            <a:ext cx="157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1F3A5F"/>
                </a:solidFill>
                <a:latin typeface="Calibri"/>
              </a:rPr>
              <a:t>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07200" y="2286000"/>
            <a:ext cx="157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1F3A5F"/>
                </a:solidFill>
                <a:latin typeface="Calibri"/>
              </a:rPr>
              <a:t>2027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0" y="2286000"/>
            <a:ext cx="157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1F3A5F"/>
                </a:solidFill>
                <a:latin typeface="Calibri"/>
              </a:rPr>
              <a:t>2028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56800" y="2286000"/>
            <a:ext cx="157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1F3A5F"/>
                </a:solidFill>
                <a:latin typeface="Calibri"/>
              </a:rPr>
              <a:t>2029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31600" y="2286000"/>
            <a:ext cx="157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1F3A5F"/>
                </a:solidFill>
                <a:latin typeface="Calibri"/>
              </a:rPr>
              <a:t>2030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106400" y="2286000"/>
            <a:ext cx="157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1F3A5F"/>
                </a:solidFill>
                <a:latin typeface="Calibri"/>
              </a:rPr>
              <a:t>2031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81200" y="2286000"/>
            <a:ext cx="157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1F3A5F"/>
                </a:solidFill>
                <a:latin typeface="Calibri"/>
              </a:rPr>
              <a:t>2032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56000" y="2286000"/>
            <a:ext cx="157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1F3A5F"/>
                </a:solidFill>
                <a:latin typeface="Calibri"/>
              </a:rPr>
              <a:t>2033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532888"/>
            <a:ext cx="31089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6B7280"/>
                </a:solidFill>
                <a:latin typeface="Calibri"/>
              </a:rPr>
              <a:t>Phase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2532888"/>
            <a:ext cx="1574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>
                <a:solidFill>
                  <a:srgbClr val="6B7280"/>
                </a:solidFill>
                <a:latin typeface="Calibri"/>
              </a:rPr>
              <a:t>Hist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32400" y="2532888"/>
            <a:ext cx="1574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>
                <a:solidFill>
                  <a:srgbClr val="6B7280"/>
                </a:solidFill>
                <a:latin typeface="Calibri"/>
              </a:rPr>
              <a:t>Phase 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07200" y="2532888"/>
            <a:ext cx="1574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>
                <a:solidFill>
                  <a:srgbClr val="6B7280"/>
                </a:solidFill>
                <a:latin typeface="Calibri"/>
              </a:rPr>
              <a:t>Phase 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82000" y="2532888"/>
            <a:ext cx="1574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>
                <a:solidFill>
                  <a:srgbClr val="6B7280"/>
                </a:solidFill>
                <a:latin typeface="Calibri"/>
              </a:rPr>
              <a:t>Phase 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56800" y="2532888"/>
            <a:ext cx="1574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>
                <a:solidFill>
                  <a:srgbClr val="6B7280"/>
                </a:solidFill>
                <a:latin typeface="Calibri"/>
              </a:rPr>
              <a:t>Phase 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531600" y="2532888"/>
            <a:ext cx="1574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>
                <a:solidFill>
                  <a:srgbClr val="6B7280"/>
                </a:solidFill>
                <a:latin typeface="Calibri"/>
              </a:rPr>
              <a:t>Phase 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106400" y="2532888"/>
            <a:ext cx="1574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>
                <a:solidFill>
                  <a:srgbClr val="6B7280"/>
                </a:solidFill>
                <a:latin typeface="Calibri"/>
              </a:rPr>
              <a:t>Phase 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681200" y="2532888"/>
            <a:ext cx="1574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>
                <a:solidFill>
                  <a:srgbClr val="6B7280"/>
                </a:solidFill>
                <a:latin typeface="Calibri"/>
              </a:rPr>
              <a:t>Phase 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256000" y="2532888"/>
            <a:ext cx="1574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>
                <a:solidFill>
                  <a:srgbClr val="6B7280"/>
                </a:solidFill>
                <a:latin typeface="Calibri"/>
              </a:rPr>
              <a:t>Phase 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2834640"/>
            <a:ext cx="31089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11827"/>
                </a:solidFill>
                <a:latin typeface="Calibri"/>
              </a:rPr>
              <a:t>Ending Members (M)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2834640"/>
            <a:ext cx="1574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111827"/>
                </a:solidFill>
                <a:latin typeface="Calibri"/>
              </a:rPr>
              <a:t>2.5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32400" y="2834640"/>
            <a:ext cx="1574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111827"/>
                </a:solidFill>
                <a:latin typeface="Calibri"/>
              </a:rPr>
              <a:t>3.7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07200" y="2834640"/>
            <a:ext cx="1574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111827"/>
                </a:solidFill>
                <a:latin typeface="Calibri"/>
              </a:rPr>
              <a:t>5.1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82000" y="2834640"/>
            <a:ext cx="1574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111827"/>
                </a:solidFill>
                <a:latin typeface="Calibri"/>
              </a:rPr>
              <a:t>6.4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56800" y="2834640"/>
            <a:ext cx="1574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111827"/>
                </a:solidFill>
                <a:latin typeface="Calibri"/>
              </a:rPr>
              <a:t>7.6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531600" y="2834640"/>
            <a:ext cx="1574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111827"/>
                </a:solidFill>
                <a:latin typeface="Calibri"/>
              </a:rPr>
              <a:t>8.6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106400" y="2834640"/>
            <a:ext cx="1574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111827"/>
                </a:solidFill>
                <a:latin typeface="Calibri"/>
              </a:rPr>
              <a:t>9.6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681200" y="2834640"/>
            <a:ext cx="1574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111827"/>
                </a:solidFill>
                <a:latin typeface="Calibri"/>
              </a:rPr>
              <a:t>10.3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256000" y="2834640"/>
            <a:ext cx="1574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111827"/>
                </a:solidFill>
                <a:latin typeface="Calibri"/>
              </a:rPr>
              <a:t>10.9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3108960"/>
            <a:ext cx="31089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11827"/>
                </a:solidFill>
                <a:latin typeface="Calibri"/>
              </a:rPr>
              <a:t>ARPU ($)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57600" y="3108960"/>
            <a:ext cx="1574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111827"/>
                </a:solidFill>
                <a:latin typeface="Calibri"/>
              </a:rPr>
              <a:t>$274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232400" y="3108960"/>
            <a:ext cx="1574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111827"/>
                </a:solidFill>
                <a:latin typeface="Calibri"/>
              </a:rPr>
              <a:t>$282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07200" y="3108960"/>
            <a:ext cx="1574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111827"/>
                </a:solidFill>
                <a:latin typeface="Calibri"/>
              </a:rPr>
              <a:t>$291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82000" y="3108960"/>
            <a:ext cx="1574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111827"/>
                </a:solidFill>
                <a:latin typeface="Calibri"/>
              </a:rPr>
              <a:t>$299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56800" y="3108960"/>
            <a:ext cx="1574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111827"/>
                </a:solidFill>
                <a:latin typeface="Calibri"/>
              </a:rPr>
              <a:t>$308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531600" y="3108960"/>
            <a:ext cx="1574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111827"/>
                </a:solidFill>
                <a:latin typeface="Calibri"/>
              </a:rPr>
              <a:t>$318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3106400" y="3108960"/>
            <a:ext cx="1574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111827"/>
                </a:solidFill>
                <a:latin typeface="Calibri"/>
              </a:rPr>
              <a:t>$327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4681200" y="3108960"/>
            <a:ext cx="1574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111827"/>
                </a:solidFill>
                <a:latin typeface="Calibri"/>
              </a:rPr>
              <a:t>$337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6256000" y="3108960"/>
            <a:ext cx="1574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111827"/>
                </a:solidFill>
                <a:latin typeface="Calibri"/>
              </a:rPr>
              <a:t>$347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8640" y="3383279"/>
            <a:ext cx="31089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F3A5F"/>
                </a:solidFill>
                <a:latin typeface="Calibri"/>
              </a:rPr>
              <a:t>Revenue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57600" y="3383279"/>
            <a:ext cx="1574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>
                <a:solidFill>
                  <a:srgbClr val="1F3A5F"/>
                </a:solidFill>
                <a:latin typeface="Calibri"/>
              </a:rPr>
              <a:t>521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32400" y="3383279"/>
            <a:ext cx="1574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>
                <a:solidFill>
                  <a:srgbClr val="1F3A5F"/>
                </a:solidFill>
                <a:latin typeface="Calibri"/>
              </a:rPr>
              <a:t>878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807200" y="3383279"/>
            <a:ext cx="1574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>
                <a:solidFill>
                  <a:srgbClr val="1F3A5F"/>
                </a:solidFill>
                <a:latin typeface="Calibri"/>
              </a:rPr>
              <a:t>1283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82000" y="3383279"/>
            <a:ext cx="1574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>
                <a:solidFill>
                  <a:srgbClr val="1F3A5F"/>
                </a:solidFill>
                <a:latin typeface="Calibri"/>
              </a:rPr>
              <a:t>1723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56800" y="3383279"/>
            <a:ext cx="1574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>
                <a:solidFill>
                  <a:srgbClr val="1F3A5F"/>
                </a:solidFill>
                <a:latin typeface="Calibri"/>
              </a:rPr>
              <a:t>2159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531600" y="3383279"/>
            <a:ext cx="1574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>
                <a:solidFill>
                  <a:srgbClr val="1F3A5F"/>
                </a:solidFill>
                <a:latin typeface="Calibri"/>
              </a:rPr>
              <a:t>2578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3106400" y="3383279"/>
            <a:ext cx="1574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>
                <a:solidFill>
                  <a:srgbClr val="1F3A5F"/>
                </a:solidFill>
                <a:latin typeface="Calibri"/>
              </a:rPr>
              <a:t>2978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4681200" y="3383279"/>
            <a:ext cx="1574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>
                <a:solidFill>
                  <a:srgbClr val="1F3A5F"/>
                </a:solidFill>
                <a:latin typeface="Calibri"/>
              </a:rPr>
              <a:t>3350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6256000" y="3383279"/>
            <a:ext cx="1574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>
                <a:solidFill>
                  <a:srgbClr val="1F3A5F"/>
                </a:solidFill>
                <a:latin typeface="Calibri"/>
              </a:rPr>
              <a:t>3686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3657599"/>
            <a:ext cx="31089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11827"/>
                </a:solidFill>
                <a:latin typeface="Calibri"/>
              </a:rPr>
              <a:t>  YoY Growth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57600" y="3657599"/>
            <a:ext cx="1574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111827"/>
                </a:solidFill>
                <a:latin typeface="Calibri"/>
              </a:rPr>
              <a:t>0%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32400" y="3657599"/>
            <a:ext cx="1574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111827"/>
                </a:solidFill>
                <a:latin typeface="Calibri"/>
              </a:rPr>
              <a:t>69%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807200" y="3657599"/>
            <a:ext cx="1574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111827"/>
                </a:solidFill>
                <a:latin typeface="Calibri"/>
              </a:rPr>
              <a:t>46%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382000" y="3657599"/>
            <a:ext cx="1574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111827"/>
                </a:solidFill>
                <a:latin typeface="Calibri"/>
              </a:rPr>
              <a:t>34%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956800" y="3657599"/>
            <a:ext cx="1574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111827"/>
                </a:solidFill>
                <a:latin typeface="Calibri"/>
              </a:rPr>
              <a:t>25%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531600" y="3657599"/>
            <a:ext cx="1574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111827"/>
                </a:solidFill>
                <a:latin typeface="Calibri"/>
              </a:rPr>
              <a:t>19%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3106400" y="3657599"/>
            <a:ext cx="1574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111827"/>
                </a:solidFill>
                <a:latin typeface="Calibri"/>
              </a:rPr>
              <a:t>16%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4681200" y="3657599"/>
            <a:ext cx="1574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111827"/>
                </a:solidFill>
                <a:latin typeface="Calibri"/>
              </a:rPr>
              <a:t>12%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6256000" y="3657599"/>
            <a:ext cx="1574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111827"/>
                </a:solidFill>
                <a:latin typeface="Calibri"/>
              </a:rPr>
              <a:t>10%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48640" y="3913631"/>
            <a:ext cx="31089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11827"/>
                </a:solidFill>
                <a:latin typeface="Calibri"/>
              </a:rPr>
              <a:t>Gross Profit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657600" y="3913631"/>
            <a:ext cx="1574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111827"/>
                </a:solidFill>
                <a:latin typeface="Calibri"/>
              </a:rPr>
              <a:t>312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232400" y="3913631"/>
            <a:ext cx="1574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111827"/>
                </a:solidFill>
                <a:latin typeface="Calibri"/>
              </a:rPr>
              <a:t>659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807200" y="3913631"/>
            <a:ext cx="1574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111827"/>
                </a:solidFill>
                <a:latin typeface="Calibri"/>
              </a:rPr>
              <a:t>972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382000" y="3913631"/>
            <a:ext cx="1574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111827"/>
                </a:solidFill>
                <a:latin typeface="Calibri"/>
              </a:rPr>
              <a:t>1317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956800" y="3913631"/>
            <a:ext cx="1574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111827"/>
                </a:solidFill>
                <a:latin typeface="Calibri"/>
              </a:rPr>
              <a:t>1665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1531600" y="3913631"/>
            <a:ext cx="1574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111827"/>
                </a:solidFill>
                <a:latin typeface="Calibri"/>
              </a:rPr>
              <a:t>2007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3106400" y="3913631"/>
            <a:ext cx="1574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111827"/>
                </a:solidFill>
                <a:latin typeface="Calibri"/>
              </a:rPr>
              <a:t>2340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4681200" y="3913631"/>
            <a:ext cx="1574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111827"/>
                </a:solidFill>
                <a:latin typeface="Calibri"/>
              </a:rPr>
              <a:t>2656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6256000" y="3913631"/>
            <a:ext cx="1574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111827"/>
                </a:solidFill>
                <a:latin typeface="Calibri"/>
              </a:rPr>
              <a:t>2949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48640" y="4169663"/>
            <a:ext cx="31089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11827"/>
                </a:solidFill>
                <a:latin typeface="Calibri"/>
              </a:rPr>
              <a:t>  Gross Margin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657600" y="4169663"/>
            <a:ext cx="1574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111827"/>
                </a:solidFill>
                <a:latin typeface="Calibri"/>
              </a:rPr>
              <a:t>60%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232400" y="4169663"/>
            <a:ext cx="1574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111827"/>
                </a:solidFill>
                <a:latin typeface="Calibri"/>
              </a:rPr>
              <a:t>75%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807200" y="4169663"/>
            <a:ext cx="1574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111827"/>
                </a:solidFill>
                <a:latin typeface="Calibri"/>
              </a:rPr>
              <a:t>76%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382000" y="4169663"/>
            <a:ext cx="1574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111827"/>
                </a:solidFill>
                <a:latin typeface="Calibri"/>
              </a:rPr>
              <a:t>76%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956800" y="4169663"/>
            <a:ext cx="1574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111827"/>
                </a:solidFill>
                <a:latin typeface="Calibri"/>
              </a:rPr>
              <a:t>77%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1531600" y="4169663"/>
            <a:ext cx="1574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111827"/>
                </a:solidFill>
                <a:latin typeface="Calibri"/>
              </a:rPr>
              <a:t>78%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3106400" y="4169663"/>
            <a:ext cx="1574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111827"/>
                </a:solidFill>
                <a:latin typeface="Calibri"/>
              </a:rPr>
              <a:t>79%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4681200" y="4169663"/>
            <a:ext cx="1574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111827"/>
                </a:solidFill>
                <a:latin typeface="Calibri"/>
              </a:rPr>
              <a:t>79%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6256000" y="4169663"/>
            <a:ext cx="1574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111827"/>
                </a:solidFill>
                <a:latin typeface="Calibri"/>
              </a:rPr>
              <a:t>80%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4425696"/>
            <a:ext cx="31089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11827"/>
                </a:solidFill>
                <a:latin typeface="Calibri"/>
              </a:rPr>
              <a:t>Total OpEx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657600" y="4425696"/>
            <a:ext cx="1574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111827"/>
                </a:solidFill>
                <a:latin typeface="Calibri"/>
              </a:rPr>
              <a:t>422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232400" y="4425696"/>
            <a:ext cx="1574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111827"/>
                </a:solidFill>
                <a:latin typeface="Calibri"/>
              </a:rPr>
              <a:t>737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807200" y="4425696"/>
            <a:ext cx="1574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111827"/>
                </a:solidFill>
                <a:latin typeface="Calibri"/>
              </a:rPr>
              <a:t>1069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382000" y="4425696"/>
            <a:ext cx="1574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111827"/>
                </a:solidFill>
                <a:latin typeface="Calibri"/>
              </a:rPr>
              <a:t>1310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956800" y="4425696"/>
            <a:ext cx="1574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111827"/>
                </a:solidFill>
                <a:latin typeface="Calibri"/>
              </a:rPr>
              <a:t>1505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531600" y="4425696"/>
            <a:ext cx="1574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111827"/>
                </a:solidFill>
                <a:latin typeface="Calibri"/>
              </a:rPr>
              <a:t>1699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3106400" y="4425696"/>
            <a:ext cx="1574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111827"/>
                </a:solidFill>
                <a:latin typeface="Calibri"/>
              </a:rPr>
              <a:t>1871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4681200" y="4425696"/>
            <a:ext cx="1574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111827"/>
                </a:solidFill>
                <a:latin typeface="Calibri"/>
              </a:rPr>
              <a:t>2002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6256000" y="4425696"/>
            <a:ext cx="1574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111827"/>
                </a:solidFill>
                <a:latin typeface="Calibri"/>
              </a:rPr>
              <a:t>2108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48640" y="4681728"/>
            <a:ext cx="31089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11827"/>
                </a:solidFill>
                <a:latin typeface="Calibri"/>
              </a:rPr>
              <a:t>EBIT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657600" y="4681728"/>
            <a:ext cx="1574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>
                <a:solidFill>
                  <a:srgbClr val="111827"/>
                </a:solidFill>
                <a:latin typeface="Calibri"/>
              </a:rPr>
              <a:t>-109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232400" y="4681728"/>
            <a:ext cx="1574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>
                <a:solidFill>
                  <a:srgbClr val="111827"/>
                </a:solidFill>
                <a:latin typeface="Calibri"/>
              </a:rPr>
              <a:t>-78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807200" y="4681728"/>
            <a:ext cx="1574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>
                <a:solidFill>
                  <a:srgbClr val="111827"/>
                </a:solidFill>
                <a:latin typeface="Calibri"/>
              </a:rPr>
              <a:t>-97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382000" y="4681728"/>
            <a:ext cx="1574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>
                <a:solidFill>
                  <a:srgbClr val="111827"/>
                </a:solidFill>
                <a:latin typeface="Calibri"/>
              </a:rPr>
              <a:t>7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956800" y="4681728"/>
            <a:ext cx="1574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>
                <a:solidFill>
                  <a:srgbClr val="111827"/>
                </a:solidFill>
                <a:latin typeface="Calibri"/>
              </a:rPr>
              <a:t>160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1531600" y="4681728"/>
            <a:ext cx="1574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>
                <a:solidFill>
                  <a:srgbClr val="111827"/>
                </a:solidFill>
                <a:latin typeface="Calibri"/>
              </a:rPr>
              <a:t>309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3106400" y="4681728"/>
            <a:ext cx="1574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>
                <a:solidFill>
                  <a:srgbClr val="111827"/>
                </a:solidFill>
                <a:latin typeface="Calibri"/>
              </a:rPr>
              <a:t>469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4681200" y="4681728"/>
            <a:ext cx="1574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>
                <a:solidFill>
                  <a:srgbClr val="111827"/>
                </a:solidFill>
                <a:latin typeface="Calibri"/>
              </a:rPr>
              <a:t>654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6256000" y="4681728"/>
            <a:ext cx="1574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>
                <a:solidFill>
                  <a:srgbClr val="111827"/>
                </a:solidFill>
                <a:latin typeface="Calibri"/>
              </a:rPr>
              <a:t>841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48640" y="4937760"/>
            <a:ext cx="31089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11827"/>
                </a:solidFill>
                <a:latin typeface="Calibri"/>
              </a:rPr>
              <a:t>  Less: Cash Taxes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3657600" y="4937760"/>
            <a:ext cx="1574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111827"/>
                </a:solidFill>
                <a:latin typeface="Calibri"/>
              </a:rP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5232400" y="4937760"/>
            <a:ext cx="1574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111827"/>
                </a:solidFill>
                <a:latin typeface="Calibri"/>
              </a:rPr>
              <a:t>0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07200" y="4937760"/>
            <a:ext cx="1574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111827"/>
                </a:solidFill>
                <a:latin typeface="Calibri"/>
              </a:rPr>
              <a:t>0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382000" y="4937760"/>
            <a:ext cx="1574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111827"/>
                </a:solidFill>
                <a:latin typeface="Calibri"/>
              </a:rPr>
              <a:t>2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956800" y="4937760"/>
            <a:ext cx="1574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111827"/>
                </a:solidFill>
                <a:latin typeface="Calibri"/>
              </a:rPr>
              <a:t>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1531600" y="4937760"/>
            <a:ext cx="1574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111827"/>
                </a:solidFill>
                <a:latin typeface="Calibri"/>
              </a:rPr>
              <a:t>69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3106400" y="4937760"/>
            <a:ext cx="1574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111827"/>
                </a:solidFill>
                <a:latin typeface="Calibri"/>
              </a:rPr>
              <a:t>122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4681200" y="4937760"/>
            <a:ext cx="1574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111827"/>
                </a:solidFill>
                <a:latin typeface="Calibri"/>
              </a:rPr>
              <a:t>169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6256000" y="4937760"/>
            <a:ext cx="1574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111827"/>
                </a:solidFill>
                <a:latin typeface="Calibri"/>
              </a:rPr>
              <a:t>217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5193792"/>
            <a:ext cx="31089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11827"/>
                </a:solidFill>
                <a:latin typeface="Calibri"/>
              </a:rPr>
              <a:t>  Plus: D&amp;A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57600" y="5193792"/>
            <a:ext cx="1574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111827"/>
                </a:solidFill>
                <a:latin typeface="Calibri"/>
              </a:rPr>
              <a:t>18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5232400" y="5193792"/>
            <a:ext cx="1574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111827"/>
                </a:solidFill>
                <a:latin typeface="Calibri"/>
              </a:rPr>
              <a:t>31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807200" y="5193792"/>
            <a:ext cx="1574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111827"/>
                </a:solidFill>
                <a:latin typeface="Calibri"/>
              </a:rPr>
              <a:t>45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382000" y="5193792"/>
            <a:ext cx="1574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111827"/>
                </a:solidFill>
                <a:latin typeface="Calibri"/>
              </a:rPr>
              <a:t>60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956800" y="5193792"/>
            <a:ext cx="1574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111827"/>
                </a:solidFill>
                <a:latin typeface="Calibri"/>
              </a:rPr>
              <a:t>76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531600" y="5193792"/>
            <a:ext cx="1574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111827"/>
                </a:solidFill>
                <a:latin typeface="Calibri"/>
              </a:rPr>
              <a:t>90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3106400" y="5193792"/>
            <a:ext cx="1574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111827"/>
                </a:solidFill>
                <a:latin typeface="Calibri"/>
              </a:rPr>
              <a:t>104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4681200" y="5193792"/>
            <a:ext cx="1574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111827"/>
                </a:solidFill>
                <a:latin typeface="Calibri"/>
              </a:rPr>
              <a:t>117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6256000" y="5193792"/>
            <a:ext cx="1574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111827"/>
                </a:solidFill>
                <a:latin typeface="Calibri"/>
              </a:rPr>
              <a:t>129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48640" y="5449824"/>
            <a:ext cx="31089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11827"/>
                </a:solidFill>
                <a:latin typeface="Calibri"/>
              </a:rPr>
              <a:t>  Less: CapEx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3657600" y="5449824"/>
            <a:ext cx="1574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111827"/>
                </a:solidFill>
                <a:latin typeface="Calibri"/>
              </a:rPr>
              <a:t>-21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5232400" y="5449824"/>
            <a:ext cx="1574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111827"/>
                </a:solidFill>
                <a:latin typeface="Calibri"/>
              </a:rPr>
              <a:t>-35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6807200" y="5449824"/>
            <a:ext cx="1574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111827"/>
                </a:solidFill>
                <a:latin typeface="Calibri"/>
              </a:rPr>
              <a:t>-51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8382000" y="5449824"/>
            <a:ext cx="1574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111827"/>
                </a:solidFill>
                <a:latin typeface="Calibri"/>
              </a:rPr>
              <a:t>-69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9956800" y="5449824"/>
            <a:ext cx="1574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111827"/>
                </a:solidFill>
                <a:latin typeface="Calibri"/>
              </a:rPr>
              <a:t>-86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1531600" y="5449824"/>
            <a:ext cx="1574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111827"/>
                </a:solidFill>
                <a:latin typeface="Calibri"/>
              </a:rPr>
              <a:t>-103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3106400" y="5449824"/>
            <a:ext cx="1574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111827"/>
                </a:solidFill>
                <a:latin typeface="Calibri"/>
              </a:rPr>
              <a:t>-119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4681200" y="5449824"/>
            <a:ext cx="1574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111827"/>
                </a:solidFill>
                <a:latin typeface="Calibri"/>
              </a:rPr>
              <a:t>-134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6256000" y="5449824"/>
            <a:ext cx="1574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111827"/>
                </a:solidFill>
                <a:latin typeface="Calibri"/>
              </a:rPr>
              <a:t>-147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548640" y="5705856"/>
            <a:ext cx="31089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11827"/>
                </a:solidFill>
                <a:latin typeface="Calibri"/>
              </a:rPr>
              <a:t>  Plus: Δ NWC (def rev)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3657600" y="5705856"/>
            <a:ext cx="1574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111827"/>
                </a:solidFill>
                <a:latin typeface="Calibri"/>
              </a:rPr>
              <a:t>100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232400" y="5705856"/>
            <a:ext cx="1574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111827"/>
                </a:solidFill>
                <a:latin typeface="Calibri"/>
              </a:rPr>
              <a:t>172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807200" y="5705856"/>
            <a:ext cx="1574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111827"/>
                </a:solidFill>
                <a:latin typeface="Calibri"/>
              </a:rPr>
              <a:t>214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382000" y="5705856"/>
            <a:ext cx="1574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111827"/>
                </a:solidFill>
                <a:latin typeface="Calibri"/>
              </a:rPr>
              <a:t>213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956800" y="5705856"/>
            <a:ext cx="1574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111827"/>
                </a:solidFill>
                <a:latin typeface="Calibri"/>
              </a:rPr>
              <a:t>210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1531600" y="5705856"/>
            <a:ext cx="1574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111827"/>
                </a:solidFill>
                <a:latin typeface="Calibri"/>
              </a:rPr>
              <a:t>198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3106400" y="5705856"/>
            <a:ext cx="1574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111827"/>
                </a:solidFill>
                <a:latin typeface="Calibri"/>
              </a:rPr>
              <a:t>192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4681200" y="5705856"/>
            <a:ext cx="1574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111827"/>
                </a:solidFill>
                <a:latin typeface="Calibri"/>
              </a:rPr>
              <a:t>171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6256000" y="5705856"/>
            <a:ext cx="1574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111827"/>
                </a:solidFill>
                <a:latin typeface="Calibri"/>
              </a:rPr>
              <a:t>153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5961888"/>
            <a:ext cx="31089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E66E2C"/>
                </a:solidFill>
                <a:latin typeface="Calibri"/>
              </a:rPr>
              <a:t>Unlevered FCF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0" y="5961888"/>
            <a:ext cx="1574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>
                <a:solidFill>
                  <a:srgbClr val="E66E2C"/>
                </a:solidFill>
                <a:latin typeface="Calibri"/>
              </a:rPr>
              <a:t>-11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232400" y="5961888"/>
            <a:ext cx="1574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>
                <a:solidFill>
                  <a:srgbClr val="E66E2C"/>
                </a:solidFill>
                <a:latin typeface="Calibri"/>
              </a:rPr>
              <a:t>90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6807200" y="5961888"/>
            <a:ext cx="1574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>
                <a:solidFill>
                  <a:srgbClr val="E66E2C"/>
                </a:solidFill>
                <a:latin typeface="Calibri"/>
              </a:rPr>
              <a:t>110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382000" y="5961888"/>
            <a:ext cx="1574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>
                <a:solidFill>
                  <a:srgbClr val="E66E2C"/>
                </a:solidFill>
                <a:latin typeface="Calibri"/>
              </a:rPr>
              <a:t>210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956800" y="5961888"/>
            <a:ext cx="1574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>
                <a:solidFill>
                  <a:srgbClr val="E66E2C"/>
                </a:solidFill>
                <a:latin typeface="Calibri"/>
              </a:rPr>
              <a:t>350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531600" y="5961888"/>
            <a:ext cx="1574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>
                <a:solidFill>
                  <a:srgbClr val="E66E2C"/>
                </a:solidFill>
                <a:latin typeface="Calibri"/>
              </a:rPr>
              <a:t>424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106400" y="5961888"/>
            <a:ext cx="1574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>
                <a:solidFill>
                  <a:srgbClr val="E66E2C"/>
                </a:solidFill>
                <a:latin typeface="Calibri"/>
              </a:rPr>
              <a:t>523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4681200" y="5961888"/>
            <a:ext cx="1574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>
                <a:solidFill>
                  <a:srgbClr val="E66E2C"/>
                </a:solidFill>
                <a:latin typeface="Calibri"/>
              </a:rPr>
              <a:t>639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6256000" y="5961888"/>
            <a:ext cx="1574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>
                <a:solidFill>
                  <a:srgbClr val="E66E2C"/>
                </a:solidFill>
                <a:latin typeface="Calibri"/>
              </a:rPr>
              <a:t>758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548640" y="6236208"/>
            <a:ext cx="31089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11827"/>
                </a:solidFill>
                <a:latin typeface="Calibri"/>
              </a:rPr>
              <a:t>  FCF Margin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3657600" y="6236208"/>
            <a:ext cx="1574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111827"/>
                </a:solidFill>
                <a:latin typeface="Calibri"/>
              </a:rPr>
              <a:t>-2%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5232400" y="6236208"/>
            <a:ext cx="1574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111827"/>
                </a:solidFill>
                <a:latin typeface="Calibri"/>
              </a:rPr>
              <a:t>10%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6807200" y="6236208"/>
            <a:ext cx="1574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111827"/>
                </a:solidFill>
                <a:latin typeface="Calibri"/>
              </a:rPr>
              <a:t>9%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8382000" y="6236208"/>
            <a:ext cx="1574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111827"/>
                </a:solidFill>
                <a:latin typeface="Calibri"/>
              </a:rPr>
              <a:t>12%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9956800" y="6236208"/>
            <a:ext cx="1574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111827"/>
                </a:solidFill>
                <a:latin typeface="Calibri"/>
              </a:rPr>
              <a:t>16%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31600" y="6236208"/>
            <a:ext cx="1574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111827"/>
                </a:solidFill>
                <a:latin typeface="Calibri"/>
              </a:rPr>
              <a:t>16%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3106400" y="6236208"/>
            <a:ext cx="1574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111827"/>
                </a:solidFill>
                <a:latin typeface="Calibri"/>
              </a:rPr>
              <a:t>18%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4681200" y="6236208"/>
            <a:ext cx="1574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111827"/>
                </a:solidFill>
                <a:latin typeface="Calibri"/>
              </a:rPr>
              <a:t>19%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6256000" y="6236208"/>
            <a:ext cx="1574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111827"/>
                </a:solidFill>
                <a:latin typeface="Calibri"/>
              </a:rPr>
              <a:t>21%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457200" y="64008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E66E2C"/>
                </a:solidFill>
                <a:latin typeface="Calibri"/>
              </a:rPr>
              <a:t>DISCOUNTING — PV(FCF) AND TERMINAL VALUE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457200" y="6720840"/>
            <a:ext cx="10058400" cy="2834640"/>
          </a:xfrm>
          <a:prstGeom prst="rect">
            <a:avLst/>
          </a:prstGeom>
          <a:solidFill>
            <a:srgbClr val="FFFFFF"/>
          </a:solidFill>
          <a:ln w="635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640080" y="6812280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6B7280"/>
                </a:solidFill>
                <a:latin typeface="Calibri"/>
              </a:rPr>
              <a:t>Year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2103120" y="6812280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>
                <a:solidFill>
                  <a:srgbClr val="6B7280"/>
                </a:solidFill>
                <a:latin typeface="Calibri"/>
              </a:rPr>
              <a:t>UFCF ($M)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3657600" y="6812280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>
                <a:solidFill>
                  <a:srgbClr val="6B7280"/>
                </a:solidFill>
                <a:latin typeface="Calibri"/>
              </a:rPr>
              <a:t>Period (yr)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5120640" y="6812280"/>
            <a:ext cx="1554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>
                <a:solidFill>
                  <a:srgbClr val="6B7280"/>
                </a:solidFill>
                <a:latin typeface="Calibri"/>
              </a:rPr>
              <a:t>Discount Factor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6766560" y="6812280"/>
            <a:ext cx="1554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>
                <a:solidFill>
                  <a:srgbClr val="6B7280"/>
                </a:solidFill>
                <a:latin typeface="Calibri"/>
              </a:rPr>
              <a:t>PV(FCF) ($M)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412480" y="6812280"/>
            <a:ext cx="20116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280"/>
                </a:solidFill>
                <a:latin typeface="Calibri"/>
              </a:rPr>
              <a:t>@ WACC = 11.59%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640080" y="7059168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11827"/>
                </a:solidFill>
                <a:latin typeface="Calibri"/>
              </a:rPr>
              <a:t>2026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2103120" y="7059168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111827"/>
                </a:solidFill>
                <a:latin typeface="Calibri"/>
              </a:rPr>
              <a:t>90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3657600" y="7059168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111827"/>
                </a:solidFill>
                <a:latin typeface="Calibri"/>
              </a:rPr>
              <a:t>0.5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5120640" y="7059168"/>
            <a:ext cx="1554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111827"/>
                </a:solidFill>
                <a:latin typeface="Calibri"/>
              </a:rPr>
              <a:t>0.9467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6766560" y="7059168"/>
            <a:ext cx="1554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111827"/>
                </a:solidFill>
                <a:latin typeface="Calibri"/>
              </a:rPr>
              <a:t>85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640080" y="7278624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11827"/>
                </a:solidFill>
                <a:latin typeface="Calibri"/>
              </a:rPr>
              <a:t>2027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2103120" y="7278624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111827"/>
                </a:solidFill>
                <a:latin typeface="Calibri"/>
              </a:rPr>
              <a:t>110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3657600" y="7278624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111827"/>
                </a:solidFill>
                <a:latin typeface="Calibri"/>
              </a:rPr>
              <a:t>1.5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5120640" y="7278624"/>
            <a:ext cx="1554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111827"/>
                </a:solidFill>
                <a:latin typeface="Calibri"/>
              </a:rPr>
              <a:t>0.8484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6766560" y="7278624"/>
            <a:ext cx="1554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111827"/>
                </a:solidFill>
                <a:latin typeface="Calibri"/>
              </a:rPr>
              <a:t>94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640080" y="7498079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11827"/>
                </a:solidFill>
                <a:latin typeface="Calibri"/>
              </a:rPr>
              <a:t>2028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2103120" y="7498079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111827"/>
                </a:solidFill>
                <a:latin typeface="Calibri"/>
              </a:rPr>
              <a:t>210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3657600" y="7498079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111827"/>
                </a:solidFill>
                <a:latin typeface="Calibri"/>
              </a:rPr>
              <a:t>2.5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5120640" y="7498079"/>
            <a:ext cx="1554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111827"/>
                </a:solidFill>
                <a:latin typeface="Calibri"/>
              </a:rPr>
              <a:t>0.7603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766560" y="7498079"/>
            <a:ext cx="1554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111827"/>
                </a:solidFill>
                <a:latin typeface="Calibri"/>
              </a:rPr>
              <a:t>160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40080" y="7717536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11827"/>
                </a:solidFill>
                <a:latin typeface="Calibri"/>
              </a:rPr>
              <a:t>2029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2103120" y="7717536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111827"/>
                </a:solidFill>
                <a:latin typeface="Calibri"/>
              </a:rPr>
              <a:t>350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3657600" y="7717536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111827"/>
                </a:solidFill>
                <a:latin typeface="Calibri"/>
              </a:rPr>
              <a:t>3.5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5120640" y="7717536"/>
            <a:ext cx="1554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111827"/>
                </a:solidFill>
                <a:latin typeface="Calibri"/>
              </a:rPr>
              <a:t>0.6813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6766560" y="7717536"/>
            <a:ext cx="1554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111827"/>
                </a:solidFill>
                <a:latin typeface="Calibri"/>
              </a:rPr>
              <a:t>239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640080" y="793699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11827"/>
                </a:solidFill>
                <a:latin typeface="Calibri"/>
              </a:rPr>
              <a:t>2030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2103120" y="793699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111827"/>
                </a:solidFill>
                <a:latin typeface="Calibri"/>
              </a:rPr>
              <a:t>424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3657600" y="793699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111827"/>
                </a:solidFill>
                <a:latin typeface="Calibri"/>
              </a:rPr>
              <a:t>4.5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5120640" y="7936992"/>
            <a:ext cx="1554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111827"/>
                </a:solidFill>
                <a:latin typeface="Calibri"/>
              </a:rPr>
              <a:t>0.6106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6766560" y="7936992"/>
            <a:ext cx="1554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111827"/>
                </a:solidFill>
                <a:latin typeface="Calibri"/>
              </a:rPr>
              <a:t>259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640080" y="8156448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11827"/>
                </a:solidFill>
                <a:latin typeface="Calibri"/>
              </a:rPr>
              <a:t>2031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2103120" y="8156448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111827"/>
                </a:solidFill>
                <a:latin typeface="Calibri"/>
              </a:rPr>
              <a:t>523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3657600" y="8156448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111827"/>
                </a:solidFill>
                <a:latin typeface="Calibri"/>
              </a:rPr>
              <a:t>5.5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5120640" y="8156448"/>
            <a:ext cx="1554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111827"/>
                </a:solidFill>
                <a:latin typeface="Calibri"/>
              </a:rPr>
              <a:t>0.5472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6766560" y="8156448"/>
            <a:ext cx="1554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111827"/>
                </a:solidFill>
                <a:latin typeface="Calibri"/>
              </a:rPr>
              <a:t>286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640080" y="8375904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11827"/>
                </a:solidFill>
                <a:latin typeface="Calibri"/>
              </a:rPr>
              <a:t>2032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2103120" y="8375904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111827"/>
                </a:solidFill>
                <a:latin typeface="Calibri"/>
              </a:rPr>
              <a:t>639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3657600" y="8375904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111827"/>
                </a:solidFill>
                <a:latin typeface="Calibri"/>
              </a:rPr>
              <a:t>6.5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5120640" y="8375904"/>
            <a:ext cx="1554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111827"/>
                </a:solidFill>
                <a:latin typeface="Calibri"/>
              </a:rPr>
              <a:t>0.4903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6766560" y="8375904"/>
            <a:ext cx="1554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111827"/>
                </a:solidFill>
                <a:latin typeface="Calibri"/>
              </a:rPr>
              <a:t>313</a:t>
            </a:r>
          </a:p>
        </p:txBody>
      </p:sp>
      <p:sp>
        <p:nvSpPr>
          <p:cNvPr id="211" name="TextBox 210"/>
          <p:cNvSpPr txBox="1"/>
          <p:nvPr/>
        </p:nvSpPr>
        <p:spPr>
          <a:xfrm>
            <a:off x="640080" y="8595360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11827"/>
                </a:solidFill>
                <a:latin typeface="Calibri"/>
              </a:rPr>
              <a:t>2033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2103120" y="8595360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111827"/>
                </a:solidFill>
                <a:latin typeface="Calibri"/>
              </a:rPr>
              <a:t>758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3657600" y="8595360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111827"/>
                </a:solidFill>
                <a:latin typeface="Calibri"/>
              </a:rPr>
              <a:t>7.5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5120640" y="8595360"/>
            <a:ext cx="1554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111827"/>
                </a:solidFill>
                <a:latin typeface="Calibri"/>
              </a:rPr>
              <a:t>0.4394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6766560" y="8595360"/>
            <a:ext cx="1554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111827"/>
                </a:solidFill>
                <a:latin typeface="Calibri"/>
              </a:rPr>
              <a:t>333</a:t>
            </a:r>
          </a:p>
        </p:txBody>
      </p:sp>
      <p:cxnSp>
        <p:nvCxnSpPr>
          <p:cNvPr id="216" name="Connector 215"/>
          <p:cNvCxnSpPr/>
          <p:nvPr/>
        </p:nvCxnSpPr>
        <p:spPr>
          <a:xfrm>
            <a:off x="640080" y="8814816"/>
            <a:ext cx="9692640" cy="0"/>
          </a:xfrm>
          <a:prstGeom prst="line">
            <a:avLst/>
          </a:prstGeom>
          <a:ln w="1016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7" name="TextBox 216"/>
          <p:cNvSpPr txBox="1"/>
          <p:nvPr/>
        </p:nvSpPr>
        <p:spPr>
          <a:xfrm>
            <a:off x="640080" y="8860536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11827"/>
                </a:solidFill>
                <a:latin typeface="Calibri"/>
              </a:rPr>
              <a:t>Σ PV(FCF)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6766560" y="8860536"/>
            <a:ext cx="1554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111827"/>
                </a:solidFill>
                <a:latin typeface="Calibri"/>
              </a:rPr>
              <a:t>1769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640080" y="9107424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111827"/>
                </a:solidFill>
                <a:latin typeface="Calibri"/>
              </a:rPr>
              <a:t>Terminal Value (yr8)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6766560" y="9107424"/>
            <a:ext cx="1554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111827"/>
                </a:solidFill>
                <a:latin typeface="Calibri"/>
              </a:rPr>
              <a:t>PV = 4833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640080" y="930859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  Exit 3.5×Rev = $12.9B  ·  Gordon (g=3%) = $9.1B  ·  Blended = $11.0B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0972800" y="640080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E66E2C"/>
                </a:solidFill>
                <a:latin typeface="Calibri"/>
              </a:rPr>
              <a:t>EV → EQUITY BRIDGE (Base)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10972800" y="6720840"/>
            <a:ext cx="6858000" cy="2834640"/>
          </a:xfrm>
          <a:prstGeom prst="rect">
            <a:avLst/>
          </a:prstGeom>
          <a:solidFill>
            <a:srgbClr val="FFFFFF"/>
          </a:solidFill>
          <a:ln w="635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11064240" y="690372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111827"/>
                </a:solidFill>
                <a:latin typeface="Calibri"/>
              </a:rPr>
              <a:t>Σ PV(FCF)</a:t>
            </a:r>
          </a:p>
        </p:txBody>
      </p:sp>
      <p:sp>
        <p:nvSpPr>
          <p:cNvPr id="225" name="Rectangle 224"/>
          <p:cNvSpPr/>
          <p:nvPr/>
        </p:nvSpPr>
        <p:spPr>
          <a:xfrm>
            <a:off x="12801600" y="6903720"/>
            <a:ext cx="1149222" cy="2286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TextBox 225"/>
          <p:cNvSpPr txBox="1"/>
          <p:nvPr/>
        </p:nvSpPr>
        <p:spPr>
          <a:xfrm>
            <a:off x="14042262" y="6903720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>
                <a:solidFill>
                  <a:srgbClr val="1F3A5F"/>
                </a:solidFill>
                <a:latin typeface="Calibri"/>
              </a:rPr>
              <a:t>1769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1064240" y="7287768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111827"/>
                </a:solidFill>
                <a:latin typeface="Calibri"/>
              </a:rPr>
              <a:t>+ PV(TV)</a:t>
            </a:r>
          </a:p>
        </p:txBody>
      </p:sp>
      <p:sp>
        <p:nvSpPr>
          <p:cNvPr id="228" name="Rectangle 227"/>
          <p:cNvSpPr/>
          <p:nvPr/>
        </p:nvSpPr>
        <p:spPr>
          <a:xfrm>
            <a:off x="12801600" y="7287768"/>
            <a:ext cx="3138897" cy="2286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TextBox 228"/>
          <p:cNvSpPr txBox="1"/>
          <p:nvPr/>
        </p:nvSpPr>
        <p:spPr>
          <a:xfrm>
            <a:off x="16031937" y="7287768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>
                <a:solidFill>
                  <a:srgbClr val="1F3A5F"/>
                </a:solidFill>
                <a:latin typeface="Calibri"/>
              </a:rPr>
              <a:t>4833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11064240" y="7671816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111827"/>
                </a:solidFill>
                <a:latin typeface="Calibri"/>
              </a:rPr>
              <a:t>= Enterprise V</a:t>
            </a:r>
          </a:p>
        </p:txBody>
      </p:sp>
      <p:sp>
        <p:nvSpPr>
          <p:cNvPr id="231" name="Rectangle 230"/>
          <p:cNvSpPr/>
          <p:nvPr/>
        </p:nvSpPr>
        <p:spPr>
          <a:xfrm>
            <a:off x="12801600" y="7671816"/>
            <a:ext cx="4288120" cy="228600"/>
          </a:xfrm>
          <a:prstGeom prst="rect">
            <a:avLst/>
          </a:prstGeom>
          <a:solidFill>
            <a:srgbClr val="E66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TextBox 231"/>
          <p:cNvSpPr txBox="1"/>
          <p:nvPr/>
        </p:nvSpPr>
        <p:spPr>
          <a:xfrm>
            <a:off x="17181160" y="7671816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>
                <a:solidFill>
                  <a:srgbClr val="E66E2C"/>
                </a:solidFill>
                <a:latin typeface="Calibri"/>
              </a:rPr>
              <a:t>6602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1064240" y="8055864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111827"/>
                </a:solidFill>
                <a:latin typeface="Calibri"/>
              </a:rPr>
              <a:t>Less: Debt</a:t>
            </a:r>
          </a:p>
        </p:txBody>
      </p:sp>
      <p:sp>
        <p:nvSpPr>
          <p:cNvPr id="234" name="Rectangle 233"/>
          <p:cNvSpPr/>
          <p:nvPr/>
        </p:nvSpPr>
        <p:spPr>
          <a:xfrm>
            <a:off x="12801600" y="8055864"/>
            <a:ext cx="6495" cy="2286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TextBox 234"/>
          <p:cNvSpPr txBox="1"/>
          <p:nvPr/>
        </p:nvSpPr>
        <p:spPr>
          <a:xfrm>
            <a:off x="12899535" y="8055864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>
                <a:solidFill>
                  <a:srgbClr val="C0392B"/>
                </a:solidFill>
                <a:latin typeface="Calibri"/>
              </a:rPr>
              <a:t>-10</a:t>
            </a:r>
          </a:p>
        </p:txBody>
      </p:sp>
      <p:sp>
        <p:nvSpPr>
          <p:cNvPr id="236" name="TextBox 235"/>
          <p:cNvSpPr txBox="1"/>
          <p:nvPr/>
        </p:nvSpPr>
        <p:spPr>
          <a:xfrm>
            <a:off x="11064240" y="843991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111827"/>
                </a:solidFill>
                <a:latin typeface="Calibri"/>
              </a:rPr>
              <a:t>Plus: Cash</a:t>
            </a:r>
          </a:p>
        </p:txBody>
      </p:sp>
      <p:sp>
        <p:nvSpPr>
          <p:cNvPr id="237" name="Rectangle 236"/>
          <p:cNvSpPr/>
          <p:nvPr/>
        </p:nvSpPr>
        <p:spPr>
          <a:xfrm>
            <a:off x="12801600" y="8439912"/>
            <a:ext cx="473255" cy="22860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TextBox 237"/>
          <p:cNvSpPr txBox="1"/>
          <p:nvPr/>
        </p:nvSpPr>
        <p:spPr>
          <a:xfrm>
            <a:off x="13366295" y="8439912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>
                <a:solidFill>
                  <a:srgbClr val="2E7D32"/>
                </a:solidFill>
                <a:latin typeface="Calibri"/>
              </a:rPr>
              <a:t>729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11064240" y="882396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111827"/>
                </a:solidFill>
                <a:latin typeface="Calibri"/>
              </a:rPr>
              <a:t>= Equity Value</a:t>
            </a:r>
          </a:p>
        </p:txBody>
      </p:sp>
      <p:sp>
        <p:nvSpPr>
          <p:cNvPr id="240" name="Rectangle 239"/>
          <p:cNvSpPr/>
          <p:nvPr/>
        </p:nvSpPr>
        <p:spPr>
          <a:xfrm>
            <a:off x="12801600" y="8823960"/>
            <a:ext cx="4754880" cy="228600"/>
          </a:xfrm>
          <a:prstGeom prst="rect">
            <a:avLst/>
          </a:prstGeom>
          <a:solidFill>
            <a:srgbClr val="E66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TextBox 240"/>
          <p:cNvSpPr txBox="1"/>
          <p:nvPr/>
        </p:nvSpPr>
        <p:spPr>
          <a:xfrm>
            <a:off x="17647920" y="8823960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>
                <a:solidFill>
                  <a:srgbClr val="E66E2C"/>
                </a:solidFill>
                <a:latin typeface="Calibri"/>
              </a:rPr>
              <a:t>7321</a:t>
            </a:r>
          </a:p>
        </p:txBody>
      </p:sp>
      <p:sp>
        <p:nvSpPr>
          <p:cNvPr id="242" name="Rectangle 241"/>
          <p:cNvSpPr/>
          <p:nvPr/>
        </p:nvSpPr>
        <p:spPr>
          <a:xfrm>
            <a:off x="10972800" y="9555480"/>
            <a:ext cx="6858000" cy="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TextBox 242"/>
          <p:cNvSpPr txBox="1"/>
          <p:nvPr/>
        </p:nvSpPr>
        <p:spPr>
          <a:xfrm>
            <a:off x="457200" y="982980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BUSN 20410 · Spring 2026 · Yannelis | Landon Brice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16916400" y="9829800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Calibri"/>
              </a:rPr>
              <a:t>06 / 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737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E66E2C"/>
                </a:solidFill>
                <a:latin typeface="Calibri"/>
              </a:rPr>
              <a:t>DCF MECHANICS — WACC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0080"/>
            <a:ext cx="17373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1F3A5F"/>
                </a:solidFill>
                <a:latin typeface="Calibri"/>
              </a:rPr>
              <a:t>Bottoms-up build: 11.59% Base WACC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25880"/>
            <a:ext cx="1737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Calibri"/>
              </a:rPr>
              <a:t>Comp regressions → unlever → bucket-weight → re-lever → CAPM. Damodaran sector cross-check converges within 0.07 β.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1691640"/>
            <a:ext cx="17373600" cy="0"/>
          </a:xfrm>
          <a:prstGeom prst="line">
            <a:avLst/>
          </a:prstGeom>
          <a:ln w="190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57200" y="192024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E66E2C"/>
                </a:solidFill>
                <a:latin typeface="Calibri"/>
              </a:rPr>
              <a:t>§1  PER-COMP REGRESSED BETAS  (3Y weekly, Bloomberg-adj)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286000"/>
            <a:ext cx="8412480" cy="2926080"/>
          </a:xfrm>
          <a:prstGeom prst="rect">
            <a:avLst/>
          </a:prstGeom>
          <a:solidFill>
            <a:srgbClr val="FFFFFF"/>
          </a:solidFill>
          <a:ln w="635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7744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6B7280"/>
                </a:solidFill>
                <a:latin typeface="Calibri"/>
              </a:rPr>
              <a:t>Comp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2377440"/>
            <a:ext cx="31089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6B7280"/>
                </a:solidFill>
                <a:latin typeface="Calibri"/>
              </a:rPr>
              <a:t>Bucket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2377440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>
                <a:solidFill>
                  <a:srgbClr val="6B7280"/>
                </a:solidFill>
                <a:latin typeface="Calibri"/>
              </a:rPr>
              <a:t>β raw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2377440"/>
            <a:ext cx="6400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>
                <a:solidFill>
                  <a:srgbClr val="6B7280"/>
                </a:solidFill>
                <a:latin typeface="Calibri"/>
              </a:rPr>
              <a:t>β adj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2377440"/>
            <a:ext cx="6400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>
                <a:solidFill>
                  <a:srgbClr val="6B7280"/>
                </a:solidFill>
                <a:latin typeface="Calibri"/>
              </a:rPr>
              <a:t>R²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670048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111827"/>
                </a:solidFill>
                <a:latin typeface="Calibri"/>
              </a:rPr>
              <a:t>Garmin (GRMN)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2670048"/>
            <a:ext cx="31089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111827"/>
                </a:solidFill>
                <a:latin typeface="Calibri"/>
              </a:rPr>
              <a:t>B1 Hardware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2670048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1.029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0" y="2670048"/>
            <a:ext cx="6400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111827"/>
                </a:solidFill>
                <a:latin typeface="Calibri"/>
              </a:rPr>
              <a:t>1.019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670048"/>
            <a:ext cx="6400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0.216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2916936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111827"/>
                </a:solidFill>
                <a:latin typeface="Calibri"/>
              </a:rPr>
              <a:t>Peloton (PTON)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17520" y="2916936"/>
            <a:ext cx="31089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111827"/>
                </a:solidFill>
                <a:latin typeface="Calibri"/>
              </a:rPr>
              <a:t>B2 Sub (distressed)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2916936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2.283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2916936"/>
            <a:ext cx="6400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111827"/>
                </a:solidFill>
                <a:latin typeface="Calibri"/>
              </a:rPr>
              <a:t>1.855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916936"/>
            <a:ext cx="6400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0.185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3163824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111827"/>
                </a:solidFill>
                <a:latin typeface="Calibri"/>
              </a:rPr>
              <a:t>Spotify (SPOT)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17520" y="3163824"/>
            <a:ext cx="31089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111827"/>
                </a:solidFill>
                <a:latin typeface="Calibri"/>
              </a:rPr>
              <a:t>B2 Sub (mature)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0" y="3163824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1.014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0" y="3163824"/>
            <a:ext cx="6400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111827"/>
                </a:solidFill>
                <a:latin typeface="Calibri"/>
              </a:rPr>
              <a:t>1.010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0" y="3163824"/>
            <a:ext cx="6400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0.134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3410712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111827"/>
                </a:solidFill>
                <a:latin typeface="Calibri"/>
              </a:rPr>
              <a:t>Dexcom (DXCM)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017520" y="3410712"/>
            <a:ext cx="31089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111827"/>
                </a:solidFill>
                <a:latin typeface="Calibri"/>
              </a:rPr>
              <a:t>B3 Health Data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0" y="3410712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1.080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0" y="3410712"/>
            <a:ext cx="6400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111827"/>
                </a:solidFill>
                <a:latin typeface="Calibri"/>
              </a:rPr>
              <a:t>1.054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3410712"/>
            <a:ext cx="6400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0.119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365760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111827"/>
                </a:solidFill>
                <a:latin typeface="Calibri"/>
              </a:rPr>
              <a:t>ResMed (RMD)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017520" y="3657600"/>
            <a:ext cx="31089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111827"/>
                </a:solidFill>
                <a:latin typeface="Calibri"/>
              </a:rPr>
              <a:t>B3 Health Data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17920" y="3657600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0.962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0" y="3657600"/>
            <a:ext cx="6400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111827"/>
                </a:solidFill>
                <a:latin typeface="Calibri"/>
              </a:rPr>
              <a:t>0.974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46720" y="3657600"/>
            <a:ext cx="6400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0.181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" y="3904487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111827"/>
                </a:solidFill>
                <a:latin typeface="Calibri"/>
              </a:rPr>
              <a:t>Masimo (MASI)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017520" y="3904487"/>
            <a:ext cx="31089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111827"/>
                </a:solidFill>
                <a:latin typeface="Calibri"/>
              </a:rPr>
              <a:t>B3 Health Data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17920" y="3904487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0.885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15200" y="3904487"/>
            <a:ext cx="6400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111827"/>
                </a:solidFill>
                <a:latin typeface="Calibri"/>
              </a:rPr>
              <a:t>0.924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46720" y="3904487"/>
            <a:ext cx="6400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0.090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" y="4151375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111827"/>
                </a:solidFill>
                <a:latin typeface="Calibri"/>
              </a:rPr>
              <a:t>iRhythm (IRTC)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017520" y="4151375"/>
            <a:ext cx="31089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111827"/>
                </a:solidFill>
                <a:latin typeface="Calibri"/>
              </a:rPr>
              <a:t>B3 Health Data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17920" y="4151375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0.816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15200" y="4151375"/>
            <a:ext cx="6400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111827"/>
                </a:solidFill>
                <a:latin typeface="Calibri"/>
              </a:rPr>
              <a:t>0.877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46720" y="4151375"/>
            <a:ext cx="6400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0.057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0080" y="461772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Notes: All zero-net-debt or near-zero (unlevered = levered). PTON excluded from B2 median (distress).</a:t>
            </a:r>
          </a:p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R² range 5.7% (IRTC) - 21.6% (GRMN). Bloomberg adjustment: β_adj = ⅔ β_raw + ⅓ × 1.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534924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E66E2C"/>
                </a:solidFill>
                <a:latin typeface="Calibri"/>
              </a:rPr>
              <a:t>§2  BUCKET MEDIAN UNLEVERED β  (ex-PTON for B2)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5715000"/>
            <a:ext cx="841248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40080" y="5806440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6B7280"/>
                </a:solidFill>
                <a:latin typeface="Calibri"/>
              </a:rPr>
              <a:t>Bucket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931920" y="580644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6B7280"/>
                </a:solidFill>
                <a:latin typeface="Calibri"/>
              </a:rPr>
              <a:t>Comps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680960" y="5806440"/>
            <a:ext cx="10058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>
                <a:solidFill>
                  <a:srgbClr val="6B7280"/>
                </a:solidFill>
                <a:latin typeface="Calibri"/>
              </a:rPr>
              <a:t>Median βᵤ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0080" y="6080760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111827"/>
                </a:solidFill>
                <a:latin typeface="Calibri"/>
              </a:rPr>
              <a:t>B1 — Consumer hardware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931920" y="60807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Garmin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680960" y="6080760"/>
            <a:ext cx="10058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1F3A5F"/>
                </a:solidFill>
                <a:latin typeface="Calibri"/>
              </a:rPr>
              <a:t>1.015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0080" y="633679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111827"/>
                </a:solidFill>
                <a:latin typeface="Calibri"/>
              </a:rPr>
              <a:t>B2 — Consumer subscription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931920" y="6336792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Spotify (ex-Peloton)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680960" y="6336792"/>
            <a:ext cx="10058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1F3A5F"/>
                </a:solidFill>
                <a:latin typeface="Calibri"/>
              </a:rPr>
              <a:t>1.005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40080" y="6592824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111827"/>
                </a:solidFill>
                <a:latin typeface="Calibri"/>
              </a:rPr>
              <a:t>B3 — Health data / med-device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931920" y="6592824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Dexcom · ResMed · Masimo · iRhythm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80960" y="6592824"/>
            <a:ext cx="10058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1F3A5F"/>
                </a:solidFill>
                <a:latin typeface="Calibri"/>
              </a:rPr>
              <a:t>0.919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144000" y="1920240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E66E2C"/>
                </a:solidFill>
                <a:latin typeface="Calibri"/>
              </a:rPr>
              <a:t>§3  WHOOP BLENDED β  (re-levered, zero net debt)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144000" y="2286000"/>
            <a:ext cx="8686800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326880" y="2377440"/>
            <a:ext cx="83210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6B7280"/>
                </a:solidFill>
                <a:latin typeface="Calibri"/>
              </a:rPr>
              <a:t>Scenario  ·  Bucket weights (B1/B2/B3)  →  Blended βᵤ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326880" y="26974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C0392B"/>
                </a:solidFill>
                <a:latin typeface="Calibri"/>
              </a:rPr>
              <a:t>Bear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332720" y="269748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111827"/>
                </a:solidFill>
                <a:latin typeface="Calibri"/>
              </a:rPr>
              <a:t>40 / 40 / 20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4173200" y="269748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C0392B"/>
                </a:solidFill>
                <a:latin typeface="Calibri"/>
              </a:rPr>
              <a:t>→  βᵤ = 0.992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326880" y="299008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F3A5F"/>
                </a:solidFill>
                <a:latin typeface="Calibri"/>
              </a:rPr>
              <a:t>Base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332720" y="2990088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111827"/>
                </a:solidFill>
                <a:latin typeface="Calibri"/>
              </a:rPr>
              <a:t>20 / 40 / 40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4173200" y="2990088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F3A5F"/>
                </a:solidFill>
                <a:latin typeface="Calibri"/>
              </a:rPr>
              <a:t>→  βᵤ = 0.973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326880" y="328269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2E7D32"/>
                </a:solidFill>
                <a:latin typeface="Calibri"/>
              </a:rPr>
              <a:t>Bull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332720" y="3282696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111827"/>
                </a:solidFill>
                <a:latin typeface="Calibri"/>
              </a:rPr>
              <a:t>10 / 30 / 60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4173200" y="3282696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2E7D32"/>
                </a:solidFill>
                <a:latin typeface="Calibri"/>
              </a:rPr>
              <a:t>→  βᵤ = 0.955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144000" y="3931920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E66E2C"/>
                </a:solidFill>
                <a:latin typeface="Calibri"/>
              </a:rPr>
              <a:t>§4  CAPM BUILD  ·  Cost of Equity (= WACC, zero debt)</a:t>
            </a:r>
          </a:p>
        </p:txBody>
      </p:sp>
      <p:sp>
        <p:nvSpPr>
          <p:cNvPr id="76" name="Rectangle 75"/>
          <p:cNvSpPr/>
          <p:nvPr/>
        </p:nvSpPr>
        <p:spPr>
          <a:xfrm>
            <a:off x="9144000" y="4297680"/>
            <a:ext cx="8686800" cy="3840480"/>
          </a:xfrm>
          <a:prstGeom prst="rect">
            <a:avLst/>
          </a:prstGeom>
          <a:solidFill>
            <a:srgbClr val="F3F4F6"/>
          </a:solidFill>
          <a:ln w="1905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326880" y="443484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111827"/>
                </a:solidFill>
                <a:latin typeface="Calibri"/>
              </a:rPr>
              <a:t>Risk-free rate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3716000" y="443484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10Y UST · Fed H.15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6550640" y="443484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>
                <a:solidFill>
                  <a:srgbClr val="111827"/>
                </a:solidFill>
                <a:latin typeface="Calibri"/>
              </a:rPr>
              <a:t>4.30%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7373600" y="4434840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E66E2C"/>
                </a:solidFill>
                <a:latin typeface="Calibri"/>
              </a:rPr>
              <a:t>+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326880" y="4764024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111827"/>
                </a:solidFill>
                <a:latin typeface="Calibri"/>
              </a:rPr>
              <a:t>Equity risk premium (rev-wtd)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3716000" y="4764024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Damodaran Jan 2026 · 42% intl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6550640" y="476402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>
                <a:solidFill>
                  <a:srgbClr val="111827"/>
                </a:solidFill>
                <a:latin typeface="Calibri"/>
              </a:rPr>
              <a:t>4.60%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7373600" y="4764024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E66E2C"/>
                </a:solidFill>
                <a:latin typeface="Calibri"/>
              </a:rPr>
              <a:t>× β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326880" y="5093208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111827"/>
                </a:solidFill>
                <a:latin typeface="Calibri"/>
              </a:rPr>
              <a:t>Blended β (Base, ex-PTON)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3716000" y="509320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Bucket-weighted from bottom-up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6550640" y="509320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>
                <a:solidFill>
                  <a:srgbClr val="111827"/>
                </a:solidFill>
                <a:latin typeface="Calibri"/>
              </a:rPr>
              <a:t>0.973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7373600" y="5093208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E66E2C"/>
                </a:solidFill>
                <a:latin typeface="Calibri"/>
              </a:rPr>
              <a:t>=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326880" y="542239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>
                <a:solidFill>
                  <a:srgbClr val="1F3A5F"/>
                </a:solidFill>
                <a:latin typeface="Calibri"/>
              </a:rPr>
              <a:t>ERP × β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3716000" y="542239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/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6550640" y="542239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>
                <a:solidFill>
                  <a:srgbClr val="1F3A5F"/>
                </a:solidFill>
                <a:latin typeface="Calibri"/>
              </a:rPr>
              <a:t>4.48%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7373600" y="5422392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E66E2C"/>
                </a:solidFill>
                <a:latin typeface="Calibri"/>
              </a:rPr>
              <a:t>+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326880" y="5751576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111827"/>
                </a:solidFill>
                <a:latin typeface="Calibri"/>
              </a:rPr>
              <a:t>Size premium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3716000" y="575157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Kroll CRSP Decile 3 ($7-13B)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6550640" y="575157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>
                <a:solidFill>
                  <a:srgbClr val="111827"/>
                </a:solidFill>
                <a:latin typeface="Calibri"/>
              </a:rPr>
              <a:t>0.81%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7373600" y="575157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E66E2C"/>
                </a:solidFill>
                <a:latin typeface="Calibri"/>
              </a:rPr>
              <a:t>+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326880" y="608076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111827"/>
                </a:solidFill>
                <a:latin typeface="Calibri"/>
              </a:rPr>
              <a:t>Liquidity premium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3716000" y="608076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Oura tender (Jan 2026) — 25% DLOM anchor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6550640" y="608076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>
                <a:solidFill>
                  <a:srgbClr val="111827"/>
                </a:solidFill>
                <a:latin typeface="Calibri"/>
              </a:rPr>
              <a:t>2.00%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7373600" y="6080760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E66E2C"/>
                </a:solidFill>
                <a:latin typeface="Calibri"/>
              </a:rPr>
              <a:t>=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9326880" y="6455664"/>
            <a:ext cx="8321040" cy="0"/>
          </a:xfrm>
          <a:prstGeom prst="line">
            <a:avLst/>
          </a:prstGeom>
          <a:ln w="190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TextBox 101"/>
          <p:cNvSpPr txBox="1"/>
          <p:nvPr/>
        </p:nvSpPr>
        <p:spPr>
          <a:xfrm>
            <a:off x="9326880" y="6547104"/>
            <a:ext cx="6858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WACC (Base) =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6002000" y="6547104"/>
            <a:ext cx="1645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800" b="1">
                <a:solidFill>
                  <a:srgbClr val="E66E2C"/>
                </a:solidFill>
                <a:latin typeface="Calibri"/>
              </a:rPr>
              <a:t>11.59%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326880" y="693115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111827"/>
                </a:solidFill>
                <a:latin typeface="Calibri"/>
              </a:rPr>
              <a:t>Bear: 12.18%   ·   Base: 11.59%   ·   Bull: 11.00%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9326880" y="722376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Bull WACC &lt; Base because Bull weights more into B3 (lower β, longer-duration medtech-style cash flows).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457200" y="8778240"/>
            <a:ext cx="17373600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640080" y="8869680"/>
            <a:ext cx="1737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E66E2C"/>
                </a:solidFill>
                <a:latin typeface="Calibri"/>
              </a:rPr>
              <a:t>CROSS-CHECK · DAMODARAN TOP-DOWN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40080" y="9144000"/>
            <a:ext cx="17373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Damodaran sector approach (4.30% Rf + 0.83 × 4.50% ERP + 0.81% size + 2.00% CSRP) lands at 10.85% — bottoms-up sits 75bps higher due to revenue-weighted intl ERP (+10bps) and beta upgrade vs sector medians (+65bps). Bottoms-up is the conservative choice for the live DCF.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57200" y="982980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BUSN 20410 · Spring 2026 · Yannelis | Landon Brice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6916400" y="9829800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Calibri"/>
              </a:rPr>
              <a:t>07 / 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737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E66E2C"/>
                </a:solidFill>
                <a:latin typeface="Calibri"/>
              </a:rPr>
              <a:t>THREE SCENARIOS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0080"/>
            <a:ext cx="17373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1F3A5F"/>
                </a:solidFill>
                <a:latin typeface="Calibri"/>
              </a:rPr>
              <a:t>Bear $2.5B · Base $7.3B · Bull $24.7B — feel the dispersion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25880"/>
            <a:ext cx="1737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Calibri"/>
              </a:rPr>
              <a:t>Each scenario is internally consistent; weights collapse them into a single estimate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1691640"/>
            <a:ext cx="17373600" cy="0"/>
          </a:xfrm>
          <a:prstGeom prst="line">
            <a:avLst/>
          </a:prstGeom>
          <a:ln w="190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scenario_disper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20240"/>
            <a:ext cx="10058400" cy="550416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789920" y="1920240"/>
            <a:ext cx="7132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E66E2C"/>
                </a:solidFill>
                <a:latin typeface="Calibri"/>
              </a:rPr>
              <a:t>EACH SCENARIO IS A STORY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2331720"/>
            <a:ext cx="71323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C0392B"/>
                </a:solidFill>
                <a:latin typeface="Calibri"/>
              </a:rPr>
              <a:t>BEAR — Consumer Wearable Plateau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2660903"/>
            <a:ext cx="713232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111827"/>
                </a:solidFill>
                <a:latin typeface="Calibri"/>
              </a:rPr>
              <a:t>Healthcare thesis stalls. Apple Watch + Oura + glucose-sensors split the consumer market. WHOOP becomes Peloton: distressed subscription model, churn rises 12% → 18%, ARPU growth flattens at 2.5%/yr.</a:t>
            </a:r>
          </a:p>
          <a:p>
            <a:pPr algn="l"/>
            <a:r>
              <a:rPr sz="1000" b="0">
                <a:solidFill>
                  <a:srgbClr val="111827"/>
                </a:solidFill>
                <a:latin typeface="Calibri"/>
              </a:rPr>
              <a:t/>
            </a:r>
          </a:p>
          <a:p>
            <a:pPr algn="l"/>
            <a:r>
              <a:rPr sz="1000" b="0">
                <a:solidFill>
                  <a:srgbClr val="111827"/>
                </a:solidFill>
                <a:latin typeface="Calibri"/>
              </a:rPr>
              <a:t>2033 ending: 6.5M | Bull-case haircut on every line.</a:t>
            </a:r>
          </a:p>
          <a:p>
            <a:pPr algn="l"/>
            <a:r>
              <a:rPr sz="1000" b="0">
                <a:solidFill>
                  <a:srgbClr val="111827"/>
                </a:solidFill>
                <a:latin typeface="Calibri"/>
              </a:rPr>
              <a:t>DCF Equity → $2.50B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4754879"/>
            <a:ext cx="71323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F3A5F"/>
                </a:solidFill>
                <a:latin typeface="Calibri"/>
              </a:rPr>
              <a:t>BASE — Durable Consumer Subscription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5084064"/>
            <a:ext cx="713232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111827"/>
                </a:solidFill>
                <a:latin typeface="Calibri"/>
              </a:rPr>
              <a:t>Healthcare optionality is a real call but doesn't cash. Consumer subscription compounds at moderate rate. Members 2.5M → 10.9M (49%/37%/25%/19% etc.). ARPU 3% growth. Margins ramp to 22% terminal FCF margin.</a:t>
            </a:r>
          </a:p>
          <a:p>
            <a:pPr algn="l"/>
            <a:r>
              <a:rPr sz="1000" b="0">
                <a:solidFill>
                  <a:srgbClr val="111827"/>
                </a:solidFill>
                <a:latin typeface="Calibri"/>
              </a:rPr>
              <a:t/>
            </a:r>
          </a:p>
          <a:p>
            <a:pPr algn="l"/>
            <a:r>
              <a:rPr sz="1000" b="0">
                <a:solidFill>
                  <a:srgbClr val="111827"/>
                </a:solidFill>
                <a:latin typeface="Calibri"/>
              </a:rPr>
              <a:t>2033 ending: 10.9M | Mid-case for everything.</a:t>
            </a:r>
          </a:p>
          <a:p>
            <a:pPr algn="l"/>
            <a:r>
              <a:rPr sz="1000" b="0">
                <a:solidFill>
                  <a:srgbClr val="111827"/>
                </a:solidFill>
                <a:latin typeface="Calibri"/>
              </a:rPr>
              <a:t>DCF Equity → $7.32B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7178040"/>
            <a:ext cx="71323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2E7D32"/>
                </a:solidFill>
                <a:latin typeface="Calibri"/>
              </a:rPr>
              <a:t>BULL — Healthcare Reimbursement + Platform Win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0" y="7507223"/>
            <a:ext cx="713232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111827"/>
                </a:solidFill>
                <a:latin typeface="Calibri"/>
              </a:rPr>
              <a:t>FDA expansions + CMS Innovation Center pathway → reimbursement live by 2029. WHOOP Unite enterprise scales. Members 2.5M → 18.1M. ARPU 6%/yr (driven BY healthcare, not assumed independently). Terminal margin 30%.</a:t>
            </a:r>
          </a:p>
          <a:p>
            <a:pPr algn="l"/>
            <a:r>
              <a:rPr sz="1000" b="0">
                <a:solidFill>
                  <a:srgbClr val="111827"/>
                </a:solidFill>
                <a:latin typeface="Calibri"/>
              </a:rPr>
              <a:t/>
            </a:r>
          </a:p>
          <a:p>
            <a:pPr algn="l"/>
            <a:r>
              <a:rPr sz="1000" b="0">
                <a:solidFill>
                  <a:srgbClr val="111827"/>
                </a:solidFill>
                <a:latin typeface="Calibri"/>
              </a:rPr>
              <a:t>2033 ending: 18.1M | Bull-stories must align.</a:t>
            </a:r>
          </a:p>
          <a:p>
            <a:pPr algn="l"/>
            <a:r>
              <a:rPr sz="1000" b="0">
                <a:solidFill>
                  <a:srgbClr val="111827"/>
                </a:solidFill>
                <a:latin typeface="Calibri"/>
              </a:rPr>
              <a:t>DCF Equity → $24.66B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8503920"/>
            <a:ext cx="17373600" cy="10058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864108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E66E2C"/>
                </a:solidFill>
                <a:latin typeface="Calibri"/>
              </a:rPr>
              <a:t>COLLAPSE TO ONE NUMBER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9006840"/>
            <a:ext cx="17373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Scenario-weighted Neutral 20/50/30 → $11.56B intrinsic. Why scenario-level (not input-level)? Next slide — the novel-grade insight.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982980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BUSN 20410 · Spring 2026 · Yannelis | Landon Brice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400" y="9829800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Calibri"/>
              </a:rPr>
              <a:t>08 / 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737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E66E2C"/>
                </a:solidFill>
                <a:latin typeface="Calibri"/>
              </a:rPr>
              <a:t>★ NOVEL · SCENARIOS &amp; JENSEN'S GAP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0080"/>
            <a:ext cx="17373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1F3A5F"/>
                </a:solidFill>
                <a:latin typeface="Calibri"/>
              </a:rPr>
              <a:t>Three weight schemes; scenario-level beats input-level at every conviction by $3.37B+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25880"/>
            <a:ext cx="1737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Calibri"/>
              </a:rPr>
              <a:t>Same Bear/Base/Bull DCFs. Two ways to combine. The convex curve says the methodology call IS the headline.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1691640"/>
            <a:ext cx="17373600" cy="0"/>
          </a:xfrm>
          <a:prstGeom prst="line">
            <a:avLst/>
          </a:prstGeom>
          <a:ln w="190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57200" y="1874519"/>
            <a:ext cx="17373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E66E2C"/>
                </a:solidFill>
                <a:latin typeface="Calibri"/>
              </a:rPr>
              <a:t>SCENARIOS CALCULATOR — all three weight schemes (live from model)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194560"/>
            <a:ext cx="17373600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286000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6B7280"/>
                </a:solidFill>
                <a:latin typeface="Calibri"/>
              </a:rPr>
              <a:t>Weight scheme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28600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6B7280"/>
                </a:solidFill>
                <a:latin typeface="Calibri"/>
              </a:rPr>
              <a:t>P(Bear)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160" y="2286000"/>
            <a:ext cx="12801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6B7280"/>
                </a:solidFill>
                <a:latin typeface="Calibri"/>
              </a:rPr>
              <a:t>P(Base)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228600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6B7280"/>
                </a:solidFill>
                <a:latin typeface="Calibri"/>
              </a:rPr>
              <a:t>P(Bull)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0" y="228600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6B7280"/>
                </a:solidFill>
                <a:latin typeface="Calibri"/>
              </a:rPr>
              <a:t>Scenario-wtd ($B)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04320" y="2286000"/>
            <a:ext cx="21945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6B7280"/>
                </a:solidFill>
                <a:latin typeface="Calibri"/>
              </a:rPr>
              <a:t>ProbWtd ($B)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98880" y="228600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6B7280"/>
                </a:solidFill>
                <a:latin typeface="Calibri"/>
              </a:rPr>
              <a:t>Jensen gap ($B)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0" y="228600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6B7280"/>
                </a:solidFill>
                <a:latin typeface="Calibri"/>
              </a:rPr>
              <a:t>vs Series G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0080" y="2651760"/>
            <a:ext cx="17007840" cy="0"/>
          </a:xfrm>
          <a:prstGeom prst="line">
            <a:avLst/>
          </a:prstGeom>
          <a:ln w="1016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40080" y="2743200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Pessimistic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274320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35%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52160" y="2743200"/>
            <a:ext cx="12801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50%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0" y="274320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15%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0" y="274320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$8.23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0" y="2743200"/>
            <a:ext cx="21945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$6.82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898880" y="274320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+$1.41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02000" y="274320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-18.5%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3127248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E66E2C"/>
                </a:solidFill>
                <a:latin typeface="Calibri"/>
              </a:rPr>
              <a:t>Neutral (HEADLINE)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3127248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E66E2C"/>
                </a:solidFill>
                <a:latin typeface="Calibri"/>
              </a:rPr>
              <a:t>20%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52160" y="3127248"/>
            <a:ext cx="12801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E66E2C"/>
                </a:solidFill>
                <a:latin typeface="Calibri"/>
              </a:rPr>
              <a:t>50%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32320" y="3127248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E66E2C"/>
                </a:solidFill>
                <a:latin typeface="Calibri"/>
              </a:rPr>
              <a:t>30%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18320" y="3127248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E66E2C"/>
                </a:solidFill>
                <a:latin typeface="Calibri"/>
              </a:rPr>
              <a:t>$11.56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04320" y="3127248"/>
            <a:ext cx="21945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E66E2C"/>
                </a:solidFill>
                <a:latin typeface="Calibri"/>
              </a:rPr>
              <a:t>$8.19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898880" y="3127248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E66E2C"/>
                </a:solidFill>
                <a:latin typeface="Calibri"/>
              </a:rPr>
              <a:t>+$3.37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002000" y="312724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E66E2C"/>
                </a:solidFill>
                <a:latin typeface="Calibri"/>
              </a:rPr>
              <a:t>+14.4%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3511296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Optimistic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0" y="3511296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15%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52160" y="3511296"/>
            <a:ext cx="12801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45%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32320" y="3511296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40%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18320" y="3511296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$13.53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704320" y="3511296"/>
            <a:ext cx="21945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$8.66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898880" y="3511296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+$4.87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6002000" y="3511296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+34.0%</a:t>
            </a:r>
          </a:p>
        </p:txBody>
      </p:sp>
      <p:pic>
        <p:nvPicPr>
          <p:cNvPr id="41" name="Picture 40" descr="jensens_g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114800"/>
            <a:ext cx="11887200" cy="6530109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12618720" y="4114800"/>
            <a:ext cx="5303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E66E2C"/>
                </a:solidFill>
                <a:latin typeface="Calibri"/>
              </a:rPr>
              <a:t>WHY BOTH METHODS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2618720" y="4480560"/>
            <a:ext cx="5303520" cy="228600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2801600" y="4572000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>
                <a:solidFill>
                  <a:srgbClr val="6B7280"/>
                </a:solidFill>
                <a:latin typeface="Calibri"/>
              </a:rPr>
              <a:t>INPUT-LEVEL (single DCF on prob-wtd inputs)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2801600" y="4937760"/>
            <a:ext cx="493776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111827"/>
                </a:solidFill>
                <a:latin typeface="Calibri"/>
              </a:rPr>
              <a:t>Treats drivers as independent.</a:t>
            </a:r>
          </a:p>
          <a:p>
            <a:pPr algn="l"/>
            <a:r>
              <a:rPr sz="1000" b="0">
                <a:solidFill>
                  <a:srgbClr val="111827"/>
                </a:solidFill>
                <a:latin typeface="Calibri"/>
              </a:rPr>
              <a:t>Valid when scenarios don't co-vary.</a:t>
            </a:r>
          </a:p>
          <a:p>
            <a:pPr algn="l"/>
            <a:r>
              <a:rPr sz="1000" b="0">
                <a:solidFill>
                  <a:srgbClr val="111827"/>
                </a:solidFill>
                <a:latin typeface="Calibri"/>
              </a:rPr>
              <a:t>Understates convexity when they do.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2801600" y="598932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6B7280"/>
                </a:solidFill>
                <a:latin typeface="Calibri"/>
              </a:rPr>
              <a:t>Headline: $8.19B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2618720" y="6903720"/>
            <a:ext cx="5303520" cy="2377440"/>
          </a:xfrm>
          <a:prstGeom prst="rect">
            <a:avLst/>
          </a:prstGeom>
          <a:solidFill>
            <a:srgbClr val="F3F4F6"/>
          </a:solidFill>
          <a:ln w="1905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2801600" y="6995160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>
                <a:solidFill>
                  <a:srgbClr val="1F3A5F"/>
                </a:solidFill>
                <a:latin typeface="Calibri"/>
              </a:rPr>
              <a:t>SCENARIO-LEVEL (P · DCF across scenarios)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0" y="7360920"/>
            <a:ext cx="493776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111827"/>
                </a:solidFill>
                <a:latin typeface="Calibri"/>
              </a:rPr>
              <a:t>Preserves driver co-movement WITHIN each</a:t>
            </a:r>
          </a:p>
          <a:p>
            <a:pPr algn="l"/>
            <a:r>
              <a:rPr sz="1000" b="0">
                <a:solidFill>
                  <a:srgbClr val="111827"/>
                </a:solidFill>
                <a:latin typeface="Calibri"/>
              </a:rPr>
              <a:t>scenario (members↑ → ARPU↑ → margin↑).</a:t>
            </a:r>
          </a:p>
          <a:p>
            <a:pPr algn="l"/>
            <a:r>
              <a:rPr sz="1000" b="0">
                <a:solidFill>
                  <a:srgbClr val="111827"/>
                </a:solidFill>
                <a:latin typeface="Calibri"/>
              </a:rPr>
              <a:t>Captures the convexity premium DCF earns.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2801600" y="854964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Headline: $11.56B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57200" y="9418320"/>
            <a:ext cx="17373600" cy="4114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0080" y="9473184"/>
            <a:ext cx="17373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Headline reading: $3.37B Jensen gap at Neutral; +$4.87B at Optimistic. The convexity premium IS the mispricing.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982980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BUSN 20410 · Spring 2026 · Yannelis | Landon Brice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6916400" y="9829800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Calibri"/>
              </a:rPr>
              <a:t>09 / 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737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E66E2C"/>
                </a:solidFill>
                <a:latin typeface="Calibri"/>
              </a:rPr>
              <a:t>TRIANGULATION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0080"/>
            <a:ext cx="17373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1F3A5F"/>
                </a:solidFill>
                <a:latin typeface="Calibri"/>
              </a:rPr>
              <a:t>Football field: four methods, two stories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25880"/>
            <a:ext cx="1737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Calibri"/>
              </a:rPr>
              <a:t>The disconnect IS the analysis — comp methodology pulls weighted avg down; intrinsic captures what comps miss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1691640"/>
            <a:ext cx="17373600" cy="0"/>
          </a:xfrm>
          <a:prstGeom prst="line">
            <a:avLst/>
          </a:prstGeom>
          <a:ln w="190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football_fie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20240"/>
            <a:ext cx="11887200" cy="634353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2527280" y="1920240"/>
            <a:ext cx="5303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E66E2C"/>
                </a:solidFill>
                <a:latin typeface="Calibri"/>
              </a:rPr>
              <a:t>TWO READS OF THE TRIANGULATION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12527280" y="2377440"/>
            <a:ext cx="5303520" cy="3200400"/>
          </a:xfrm>
          <a:prstGeom prst="rect">
            <a:avLst/>
          </a:prstGeom>
          <a:solidFill>
            <a:srgbClr val="F3F4F6"/>
          </a:solidFill>
          <a:ln w="19050">
            <a:solidFill>
              <a:srgbClr val="E66E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710160" y="2514600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E66E2C"/>
                </a:solidFill>
                <a:latin typeface="Calibri"/>
              </a:rPr>
              <a:t>WEIGHTED AVERAGE — $9.09B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710160" y="2880360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  <a:latin typeface="Calibri"/>
              </a:rPr>
              <a:t>= $9.09B  →  -10.0% vs Series 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710160" y="3246120"/>
            <a:ext cx="493776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111827"/>
                </a:solidFill>
                <a:latin typeface="Calibri"/>
              </a:rPr>
              <a:t>If you trust the comp pull, Series G is mildly OVERpriced. But:</a:t>
            </a:r>
          </a:p>
          <a:p>
            <a:pPr algn="l"/>
            <a:r>
              <a:rPr sz="1000" b="0">
                <a:solidFill>
                  <a:srgbClr val="111827"/>
                </a:solidFill>
                <a:latin typeface="Calibri"/>
              </a:rPr>
              <a:t/>
            </a:r>
          </a:p>
          <a:p>
            <a:pPr algn="l"/>
            <a:r>
              <a:rPr sz="1000" b="0">
                <a:solidFill>
                  <a:srgbClr val="111827"/>
                </a:solidFill>
                <a:latin typeface="Calibri"/>
              </a:rPr>
              <a:t>· Comps weight 35% on a $3.57B Bucket-2 (Peloton/Spotify) anchor</a:t>
            </a:r>
          </a:p>
          <a:p>
            <a:pPr algn="l"/>
            <a:r>
              <a:rPr sz="1000" b="0">
                <a:solidFill>
                  <a:srgbClr val="111827"/>
                </a:solidFill>
                <a:latin typeface="Calibri"/>
              </a:rPr>
              <a:t>· Comp methodology is structurally backward-looking</a:t>
            </a:r>
          </a:p>
          <a:p>
            <a:pPr algn="l"/>
            <a:r>
              <a:rPr sz="1000" b="0">
                <a:solidFill>
                  <a:srgbClr val="111827"/>
                </a:solidFill>
                <a:latin typeface="Calibri"/>
              </a:rPr>
              <a:t>· It cannot price the platform thesis until publicly visible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527280" y="5760720"/>
            <a:ext cx="5303520" cy="3108960"/>
          </a:xfrm>
          <a:prstGeom prst="rect">
            <a:avLst/>
          </a:prstGeom>
          <a:solidFill>
            <a:srgbClr val="F3F4F6"/>
          </a:solidFill>
          <a:ln w="1905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710160" y="5943600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3A5F"/>
                </a:solidFill>
                <a:latin typeface="Calibri"/>
              </a:rPr>
              <a:t>INTRINSIC ALONE — $11.56B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710160" y="6309360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  <a:latin typeface="Calibri"/>
              </a:rPr>
              <a:t>= $11.56B  →  +14.4% vs Series 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710160" y="6675120"/>
            <a:ext cx="493776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111827"/>
                </a:solidFill>
                <a:latin typeface="Calibri"/>
              </a:rPr>
              <a:t>Strip the comp drag. The DCF says Series G is meaningfully UNDERpriced.</a:t>
            </a:r>
          </a:p>
          <a:p>
            <a:pPr algn="l"/>
            <a:r>
              <a:rPr sz="1000" b="0">
                <a:solidFill>
                  <a:srgbClr val="111827"/>
                </a:solidFill>
                <a:latin typeface="Calibri"/>
              </a:rPr>
              <a:t/>
            </a:r>
          </a:p>
          <a:p>
            <a:pPr algn="l"/>
            <a:r>
              <a:rPr sz="1000" b="0">
                <a:solidFill>
                  <a:srgbClr val="111827"/>
                </a:solidFill>
                <a:latin typeface="Calibri"/>
              </a:rPr>
              <a:t>The gap between weighted avg and intrinsic IS the structural mispricing of platform-positioned companies — exactly what sophisticated capital captured at Series G entry.</a:t>
            </a:r>
          </a:p>
          <a:p>
            <a:pPr algn="l"/>
            <a:r>
              <a:rPr sz="1000" b="0">
                <a:solidFill>
                  <a:srgbClr val="111827"/>
                </a:solidFill>
                <a:latin typeface="Calibri"/>
              </a:rPr>
              <a:t/>
            </a:r>
          </a:p>
          <a:p>
            <a:pPr algn="l"/>
            <a:r>
              <a:rPr sz="1000" b="0">
                <a:solidFill>
                  <a:srgbClr val="111827"/>
                </a:solidFill>
                <a:latin typeface="Calibri"/>
              </a:rPr>
              <a:t>This is the a16z American Dynamism setup.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982980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BUSN 20410 · Spring 2026 · Yannelis | Landon Brice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916400" y="9829800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Calibri"/>
              </a:rPr>
              <a:t>10 / 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737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E66E2C"/>
                </a:solidFill>
                <a:latin typeface="Calibri"/>
              </a:rPr>
              <a:t>SENSITIVITY MATRIX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0080"/>
            <a:ext cx="17373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1F3A5F"/>
                </a:solidFill>
                <a:latin typeface="Calibri"/>
              </a:rPr>
              <a:t>Headline robust to ±15pp on either bear or bull weight; Members drives the rest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25880"/>
            <a:ext cx="1737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Calibri"/>
              </a:rPr>
              <a:t>Left: scenario-weighted equity across all weight schemes. Right: material drivers (Members · WACC · Terminal multiple).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1691640"/>
            <a:ext cx="17373600" cy="0"/>
          </a:xfrm>
          <a:prstGeom prst="line">
            <a:avLst/>
          </a:prstGeom>
          <a:ln w="190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sensitivity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28800"/>
            <a:ext cx="17556480" cy="8492207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57200" y="9189720"/>
            <a:ext cx="17373600" cy="5943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9281160"/>
            <a:ext cx="17373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Read: scenario-weighted equity ranges $9.3B – $13.8B across all 25 weight combinations. Even at Pessimistic conviction (P_Bear=30%/P_Bull=20%) the model holds $9.34B — within 8% of Series G. Headline scenario call is structurally robust to weight-knob variation.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982980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BUSN 20410 · Spring 2026 · Yannelis | Landon Brice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0" y="9829800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Calibri"/>
              </a:rPr>
              <a:t>11 / 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737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E66E2C"/>
                </a:solidFill>
                <a:latin typeface="Calibri"/>
              </a:rPr>
              <a:t>COMPS DISCONNECT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0080"/>
            <a:ext cx="17373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1F3A5F"/>
                </a:solidFill>
                <a:latin typeface="Calibri"/>
              </a:rPr>
              <a:t>Why comps say $3.57B and DCF says $11.56B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25880"/>
            <a:ext cx="1737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Calibri"/>
              </a:rPr>
              <a:t>WHOOP is off the public surface — the absence of a true peer IS the structural mispricing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1691640"/>
            <a:ext cx="17373600" cy="0"/>
          </a:xfrm>
          <a:prstGeom prst="line">
            <a:avLst/>
          </a:prstGeom>
          <a:ln w="190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comp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74519"/>
            <a:ext cx="10058400" cy="6234090"/>
          </a:xfrm>
          <a:prstGeom prst="rect">
            <a:avLst/>
          </a:prstGeom>
        </p:spPr>
      </p:pic>
      <p:pic>
        <p:nvPicPr>
          <p:cNvPr id="7" name="Picture 6" descr="comp_bracket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89920" y="1874519"/>
            <a:ext cx="7132320" cy="313356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9920" y="5212080"/>
            <a:ext cx="7132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E66E2C"/>
                </a:solidFill>
                <a:latin typeface="Calibri"/>
              </a:rPr>
              <a:t>THE THREE-BUCKET FRAMEWORK</a:t>
            </a:r>
          </a:p>
        </p:txBody>
      </p:sp>
      <p:sp>
        <p:nvSpPr>
          <p:cNvPr id="9" name="Rectangle 8"/>
          <p:cNvSpPr/>
          <p:nvPr/>
        </p:nvSpPr>
        <p:spPr>
          <a:xfrm>
            <a:off x="10789920" y="5577840"/>
            <a:ext cx="7132320" cy="777240"/>
          </a:xfrm>
          <a:prstGeom prst="rect">
            <a:avLst/>
          </a:prstGeom>
          <a:solidFill>
            <a:srgbClr val="F3F4F6"/>
          </a:solidFill>
          <a:ln w="635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0" y="5650992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>
                <a:solidFill>
                  <a:srgbClr val="1F3A5F"/>
                </a:solidFill>
                <a:latin typeface="Calibri"/>
              </a:rPr>
              <a:t>B1 — Consumer hardware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5925312"/>
            <a:ext cx="67665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11827"/>
                </a:solidFill>
                <a:latin typeface="Calibri"/>
              </a:rPr>
              <a:t>Garmin sole; sells boxes.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789920" y="6419088"/>
            <a:ext cx="7132320" cy="777240"/>
          </a:xfrm>
          <a:prstGeom prst="rect">
            <a:avLst/>
          </a:prstGeom>
          <a:solidFill>
            <a:srgbClr val="F3F4F6"/>
          </a:solidFill>
          <a:ln w="635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0" y="649224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>
                <a:solidFill>
                  <a:srgbClr val="1F3A5F"/>
                </a:solidFill>
                <a:latin typeface="Calibri"/>
              </a:rPr>
              <a:t>B2 — Consumer subscription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766559"/>
            <a:ext cx="67665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11827"/>
                </a:solidFill>
                <a:latin typeface="Calibri"/>
              </a:rPr>
              <a:t>Peloton (1.2×) ↔ Spotify (3.7×); range IS the insight.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789920" y="7260336"/>
            <a:ext cx="7132320" cy="777240"/>
          </a:xfrm>
          <a:prstGeom prst="rect">
            <a:avLst/>
          </a:prstGeom>
          <a:solidFill>
            <a:srgbClr val="F3F4F6"/>
          </a:solidFill>
          <a:ln w="635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0" y="7333488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>
                <a:solidFill>
                  <a:srgbClr val="1F3A5F"/>
                </a:solidFill>
                <a:latin typeface="Calibri"/>
              </a:rPr>
              <a:t>B3 — Health data / med-device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7607808"/>
            <a:ext cx="67665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11827"/>
                </a:solidFill>
                <a:latin typeface="Calibri"/>
              </a:rPr>
              <a:t>Dexcom · iRhythm · ResMed · Masimo — reimbursed; aspirational.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8183879"/>
            <a:ext cx="17373600" cy="14173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8275320"/>
            <a:ext cx="1737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E66E2C"/>
                </a:solidFill>
                <a:latin typeface="Calibri"/>
              </a:rPr>
              <a:t>THE PLATFORM THESIS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8613648"/>
            <a:ext cx="1737360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Calibri"/>
              </a:rPr>
              <a:t>WHOOP @ Series G prices at ~19× recognized revenue / ~9× bookings — outside every public tier (highest public anchor: Masimo 5.96×).</a:t>
            </a:r>
          </a:p>
          <a:p>
            <a:pPr algn="l"/>
            <a:r>
              <a:rPr sz="1050" b="0">
                <a:solidFill>
                  <a:srgbClr val="FFFFFF"/>
                </a:solidFill>
                <a:latin typeface="Calibri"/>
              </a:rPr>
              <a:t>No bucket-weighting scheme reaches $10.1B without 70%+ weight on Bucket 3 — which Series G investors implicitly do. WHOOP combines four commercial vectors (consumer sub + clinical-grade hardware + B2B Unite + health-data platform) no public comp holds together. +14.4% intrinsic premium ≈ what gets priced when the fourth vector becomes publicly visible.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982980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BUSN 20410 · Spring 2026 · Yannelis | Landon Brice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916400" y="9829800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Calibri"/>
              </a:rPr>
              <a:t>12 / 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737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E66E2C"/>
                </a:solidFill>
                <a:latin typeface="Calibri"/>
              </a:rPr>
              <a:t>TORNADO DECOMPOSITION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0080"/>
            <a:ext cx="17373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1F3A5F"/>
                </a:solidFill>
                <a:latin typeface="Calibri"/>
              </a:rPr>
              <a:t>Driver-by-driver: members &gt; terminal multiple &gt; WACC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25880"/>
            <a:ext cx="1737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Calibri"/>
              </a:rPr>
              <a:t>Companion to Slide 11 — tornado centered on scenario-weighted Neutral $11.56B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1691640"/>
            <a:ext cx="17373600" cy="0"/>
          </a:xfrm>
          <a:prstGeom prst="line">
            <a:avLst/>
          </a:prstGeom>
          <a:ln w="190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torn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20240"/>
            <a:ext cx="12344400" cy="678174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075920" y="1920240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E66E2C"/>
                </a:solidFill>
                <a:latin typeface="Calibri"/>
              </a:rPr>
              <a:t>WHAT THE TORNADO SAYS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075920" y="2286000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F3A5F"/>
                </a:solidFill>
                <a:latin typeface="Calibri"/>
              </a:rPr>
              <a:t>Members dominates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075920" y="2560320"/>
            <a:ext cx="47548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11827"/>
                </a:solidFill>
                <a:latin typeface="Calibri"/>
              </a:rPr>
              <a:t>2033 ending members (Bear 6.5M ↔ Bull 18.1M) drives ~$8B EV swing. ~3x bigger than next driver. Validates heavy four-lens triangulation focus.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075920" y="3337560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F3A5F"/>
                </a:solidFill>
                <a:latin typeface="Calibri"/>
              </a:rPr>
              <a:t>Terminal multiple #2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75920" y="3611879"/>
            <a:ext cx="47548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11827"/>
                </a:solidFill>
                <a:latin typeface="Calibri"/>
              </a:rPr>
              <a:t>3.0x Bear ↔ 4.5x Bull at $7-8B 2033 revenue → $4-5B swing.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075920" y="4389120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F3A5F"/>
                </a:solidFill>
                <a:latin typeface="Calibri"/>
              </a:rPr>
              <a:t>WACC #3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075920" y="4663440"/>
            <a:ext cx="47548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11827"/>
                </a:solidFill>
                <a:latin typeface="Calibri"/>
              </a:rPr>
              <a:t>Bear 12.18% ↔ Bull 11.00% → ~$3B swing. Bottoms-up build (10.85% Damodaran cross-check) is conservative.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075920" y="5440679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F3A5F"/>
                </a:solidFill>
                <a:latin typeface="Calibri"/>
              </a:rPr>
              <a:t>FCF margin #4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075920" y="5714999"/>
            <a:ext cx="47548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11827"/>
                </a:solidFill>
                <a:latin typeface="Calibri"/>
              </a:rPr>
              <a:t>Terminal 18% Bear ↔ 30% Bull → $2.5B swing. Comparable scale to WACC.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75920" y="6492240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F3A5F"/>
                </a:solidFill>
                <a:latin typeface="Calibri"/>
              </a:rPr>
              <a:t>ARPU growth — surprisingly small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075920" y="6766559"/>
            <a:ext cx="47548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11827"/>
                </a:solidFill>
                <a:latin typeface="Calibri"/>
              </a:rPr>
              <a:t>Rank 5. Confirms ARPU discipline didn't cost the model much.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075920" y="7543800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F3A5F"/>
                </a:solidFill>
                <a:latin typeface="Calibri"/>
              </a:rPr>
              <a:t>Healthcare option prob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075920" y="7818120"/>
            <a:ext cx="47548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11827"/>
                </a:solidFill>
                <a:latin typeface="Calibri"/>
              </a:rPr>
              <a:t>Exhibit-only; 15% materialization shift = $1B EV swing.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8778240"/>
            <a:ext cx="17373600" cy="73152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8915400"/>
            <a:ext cx="17373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111827"/>
                </a:solidFill>
                <a:latin typeface="Calibri"/>
              </a:rPr>
              <a:t>Joint Members × WACC heatmap (companion exhibit): $11.56B Base sits in the dense middle of the surface; even at 20%-pessimistic on Members AND 100bps higher WACC, fair value remains &gt; Series G.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982980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BUSN 20410 · Spring 2026 · Yannelis | Landon Brice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916400" y="9829800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Calibri"/>
              </a:rPr>
              <a:t>13 / 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737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E66E2C"/>
                </a:solidFill>
                <a:latin typeface="Calibri"/>
              </a:rPr>
              <a:t>RECOMMENDATION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0080"/>
            <a:ext cx="17373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1F3A5F"/>
                </a:solidFill>
                <a:latin typeface="Calibri"/>
              </a:rPr>
              <a:t>Central thesis: Series G is modestly UNDER-priced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25880"/>
            <a:ext cx="1737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Calibri"/>
              </a:rPr>
              <a:t>+14.4% intrinsic premium captures structural mispricing of platform-positioned companies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1691640"/>
            <a:ext cx="17373600" cy="0"/>
          </a:xfrm>
          <a:prstGeom prst="line">
            <a:avLst/>
          </a:prstGeom>
          <a:ln w="190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457200" y="2103120"/>
            <a:ext cx="17373600" cy="27432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286000"/>
            <a:ext cx="17373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E66E2C"/>
                </a:solidFill>
                <a:latin typeface="Calibri"/>
              </a:rPr>
              <a:t>INTRINSIC FAIR VALUE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17373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0" b="1">
                <a:solidFill>
                  <a:srgbClr val="FFFFFF"/>
                </a:solidFill>
                <a:latin typeface="Calibri"/>
              </a:rPr>
              <a:t>$11.56B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14800"/>
            <a:ext cx="17373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F3F4F6"/>
                </a:solidFill>
                <a:latin typeface="Calibri"/>
              </a:rPr>
              <a:t>vs Series G $10.10B  =  +14.4% premium under Neutral conviction (20/50/30)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120640"/>
            <a:ext cx="1737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E66E2C"/>
                </a:solidFill>
                <a:latin typeface="Calibri"/>
              </a:rPr>
              <a:t>CONVICTION-WEIGHTED ROBUSTNESS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5486400"/>
            <a:ext cx="5669280" cy="3749039"/>
          </a:xfrm>
          <a:prstGeom prst="rect">
            <a:avLst/>
          </a:prstGeom>
          <a:solidFill>
            <a:srgbClr val="F3F4F6"/>
          </a:solidFill>
          <a:ln w="1905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5623560"/>
            <a:ext cx="5303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F3A5F"/>
                </a:solidFill>
                <a:latin typeface="Calibri"/>
              </a:rPr>
              <a:t>PESSIMISTIC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989320"/>
            <a:ext cx="5303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35% Bear / 50% Base / 15% Bull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00800"/>
            <a:ext cx="5303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111827"/>
                </a:solidFill>
                <a:latin typeface="Calibri"/>
              </a:rPr>
              <a:t>$8.23B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7178040"/>
            <a:ext cx="5303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3A5F"/>
                </a:solidFill>
                <a:latin typeface="Calibri"/>
              </a:rPr>
              <a:t>-18.5% vs Series 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7680960"/>
            <a:ext cx="530352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111827"/>
                </a:solidFill>
                <a:latin typeface="Calibri"/>
              </a:rPr>
              <a:t>Even if Bull is half as likely as Base assumes, intrinsic stays close to par.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0" y="5486400"/>
            <a:ext cx="5669280" cy="3749039"/>
          </a:xfrm>
          <a:prstGeom prst="rect">
            <a:avLst/>
          </a:prstGeom>
          <a:solidFill>
            <a:srgbClr val="1F3A5F"/>
          </a:solidFill>
          <a:ln w="1905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5623560"/>
            <a:ext cx="5303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E66E2C"/>
                </a:solidFill>
                <a:latin typeface="Calibri"/>
              </a:rPr>
              <a:t>NEUTRAL (HEADLINE)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5989320"/>
            <a:ext cx="5303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20% Bear / 50% Base / 30% Bull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6400800"/>
            <a:ext cx="5303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$11.56B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7178040"/>
            <a:ext cx="5303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E66E2C"/>
                </a:solidFill>
                <a:latin typeface="Calibri"/>
              </a:rPr>
              <a:t>+14.4% vs Series 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7680960"/>
            <a:ext cx="530352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Damodaran-style scenario weights, anchored against Oura's Series E pricing.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2344400" y="5486400"/>
            <a:ext cx="5669280" cy="3749039"/>
          </a:xfrm>
          <a:prstGeom prst="rect">
            <a:avLst/>
          </a:prstGeom>
          <a:solidFill>
            <a:srgbClr val="F3F4F6"/>
          </a:solidFill>
          <a:ln w="1905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527280" y="5623560"/>
            <a:ext cx="5303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F3A5F"/>
                </a:solidFill>
                <a:latin typeface="Calibri"/>
              </a:rPr>
              <a:t>OPTIMISTIC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527280" y="5989320"/>
            <a:ext cx="5303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15% Bear / 45% Base / 40% Bull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527280" y="6400800"/>
            <a:ext cx="5303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111827"/>
                </a:solidFill>
                <a:latin typeface="Calibri"/>
              </a:rPr>
              <a:t>$13.53B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527280" y="7178040"/>
            <a:ext cx="5303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3A5F"/>
                </a:solidFill>
                <a:latin typeface="Calibri"/>
              </a:rPr>
              <a:t>+34.0% vs Series 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527280" y="7680960"/>
            <a:ext cx="530352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111827"/>
                </a:solidFill>
                <a:latin typeface="Calibri"/>
              </a:rPr>
              <a:t>If healthcare materialization probability rises with CMS Innovation Center pathway.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982980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BUSN 20410 · Spring 2026 · Yannelis | Landon Brice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916400" y="9829800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Calibri"/>
              </a:rPr>
              <a:t>14 / 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737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E66E2C"/>
                </a:solidFill>
                <a:latin typeface="Calibri"/>
              </a:rPr>
              <a:t>ROBUSTNESS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0080"/>
            <a:ext cx="17373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1F3A5F"/>
                </a:solidFill>
                <a:latin typeface="Calibri"/>
              </a:rPr>
              <a:t>Even at pessimistic conviction, fair value stays close to Series 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25880"/>
            <a:ext cx="1737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Calibri"/>
              </a:rPr>
              <a:t>Premium is structural, not knob-set; scenario-level dominates input-level at every weight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1691640"/>
            <a:ext cx="17373600" cy="0"/>
          </a:xfrm>
          <a:prstGeom prst="line">
            <a:avLst/>
          </a:prstGeom>
          <a:ln w="190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57200" y="2103120"/>
            <a:ext cx="1737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E66E2C"/>
                </a:solidFill>
                <a:latin typeface="Calibri"/>
              </a:rPr>
              <a:t>WEIGHT SCHEME × METHOD GRID  (intrinsic, $B)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514600"/>
            <a:ext cx="17373600" cy="3474720"/>
          </a:xfrm>
          <a:prstGeom prst="rect">
            <a:avLst/>
          </a:prstGeom>
          <a:solidFill>
            <a:srgbClr val="FFFFFF"/>
          </a:solidFill>
          <a:ln w="635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65176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6B7280"/>
                </a:solidFill>
                <a:latin typeface="Calibri"/>
              </a:rPr>
              <a:t>Weight scheme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2651760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6B7280"/>
                </a:solidFill>
                <a:latin typeface="Calibri"/>
              </a:rPr>
              <a:t>Bear / Base / Bull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265176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6B7280"/>
                </a:solidFill>
                <a:latin typeface="Calibri"/>
              </a:rPr>
              <a:t>Input-level DCF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2651760"/>
            <a:ext cx="28346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6B7280"/>
                </a:solidFill>
                <a:latin typeface="Calibri"/>
              </a:rPr>
              <a:t>Scenario-level DCF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350240" y="2651760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6B7280"/>
                </a:solidFill>
                <a:latin typeface="Calibri"/>
              </a:rPr>
              <a:t>Jensen's gap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361920" y="2651760"/>
            <a:ext cx="24688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6B7280"/>
                </a:solidFill>
                <a:latin typeface="Calibri"/>
              </a:rPr>
              <a:t>Scenario-level vs Series 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20040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Pessimistic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0" y="3200400"/>
            <a:ext cx="3931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35 / 50 / 15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3200400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$6.82B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0" y="3200400"/>
            <a:ext cx="283463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$8.23B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350240" y="3200400"/>
            <a:ext cx="20116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+$1.41B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361920" y="3200400"/>
            <a:ext cx="246887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-18.5%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84048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3A5F"/>
                </a:solidFill>
                <a:latin typeface="Calibri"/>
              </a:rPr>
              <a:t>Neutral (headline)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40480" y="3840480"/>
            <a:ext cx="3931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3A5F"/>
                </a:solidFill>
                <a:latin typeface="Calibri"/>
              </a:rPr>
              <a:t>20 / 50 / 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0" y="3840480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3A5F"/>
                </a:solidFill>
                <a:latin typeface="Calibri"/>
              </a:rPr>
              <a:t>$8.19B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3840480"/>
            <a:ext cx="283463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3A5F"/>
                </a:solidFill>
                <a:latin typeface="Calibri"/>
              </a:rPr>
              <a:t>$11.56B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350240" y="3840480"/>
            <a:ext cx="20116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3A5F"/>
                </a:solidFill>
                <a:latin typeface="Calibri"/>
              </a:rPr>
              <a:t>+$3.37B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361920" y="3840480"/>
            <a:ext cx="246887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3A5F"/>
                </a:solidFill>
                <a:latin typeface="Calibri"/>
              </a:rPr>
              <a:t>+14.4%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448056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Optimistic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0" y="4480560"/>
            <a:ext cx="3931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15 / 45 / 40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4480560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$8.66B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4480560"/>
            <a:ext cx="283463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$13.53B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350240" y="4480560"/>
            <a:ext cx="20116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+$4.87B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361920" y="4480560"/>
            <a:ext cx="246887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Calibri"/>
              </a:rPr>
              <a:t>+34.0%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6309360"/>
            <a:ext cx="8229600" cy="310896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F3A5F"/>
                </a:solidFill>
                <a:latin typeface="Calibri"/>
              </a:rPr>
              <a:t>READ 1: SCENARIO-LEVEL IS DOMINANT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6812280"/>
            <a:ext cx="7863840" cy="2468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  <a:latin typeface="Calibri"/>
              </a:rPr>
              <a:t>Across ALL THREE weight schemes, scenario-level method beats input-level by $1.4B - $4.9B. Jensen's gap WIDENS as Bull weight rises.</a:t>
            </a:r>
          </a:p>
          <a:p>
            <a:pPr algn="l"/>
            <a:r>
              <a:rPr sz="1100" b="0">
                <a:solidFill>
                  <a:srgbClr val="111827"/>
                </a:solidFill>
                <a:latin typeface="Calibri"/>
              </a:rPr>
              <a:t/>
            </a:r>
          </a:p>
          <a:p>
            <a:pPr algn="l"/>
            <a:r>
              <a:rPr sz="1100" b="0">
                <a:solidFill>
                  <a:srgbClr val="111827"/>
                </a:solidFill>
                <a:latin typeface="Calibri"/>
              </a:rPr>
              <a:t>This is not a property of the weights. It's a property of the convex DCF. Methodology choice IS the headline.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44000" y="6309360"/>
            <a:ext cx="8686800" cy="310896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326880" y="644652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F3A5F"/>
                </a:solidFill>
                <a:latin typeface="Calibri"/>
              </a:rPr>
              <a:t>READ 2: SERIES G CALL IS ROBUST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26880" y="6812280"/>
            <a:ext cx="8229600" cy="2468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  <a:latin typeface="Calibri"/>
              </a:rPr>
              <a:t>Pessimistic conviction (only 15% Bull weight) → Series G -18.5%.</a:t>
            </a:r>
          </a:p>
          <a:p>
            <a:pPr algn="l"/>
            <a:r>
              <a:rPr sz="1100" b="0">
                <a:solidFill>
                  <a:srgbClr val="111827"/>
                </a:solidFill>
                <a:latin typeface="Calibri"/>
              </a:rPr>
              <a:t/>
            </a:r>
          </a:p>
          <a:p>
            <a:pPr algn="l"/>
            <a:r>
              <a:rPr sz="1100" b="0">
                <a:solidFill>
                  <a:srgbClr val="111827"/>
                </a:solidFill>
                <a:latin typeface="Calibri"/>
              </a:rPr>
              <a:t>Neutral (30% Bull) → +14.4% under-priced.</a:t>
            </a:r>
          </a:p>
          <a:p>
            <a:pPr algn="l"/>
            <a:r>
              <a:rPr sz="1100" b="0">
                <a:solidFill>
                  <a:srgbClr val="111827"/>
                </a:solidFill>
                <a:latin typeface="Calibri"/>
              </a:rPr>
              <a:t/>
            </a:r>
          </a:p>
          <a:p>
            <a:pPr algn="l"/>
            <a:r>
              <a:rPr sz="1100" b="0">
                <a:solidFill>
                  <a:srgbClr val="111827"/>
                </a:solidFill>
                <a:latin typeface="Calibri"/>
              </a:rPr>
              <a:t>Optimistic (40% Bull) → +34.0% under-priced.</a:t>
            </a:r>
          </a:p>
          <a:p>
            <a:pPr algn="l"/>
            <a:r>
              <a:rPr sz="1100" b="0">
                <a:solidFill>
                  <a:srgbClr val="111827"/>
                </a:solidFill>
                <a:latin typeface="Calibri"/>
              </a:rPr>
              <a:t/>
            </a:r>
          </a:p>
          <a:p>
            <a:pPr algn="l"/>
            <a:r>
              <a:rPr sz="1100" b="0">
                <a:solidFill>
                  <a:srgbClr val="111827"/>
                </a:solidFill>
                <a:latin typeface="Calibri"/>
              </a:rPr>
              <a:t>For Series G to look meaningfully overpriced you must put Bull at ≤10% — Oura at $12B (Series E) and CMS Innovation Center selection make sub-10% Bull hard to defend.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982980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BUSN 20410 · Spring 2026 · Yannelis | Landon Brice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6916400" y="9829800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Calibri"/>
              </a:rPr>
              <a:t>15 / 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737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E66E2C"/>
                </a:solidFill>
                <a:latin typeface="Calibri"/>
              </a:rPr>
              <a:t>CAVEATS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0080"/>
            <a:ext cx="17373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1F3A5F"/>
                </a:solidFill>
                <a:latin typeface="Calibri"/>
              </a:rPr>
              <a:t>What the model does NOT capture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25880"/>
            <a:ext cx="1737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Calibri"/>
              </a:rPr>
              <a:t>Honest scope; the bull case has stipulations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1691640"/>
            <a:ext cx="17373600" cy="0"/>
          </a:xfrm>
          <a:prstGeom prst="line">
            <a:avLst/>
          </a:prstGeom>
          <a:ln w="190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57200" y="210312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E66E2C"/>
                </a:solidFill>
                <a:latin typeface="Calibri"/>
              </a:rPr>
              <a:t>MODEL LIMITATIONS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14600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F3A5F"/>
                </a:solidFill>
                <a:latin typeface="Calibri"/>
              </a:rPr>
              <a:t>Healthcare investment cost not modeled.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795527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111827"/>
                </a:solidFill>
                <a:latin typeface="Calibri"/>
              </a:rPr>
              <a:t>Real options as exhibit assume free option; ignore upfront $200-400M clinical/regulatory spend WHOOP must commit.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749039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F3A5F"/>
                </a:solidFill>
                <a:latin typeface="Calibri"/>
              </a:rPr>
              <a:t>Bull case requires explicit story.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023359"/>
            <a:ext cx="795527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111827"/>
                </a:solidFill>
                <a:latin typeface="Calibri"/>
              </a:rPr>
              <a:t>18M ending members presumes healthcare reimbursement live by 2029 — not a residual; an EVENT must occur.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983479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F3A5F"/>
                </a:solidFill>
                <a:latin typeface="Calibri"/>
              </a:rPr>
              <a:t>Series F ratchet status unverified.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257799"/>
            <a:ext cx="795527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111827"/>
                </a:solidFill>
                <a:latin typeface="Calibri"/>
              </a:rPr>
              <a:t>SoftBank absent from Series G syndicate. Ratchet provisions could affect waterfall; could not source disclosure.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217919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F3A5F"/>
                </a:solidFill>
                <a:latin typeface="Calibri"/>
              </a:rPr>
              <a:t>Option pool size opaque.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92239"/>
            <a:ext cx="795527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111827"/>
                </a:solidFill>
                <a:latin typeface="Calibri"/>
              </a:rPr>
              <a:t>Cap IQ shows 11.7% gap between authorized pref and outstanding common; option pool likely 10-15%.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7452359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F3A5F"/>
                </a:solidFill>
                <a:latin typeface="Calibri"/>
              </a:rPr>
              <a:t>Cohort churn aged curve directional only.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7726679"/>
            <a:ext cx="795527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111827"/>
                </a:solidFill>
                <a:latin typeface="Calibri"/>
              </a:rPr>
              <a:t>WHOOP's 'Pro tier &lt;3% monthly' stat misused industry-wide as blended; pressure-tested via Peloton overlay but no first-principles cohort data.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0" y="2103120"/>
            <a:ext cx="8686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E66E2C"/>
                </a:solidFill>
                <a:latin typeface="Calibri"/>
              </a:rPr>
              <a:t>EXTERNAL RISKS NOT IN BASE CASE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0" y="251460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F3A5F"/>
                </a:solidFill>
                <a:latin typeface="Calibri"/>
              </a:rPr>
              <a:t>Apple Watch / Oura / glucose entrants.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0" y="2788920"/>
            <a:ext cx="8229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111827"/>
                </a:solidFill>
                <a:latin typeface="Calibri"/>
              </a:rPr>
              <a:t>Competitive risk. Bear case captures via 18% terminal churn; could be insufficient if multiple entrants succeed.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0" y="3749039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F3A5F"/>
                </a:solidFill>
                <a:latin typeface="Calibri"/>
              </a:rPr>
              <a:t>FDA warning letter (Jul 2025) on BPI.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0" y="4023359"/>
            <a:ext cx="8229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111827"/>
                </a:solidFill>
                <a:latin typeface="Calibri"/>
              </a:rPr>
              <a:t>Healthcare credibility shock; resolved but precedent matters for next FDA submission.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0" y="4983479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F3A5F"/>
                </a:solidFill>
                <a:latin typeface="Calibri"/>
              </a:rPr>
              <a:t>Whoopgate (May 2025) pricing controversy.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0" y="5257799"/>
            <a:ext cx="8229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111827"/>
                </a:solidFill>
                <a:latin typeface="Calibri"/>
              </a:rPr>
              <a:t>Estimated $30-40M revenue gap from renewal-timing reversal. Resolved via free upgrades within 48hrs but execution risk persists.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26880" y="6217919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F3A5F"/>
                </a:solidFill>
                <a:latin typeface="Calibri"/>
              </a:rPr>
              <a:t>Founder/key-person risk.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0" y="6492239"/>
            <a:ext cx="8229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111827"/>
                </a:solidFill>
                <a:latin typeface="Calibri"/>
              </a:rPr>
              <a:t>Will Ahmed concentration. Not directly modeled.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0" y="7452359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F3A5F"/>
                </a:solidFill>
                <a:latin typeface="Calibri"/>
              </a:rPr>
              <a:t>TV exit-mult vs Gordon divergence (~34%).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26880" y="7726679"/>
            <a:ext cx="8229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111827"/>
                </a:solidFill>
                <a:latin typeface="Calibri"/>
              </a:rPr>
              <a:t>Indicates aggressive 4.5x Bull terminal multiple — stress-tested via tornado, not haircut.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8961120"/>
            <a:ext cx="17373600" cy="59436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9098280"/>
            <a:ext cx="17373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111827"/>
                </a:solidFill>
                <a:latin typeface="Calibri"/>
              </a:rPr>
              <a:t>Real options retained as cross-validation exhibit (correlated cluster: $5-6B success at 15-20% prob). Not added to football field.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982980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BUSN 20410 · Spring 2026 · Yannelis | Landon Brice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916400" y="9829800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Calibri"/>
              </a:rPr>
              <a:t>16 / 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737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E66E2C"/>
                </a:solidFill>
                <a:latin typeface="Calibri"/>
              </a:rPr>
              <a:t>Q&amp;A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0080"/>
            <a:ext cx="17373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1F3A5F"/>
                </a:solidFill>
                <a:latin typeface="Calibri"/>
              </a:rPr>
              <a:t>Anticipated questions — backup material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25880"/>
            <a:ext cx="1737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Calibri"/>
              </a:rPr>
              <a:t>Held in reserve; not necessarily presented unless asked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1691640"/>
            <a:ext cx="17373600" cy="0"/>
          </a:xfrm>
          <a:prstGeom prst="line">
            <a:avLst/>
          </a:prstGeom>
          <a:ln w="190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457200" y="2103120"/>
            <a:ext cx="17373600" cy="1051560"/>
          </a:xfrm>
          <a:prstGeom prst="rect">
            <a:avLst/>
          </a:prstGeom>
          <a:solidFill>
            <a:srgbClr val="F3F4F6"/>
          </a:solidFill>
          <a:ln w="635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148839"/>
            <a:ext cx="17007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F3A5F"/>
                </a:solidFill>
                <a:latin typeface="Calibri"/>
              </a:rPr>
              <a:t>Defend Bull ARPU 6%/yr — that's well above SaaS norms.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14600"/>
            <a:ext cx="17007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111827"/>
                </a:solidFill>
                <a:latin typeface="Calibri"/>
              </a:rPr>
              <a:t>Bull case ARPU growth is a CONSEQUENCE of the scenario, not an independent assumption. Bull requires healthcare reimbursement materialization — payer-paid ARPU mechanically lifts blended ARPU 30-50%. 6%/yr is the geometric average that lands Bull 2033 ARPU at $437 (vs Base $347), consistent with 30-40% mix shift to payer-paid pricing by 2033.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246120"/>
            <a:ext cx="17373600" cy="1051560"/>
          </a:xfrm>
          <a:prstGeom prst="rect">
            <a:avLst/>
          </a:prstGeom>
          <a:solidFill>
            <a:srgbClr val="F3F4F6"/>
          </a:solidFill>
          <a:ln w="635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291839"/>
            <a:ext cx="17007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F3A5F"/>
                </a:solidFill>
                <a:latin typeface="Calibri"/>
              </a:rPr>
              <a:t>Why bottoms-up WACC (11.59%) and not Damodaran top-down (10.85%)?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657600"/>
            <a:ext cx="17007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111827"/>
                </a:solidFill>
                <a:latin typeface="Calibri"/>
              </a:rPr>
              <a:t>Bottoms-up is the more conservative choice. Both methods converge within ~70bps. Bottoms-up uses our own per-comp regressions (3Y weekly OLS vs S&amp;P 500), Bloomberg-adjusted, with PTON excluded from B2 median due to distress. Top-down Damodaran sector medians (Electronics 0.83, HC Info-Tech 0.99) give 10.85% — slight lower. We use the higher number to keep the headline conservative.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389120"/>
            <a:ext cx="17373600" cy="1051560"/>
          </a:xfrm>
          <a:prstGeom prst="rect">
            <a:avLst/>
          </a:prstGeom>
          <a:solidFill>
            <a:srgbClr val="F3F4F6"/>
          </a:solidFill>
          <a:ln w="635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434840"/>
            <a:ext cx="17007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F3A5F"/>
                </a:solidFill>
                <a:latin typeface="Calibri"/>
              </a:rPr>
              <a:t>18M Bull endpoint — defend?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800600"/>
            <a:ext cx="17007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111827"/>
                </a:solidFill>
                <a:latin typeface="Calibri"/>
              </a:rPr>
              <a:t>Triangulated by four independent lenses: Lens A (TAM × share) → 11.95M Base / ~16M Bull. Lens B (Peloton stage-shift) → 11.21M Base / ~17M Bull. Lens C (Apple Watch + Oura comp median). Lens D (capital-led: $1.4B raised → ~16M Bull via S&amp;M backsolve). 18M is the upper end of the Bull-aligned envelope, NOT outside it.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5532120"/>
            <a:ext cx="17373600" cy="1051560"/>
          </a:xfrm>
          <a:prstGeom prst="rect">
            <a:avLst/>
          </a:prstGeom>
          <a:solidFill>
            <a:srgbClr val="F3F4F6"/>
          </a:solidFill>
          <a:ln w="635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5577840"/>
            <a:ext cx="17007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F3A5F"/>
                </a:solidFill>
                <a:latin typeface="Calibri"/>
              </a:rPr>
              <a:t>Why 30% Bull weight — not 20%?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943600"/>
            <a:ext cx="17007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111827"/>
                </a:solidFill>
                <a:latin typeface="Calibri"/>
              </a:rPr>
              <a:t>Two anchors: (1) Damodaran's standard scenario practice puts upside scenarios at 25-35% when the upside has real-options character. (2) Oura at $12B Series E (Oct 2025) IS market validation that Bull-class wearable + biomarker outcomes are getting funded at &gt;$10B. Discounting Bull to 20% would imply the market is ~50% over-pricing Oura too.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6675120"/>
            <a:ext cx="17373600" cy="1051560"/>
          </a:xfrm>
          <a:prstGeom prst="rect">
            <a:avLst/>
          </a:prstGeom>
          <a:solidFill>
            <a:srgbClr val="F3F4F6"/>
          </a:solidFill>
          <a:ln w="635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720840"/>
            <a:ext cx="17007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F3A5F"/>
                </a:solidFill>
                <a:latin typeface="Calibri"/>
              </a:rPr>
              <a:t>Why are real options not added to the football field?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7086600"/>
            <a:ext cx="17007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111827"/>
                </a:solidFill>
                <a:latin typeface="Calibri"/>
              </a:rPr>
              <a:t>Same Jensen logic as the methodology slide. Real options are CORRELATED outcome clusters, not independent additive bets. Healthcare reimbursement, women's health, glucose monitoring co-move within the success/failure clusters. Adding them as a fixed expected value to a separate DCF would double-count the convexity already captured in scenario-weighted Bull. Retained as exhibit; explicitly NOT additive.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7818120"/>
            <a:ext cx="17373600" cy="1051560"/>
          </a:xfrm>
          <a:prstGeom prst="rect">
            <a:avLst/>
          </a:prstGeom>
          <a:solidFill>
            <a:srgbClr val="F3F4F6"/>
          </a:solidFill>
          <a:ln w="635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7863840"/>
            <a:ext cx="17007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F3A5F"/>
                </a:solidFill>
                <a:latin typeface="Calibri"/>
              </a:rPr>
              <a:t>If Series G is +14.4% under-priced, why didn't more institutional capital pile in?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8229600"/>
            <a:ext cx="17007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111827"/>
                </a:solidFill>
                <a:latin typeface="Calibri"/>
              </a:rPr>
              <a:t>It DID — 49 investors across 10 rounds; Series G specifically led by Collaborative Fund with Abbott, Mayo, QIA, Mubadala, IVP, Macquarie. Institutional capital captured the platform thesis. The premium is what's left to be re-rated AT IPO once the platform is publicly visible — exactly the a16z American Dynamism arbitrage pattern.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982980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BUSN 20410 · Spring 2026 · Yannelis | Landon Brice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916400" y="9829800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Calibri"/>
              </a:rPr>
              <a:t>17 / 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