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66E2C"/>
                </a:solidFill>
                <a:latin typeface="Calibri"/>
              </a:rPr>
              <a:t>WHOOP 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645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1F3A5F"/>
                </a:solidFill>
                <a:latin typeface="Calibri"/>
              </a:rPr>
              <a:t>Is Series G $10.1B fairly priced?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B7280"/>
                </a:solidFill>
                <a:latin typeface="Calibri"/>
              </a:rPr>
              <a:t>Pressure-testing the March 2026 Series G — five methods, one verdict.</a:t>
            </a:r>
          </a:p>
        </p:txBody>
      </p:sp>
      <p:pic>
        <p:nvPicPr>
          <p:cNvPr id="6" name="Picture 5" descr="fundin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663440"/>
            <a:ext cx="15544800" cy="48626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8503920"/>
            <a:ext cx="1645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66E2C"/>
                </a:solidFill>
                <a:latin typeface="Calibri"/>
              </a:rPr>
              <a:t>Verdict: intrinsic $11.56B  |  +14.4% to Series G  |  modestly under-priced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A premium wearable with healthcare ambitions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Where WHOOP sits on the consumer–medical-device spectrum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2103120"/>
            <a:ext cx="5669280" cy="457200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6E2C"/>
                </a:solidFill>
                <a:latin typeface="Calibri"/>
              </a:rPr>
              <a:t>WHAT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Hardware-free subscription wearable — band ships with active membership; revenue is recurring, not transactional.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· 2.5M+ paying members (end-2025)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· $30/month consumer Pro tier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· FDA-cleared ECG, BPI, Healthspan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· WHOOP Coach (generative AI)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03120"/>
            <a:ext cx="5669280" cy="457200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6E2C"/>
                </a:solidFill>
                <a:latin typeface="Calibri"/>
              </a:rPr>
              <a:t>HOW IT GROWS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65176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103% YoY subscription growth.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Cash-flow positive in 2025.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FY25 recognized revenue ~$520M.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· ~80% consumer / ~20% B2B (Unite)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· 40-45% international revenue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· 60% of NEW members international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· 5 interim raises 2022-2025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103120"/>
            <a:ext cx="5669280" cy="457200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0" y="22402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6E2C"/>
                </a:solidFill>
                <a:latin typeface="Calibri"/>
              </a:rPr>
              <a:t>WHY HARD TO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0" y="265176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No public comparable holds together what WHOOP is becoming: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· Hardware (Garmin) — sells boxes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· Subscription (Spotify/Peloton) — owns content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· Medical (Dexcom, ResMed) — paid by payers</a:t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WHOOP combines all three vectors before the platform is publicly visible. Comps systematically miss this.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949440"/>
            <a:ext cx="17373600" cy="228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708660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SERIES G — MARCH 31,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75895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$575M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8321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Calibri"/>
              </a:rPr>
              <a:t>raised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75895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$10.1B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8321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Calibri"/>
              </a:rPr>
              <a:t>post-money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75895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2.8x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8321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Calibri"/>
              </a:rPr>
              <a:t>step-up vs 2021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75895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Collaborative Fund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8321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Calibri"/>
              </a:rPr>
              <a:t>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0" y="75895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Abbott · Mayo · QIA · Mubadala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252960" y="8321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Calibri"/>
              </a:rPr>
              <a:t>strategic + sovereign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33320" y="75895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IPO 2027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133320" y="83210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  <a:latin typeface="Calibri"/>
              </a:rPr>
              <a:t>explicit trajectory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Architecture: scenario-weighted DCF as primary, comps as cross-check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How four valuation lenses triangulate against the Series G mark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210312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INTRINSIC DCF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Scenario-weighted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(Bear / Base / Bull)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$11.56B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40% weight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39" y="210312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240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PUBLIC COMPS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65176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Three buckets: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hardware · sub · health-data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40233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$3.57B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4754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35% weight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210312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59" y="2240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PRECEDENT M&amp;A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59" y="265176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14 deals across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the three buckets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40233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$5-8B*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4754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0% (cross-check)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210312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01400" y="2240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LAST-ROUND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265176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Series G post-money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(Mar 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40233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$10.10B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4754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10% weight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38960" y="2103120"/>
            <a:ext cx="338328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721840" y="2240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IMPLIED 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721840" y="265176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Back-solved from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investor IRR targets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721840" y="402336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$12.62B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721840" y="47548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15% weight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WHY THIS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Scenario-weighted DCF, not input-level.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653796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Jensen's inequality: input-averaging at the driver level destroys correlation. WHOOP's drivers co-move within scenarios — scenario-weighted captures the convexity premium worth $3.4B (Slide 8).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70408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Real options retained as exhibit, NOT additive.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704088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Healthcare reimbursement, women's health, glucose monitoring — modeled as correlated outcome clusters (success $5-6B at 15-20% prob; mixed $2-3B at 40-50%; failure $0.5-1B at 30-40%). Cross-validation only.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75438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Three-bucket comp framework, disaggregated.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754380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Bucket 2 (consumer subscription): Peloton 1.2x → Spotify 5.1x. Range IS the analysis; averaging destroys 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80467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Take-private LBO leg excluded.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804672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All-VC preferred capital structure offers no debt capacity; sovereign + crossover signal locked-in IPO path; antitrust blocks Apple/Google strategic acquisition.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85496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Class connections.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8549640"/>
            <a:ext cx="1325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Lecture 1A (DCF mechanics) · 1B (cost of capital, Slide 6) · 3B (real options as exhibit) · 4B (relative valuation).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DCF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Revenue = Members × ARPU; Members triangulated through four lenses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Heavy analytical effort on Members; controlled discipline on ARPU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2011680"/>
            <a:ext cx="17373600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1737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Revenue  =  Members  ×  ARPU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8412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MEMBERS — FOUR-LENS TRIANGULATION (2033 Base ENDPOINT)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66160"/>
            <a:ext cx="8412480" cy="512064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Lens A — TAM × Terminal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3749039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25M premium-WTP TAM × 6%/yr × 30%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74903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→ 11.95M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Lens B — Peloton stage-shift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4206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10.7M base × 1.08 free-hw × 0.97 ARPU drag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2062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→ 11.21M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Lens C — Multi-comp (Apple/Oura)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6634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Three independent comps converge (median)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6634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→ 10.63M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Lens D — Capital-led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51206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$1.4B raised → S&amp;M capacity backsolve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1206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→ 8.38M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Median across four lenses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5577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55778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→ 10.92M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35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Calibrated Base endpoint (model)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6035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MG-sequence 49/37/25/19/14/11/8/6%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60350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→ 10.92M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7863840"/>
            <a:ext cx="8046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All four converge within ±15% of 10.9M Base endpoint.</a:t>
            </a:r>
          </a:p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This convergence IS the methodology — not coincidence.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20040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ARPU — ASYMMETRIC DISCIPLINE BY SCENARIO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3566160"/>
            <a:ext cx="8686800" cy="512064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3749039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2025 anchor: $274 (subscription $258 + Labs $15 + accessories $1)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114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Growth rate IS where the scenario differentiates: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6634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Bear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466344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2.5%/yr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4663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$274 → $334 by 2033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356080" y="46634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Consumer pricing pressure; Apple Watch undercuts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525780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525780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3.0%/yr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0" y="5257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$274 → $347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356080" y="5257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Modest mix shift to higher tiers; Labs at 5-8% attach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585216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Bull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585216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Calibri"/>
              </a:rPr>
              <a:t>6.0%/yr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12880" y="5852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$274 → $437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356080" y="58521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Healthcare reimbursement materializes; bundle ramps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667512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WHY ASYMMETRIC?</a:t>
            </a:r>
          </a:p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Bear/Base allow ARPU just enough to keep up with inflation + modest tier mix.</a:t>
            </a:r>
          </a:p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Bull is where ARPU levers — but ONLY because Bull also requires healthcare reimbursement materialization, which mechanically lifts ARPU through payer-paid pricing. ARPU growth in Bull is a CONSEQUENCE of the scenario, not an independent assumption.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DCF MECHANICS —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Year-by-year P&amp;L → FCF → discounting → Equity ($M)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Base case; mid-year convention; 8-year explicit period (2026-2033); terminal value at year 8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9202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P&amp;L YEAR-BY-YEAR  (Base case, $M)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173736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86000"/>
            <a:ext cx="157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32400" y="2286000"/>
            <a:ext cx="157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7200" y="2286000"/>
            <a:ext cx="157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2286000"/>
            <a:ext cx="157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56800" y="2286000"/>
            <a:ext cx="157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31600" y="2286000"/>
            <a:ext cx="157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06400" y="2286000"/>
            <a:ext cx="157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81200" y="2286000"/>
            <a:ext cx="157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56000" y="2286000"/>
            <a:ext cx="157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2033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328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  <a:latin typeface="Calibri"/>
              </a:rPr>
              <a:t>Phase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532888"/>
            <a:ext cx="157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Hist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2400" y="2532888"/>
            <a:ext cx="157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7200" y="2532888"/>
            <a:ext cx="157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0" y="2532888"/>
            <a:ext cx="157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56800" y="2532888"/>
            <a:ext cx="157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31600" y="2532888"/>
            <a:ext cx="157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06400" y="2532888"/>
            <a:ext cx="157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81200" y="2532888"/>
            <a:ext cx="157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56000" y="2532888"/>
            <a:ext cx="157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6B7280"/>
                </a:solidFill>
                <a:latin typeface="Calibri"/>
              </a:rP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3464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Ending Members (M)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83464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2400" y="283464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3.7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7200" y="283464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5.1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0" y="283464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56800" y="283464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31600" y="283464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8.6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06400" y="283464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81200" y="283464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56000" y="283464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10896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ARPU ($)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31089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$274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2400" y="31089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$282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07200" y="31089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$291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0" y="31089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$299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56800" y="31089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$308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31600" y="31089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$318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106400" y="31089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$327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81200" y="31089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$337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256000" y="31089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$347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3383279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F3A5F"/>
                </a:solidFill>
                <a:latin typeface="Calibri"/>
              </a:rPr>
              <a:t>Revenue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0" y="338327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521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32400" y="338327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878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7200" y="338327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1283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0" y="338327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1723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56800" y="338327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2159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531600" y="338327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2578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106400" y="338327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2978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681200" y="338327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3350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256000" y="338327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F3A5F"/>
                </a:solidFill>
                <a:latin typeface="Calibri"/>
              </a:rPr>
              <a:t>3686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3657599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YoY Growth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365759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32400" y="365759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69%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07200" y="365759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46%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82000" y="365759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34%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56800" y="365759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31600" y="365759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19%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106400" y="365759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681200" y="365759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12%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256000" y="3657599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3913631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Gross Profit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0" y="3913631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312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2400" y="3913631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659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07200" y="3913631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972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82000" y="3913631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1317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56800" y="3913631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1665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531600" y="3913631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2007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106400" y="3913631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2340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681200" y="3913631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2656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256000" y="3913631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2949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4169663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Gross Margin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0" y="4169663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32400" y="4169663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75%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07200" y="4169663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76%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82000" y="4169663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76%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56800" y="4169663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77%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531600" y="4169663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78%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106400" y="4169663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79%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4681200" y="4169663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79%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256000" y="4169663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80%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442569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Total OpEx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657600" y="442569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422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32400" y="442569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737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07200" y="442569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1069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82000" y="442569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1310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56800" y="442569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1505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531600" y="442569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1699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106400" y="442569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1871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681200" y="442569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2002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256000" y="442569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2108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468172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111827"/>
                </a:solidFill>
                <a:latin typeface="Calibri"/>
              </a:rPr>
              <a:t>EBIT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657600" y="468172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-109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32400" y="468172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-78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07200" y="468172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-97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382000" y="468172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956800" y="468172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160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531600" y="468172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309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3106400" y="468172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469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681200" y="468172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654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256000" y="468172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111827"/>
                </a:solidFill>
                <a:latin typeface="Calibri"/>
              </a:rPr>
              <a:t>841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" y="493776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Less: Cash Taxes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657600" y="49377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232400" y="49377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07200" y="49377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82000" y="49377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56800" y="49377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531600" y="49377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3106400" y="49377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122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681200" y="49377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169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256000" y="4937760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8640" y="519379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Plus: D&amp;A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57600" y="5193792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232400" y="5193792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07200" y="5193792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45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382000" y="5193792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956800" y="5193792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531600" y="5193792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106400" y="5193792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681200" y="5193792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117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6256000" y="5193792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129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48640" y="5449824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Less: CapEx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657600" y="5449824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-21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232400" y="5449824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-35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807200" y="5449824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-51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82000" y="5449824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-69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956800" y="5449824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-86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531600" y="5449824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-103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106400" y="5449824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-119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4681200" y="5449824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-134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6256000" y="5449824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-147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48640" y="5705856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Plus: Δ NWC (def rev)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657600" y="570585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232400" y="570585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172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807200" y="570585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214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382000" y="570585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956800" y="570585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1531600" y="570585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198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3106400" y="570585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192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4681200" y="570585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171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6256000" y="5705856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153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48640" y="59618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E66E2C"/>
                </a:solidFill>
                <a:latin typeface="Calibri"/>
              </a:rPr>
              <a:t>Unlevered FCF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657600" y="596188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-11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232400" y="596188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90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807200" y="596188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110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382000" y="596188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210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56800" y="596188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350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531600" y="596188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424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3106400" y="596188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523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4681200" y="596188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639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6256000" y="596188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E66E2C"/>
                </a:solidFill>
                <a:latin typeface="Calibri"/>
              </a:rPr>
              <a:t>758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48640" y="623620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  FCF Margin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657600" y="623620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-2%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232400" y="623620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10%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807200" y="623620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9%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382000" y="623620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12%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9956800" y="623620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531600" y="623620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16%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3106400" y="623620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18%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4681200" y="623620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19%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6256000" y="6236208"/>
            <a:ext cx="1574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21%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720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DISCOUNTING — PV(FCF) AND TERMINAL VALUE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57200" y="6720840"/>
            <a:ext cx="100584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40080" y="68122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Calibri"/>
              </a:rPr>
              <a:t>Year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103120" y="68122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UFCF ($M)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657600" y="681228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Period (yr)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120640" y="681228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Discount Factor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766560" y="681228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PV(FCF) ($M)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412480" y="68122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Calibri"/>
              </a:rPr>
              <a:t>@ WACC = 11.59%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40080" y="705916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2026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103120" y="705916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657600" y="705916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0.5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120640" y="705916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0.9467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766560" y="705916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85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40080" y="727862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2027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103120" y="727862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110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657600" y="727862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1.5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120640" y="727862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0.8484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766560" y="727862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94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40080" y="7498079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2028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103120" y="7498079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210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657600" y="7498079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2.5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120640" y="749807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0.7603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766560" y="749807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160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640080" y="771753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2029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103120" y="771753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350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657600" y="7717536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3.5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120640" y="7717536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0.6813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766560" y="7717536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239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40080" y="79369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2030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103120" y="793699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424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657600" y="793699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4.5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120640" y="79369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0.6106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766560" y="79369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259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0080" y="815644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2031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103120" y="815644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523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657600" y="815644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5.5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120640" y="815644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0.5472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766560" y="815644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286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0080" y="837590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2032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2103120" y="837590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639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657600" y="837590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6.5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5120640" y="837590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0.4903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766560" y="837590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313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40080" y="85953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2033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103120" y="85953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758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657600" y="8595360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7.5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120640" y="8595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0.4394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766560" y="8595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>
                <a:solidFill>
                  <a:srgbClr val="111827"/>
                </a:solidFill>
                <a:latin typeface="Calibri"/>
              </a:rPr>
              <a:t>333</a:t>
            </a:r>
          </a:p>
        </p:txBody>
      </p:sp>
      <p:cxnSp>
        <p:nvCxnSpPr>
          <p:cNvPr id="216" name="Connector 215"/>
          <p:cNvCxnSpPr/>
          <p:nvPr/>
        </p:nvCxnSpPr>
        <p:spPr>
          <a:xfrm>
            <a:off x="640080" y="8814816"/>
            <a:ext cx="9692640" cy="0"/>
          </a:xfrm>
          <a:prstGeom prst="line">
            <a:avLst/>
          </a:prstGeom>
          <a:ln w="1016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TextBox 216"/>
          <p:cNvSpPr txBox="1"/>
          <p:nvPr/>
        </p:nvSpPr>
        <p:spPr>
          <a:xfrm>
            <a:off x="640080" y="886053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Calibri"/>
              </a:rPr>
              <a:t>Σ PV(FCF)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766560" y="886053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1769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40080" y="9107424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Terminal Value (yr8)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6766560" y="910742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111827"/>
                </a:solidFill>
                <a:latin typeface="Calibri"/>
              </a:rPr>
              <a:t>PV = 4833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40080" y="930859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  Exit 3.5×Rev = $12.9B  ·  Gordon (g=3%) = $9.1B  ·  Blended = $11.0B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10972800" y="64008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EV → EQUITY BRIDGE (Base)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0972800" y="6720840"/>
            <a:ext cx="6858000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1064240" y="69037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Σ PV(FCF)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2801600" y="6903720"/>
            <a:ext cx="1149222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4042262" y="690372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1769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1064240" y="728776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+ PV(TV)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2801600" y="7287768"/>
            <a:ext cx="3138897" cy="228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6031937" y="7287768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4833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1064240" y="76718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= Enterprise V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2801600" y="7671816"/>
            <a:ext cx="4288120" cy="228600"/>
          </a:xfrm>
          <a:prstGeom prst="rect">
            <a:avLst/>
          </a:prstGeom>
          <a:solidFill>
            <a:srgbClr val="E66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7181160" y="76718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E66E2C"/>
                </a:solidFill>
                <a:latin typeface="Calibri"/>
              </a:rPr>
              <a:t>6602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1064240" y="8055864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Less: Debt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2801600" y="8055864"/>
            <a:ext cx="6495" cy="228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2899535" y="805586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C0392B"/>
                </a:solidFill>
                <a:latin typeface="Calibri"/>
              </a:rPr>
              <a:t>-10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11064240" y="843991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Plus: Cash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2801600" y="8439912"/>
            <a:ext cx="473255" cy="228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3366295" y="8439912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2E7D32"/>
                </a:solidFill>
                <a:latin typeface="Calibri"/>
              </a:rPr>
              <a:t>729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1064240" y="88239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= Equity Value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2801600" y="8823960"/>
            <a:ext cx="4754880" cy="228600"/>
          </a:xfrm>
          <a:prstGeom prst="rect">
            <a:avLst/>
          </a:prstGeom>
          <a:solidFill>
            <a:srgbClr val="E66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7647920" y="8823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E66E2C"/>
                </a:solidFill>
                <a:latin typeface="Calibri"/>
              </a:rPr>
              <a:t>7321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0972800" y="9555480"/>
            <a:ext cx="6858000" cy="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DCF MECHANICS — WACC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Bottoms-up build: 11.59% Base WACC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Comp regressions → unlever → bucket-weight → re-lever → CAPM. Damodaran sector cross-check converges within 0.07 β.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9202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§1  PER-COMP REGRESSED BETAS  (3Y weekly, Bloomberg-adj)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8412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Calibri"/>
              </a:rPr>
              <a:t>Comp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7744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Calibri"/>
              </a:rPr>
              <a:t>Bucket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7744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β 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377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β adj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377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R²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7004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Garmin (GRMN)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67004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B1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7004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1.029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67004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1.019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67004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0.216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916936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Peloton (PTON)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91693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B2 Sub (distressed)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91693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2.283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1693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1.855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91693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0.185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63824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Spotify (SPOT)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163824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B2 Sub (mature)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16382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1.014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16382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1.010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163824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0.134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41071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Dexcom (DXCM)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41071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B3 Health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41071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1.080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41071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1.054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410712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0.119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36576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ResMed (RMD)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17520" y="365760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B3 Health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6576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0.962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36576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0.974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6576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0.181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904487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Masimo (MASI)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3904487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B3 Health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904487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0.885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904487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0.924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904487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0.090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4151375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iRhythm (IRTC)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4151375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B3 Health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4151375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0.816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151375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11827"/>
                </a:solidFill>
                <a:latin typeface="Calibri"/>
              </a:rPr>
              <a:t>0.877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151375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0.057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61772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Notes: All zero-net-debt or near-zero (unlevered = levered). PTON excluded from B2 median (distress).</a:t>
            </a:r>
          </a:p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R² range 5.7% (IRTC) - 21.6% (GRMN). Bloomberg adjustment: β_adj = ⅔ β_raw + ⅓ × 1.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3492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§2  BUCKET MEDIAN UNLEVERED β  (ex-PTON for B2)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71500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8064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Calibri"/>
              </a:rPr>
              <a:t>Bucket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31920" y="58064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Calibri"/>
              </a:rPr>
              <a:t>Comps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58064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1">
                <a:solidFill>
                  <a:srgbClr val="6B7280"/>
                </a:solidFill>
                <a:latin typeface="Calibri"/>
              </a:rPr>
              <a:t>Median βᵤ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08076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B1 — Consumer hardware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31920" y="60807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Garmin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80960" y="60807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1.015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336792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B2 — Consumer subscription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31920" y="633679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Spotify (ex-Peloton)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633679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1.005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592824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B3 — Health data / med-device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31920" y="659282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Dexcom · ResMed · Masimo · iRhythm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80960" y="6592824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1F3A5F"/>
                </a:solidFill>
                <a:latin typeface="Calibri"/>
              </a:rPr>
              <a:t>0.919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0" y="192024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§3  WHOOP BLENDED β  (re-levered, zero net debt)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0" y="2286000"/>
            <a:ext cx="86868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26880" y="2377440"/>
            <a:ext cx="8321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6B7280"/>
                </a:solidFill>
                <a:latin typeface="Calibri"/>
              </a:rPr>
              <a:t>Scenario  ·  Bucket weights (B1/B2/B3)  →  Blended βᵤ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Bear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32720" y="2697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40 / 40 / 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173200" y="26974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→  βᵤ = 0.992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29900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Base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32720" y="29900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20 / 40 / 40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173200" y="29900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→  βᵤ = 0.973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0" y="32826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Bull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32720" y="328269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10 / 30 / 60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173200" y="328269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→  βᵤ = 0.955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44000" y="3931920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§4  CAPM BUILD  ·  Cost of Equity (= WACC, zero debt)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0" y="4297680"/>
            <a:ext cx="8686800" cy="3840480"/>
          </a:xfrm>
          <a:prstGeom prst="rect">
            <a:avLst/>
          </a:prstGeom>
          <a:solidFill>
            <a:srgbClr val="F3F4F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26880" y="44348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Risk-free rate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3716000" y="44348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10Y UST · Fed H.15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6550640" y="44348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4.30%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373600" y="44348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6E2C"/>
                </a:solidFill>
                <a:latin typeface="Calibri"/>
              </a:rPr>
              <a:t>+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6880" y="476402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Equity risk premium (rev-wtd)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716000" y="476402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Damodaran Jan 2026 · 42% intl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550640" y="476402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4.60%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373600" y="476402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6E2C"/>
                </a:solidFill>
                <a:latin typeface="Calibri"/>
              </a:rPr>
              <a:t>× β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26880" y="509320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Blended β (Base, ex-PTON)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716000" y="50932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Bucket-weighted from bottom-up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550640" y="50932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0.973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373600" y="509320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6E2C"/>
                </a:solidFill>
                <a:latin typeface="Calibri"/>
              </a:rPr>
              <a:t>=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26880" y="54223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ERP × β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3716000" y="5422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550640" y="54223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1F3A5F"/>
                </a:solidFill>
                <a:latin typeface="Calibri"/>
              </a:rPr>
              <a:t>4.48%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373600" y="542239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6E2C"/>
                </a:solidFill>
                <a:latin typeface="Calibri"/>
              </a:rPr>
              <a:t>+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26880" y="575157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Size premium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3716000" y="575157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Kroll CRSP Decile 3 ($7-13B)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550640" y="575157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0.81%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373600" y="57515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6E2C"/>
                </a:solidFill>
                <a:latin typeface="Calibri"/>
              </a:rPr>
              <a:t>+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326880" y="60807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Liquidity premium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716000" y="6080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Oura tender (Jan 2026) — 25% DLOM anchor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6550640" y="60807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Calibri"/>
              </a:rPr>
              <a:t>2.00%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7373600" y="60807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E66E2C"/>
                </a:solidFill>
                <a:latin typeface="Calibri"/>
              </a:rPr>
              <a:t>=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9326880" y="6455664"/>
            <a:ext cx="832104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326880" y="6547104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3A5F"/>
                </a:solidFill>
                <a:latin typeface="Calibri"/>
              </a:rPr>
              <a:t>WACC (Base) =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6002000" y="6547104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800" b="1">
                <a:solidFill>
                  <a:srgbClr val="E66E2C"/>
                </a:solidFill>
                <a:latin typeface="Calibri"/>
              </a:rPr>
              <a:t>11.59%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326880" y="69311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Bear: 12.18%   ·   Base: 11.59%   ·   Bull: 11.00%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26880" y="72237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Bull WACC &lt; Base because Bull weights more into B3 (lower β, longer-duration medtech-style cash flows).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57200" y="8778240"/>
            <a:ext cx="17373600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0080" y="886968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CROSS-CHECK · DAMODARAN TOP-DOWN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" y="9144000"/>
            <a:ext cx="1737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Damodaran sector approach (4.30% Rf + 0.83 × 4.50% ERP + 0.81% size + 2.00% CSRP) lands at 10.85% — bottoms-up sits 75bps higher due to revenue-weighted intl ERP (+10bps) and beta upgrade vs sector medians (+65bps). Bottoms-up is the conservative choice for the live DCF.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THREE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Bear $2.5B · Base $7.3B · Bull $24.7B — feel the dispersion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Each scenario is internally consistent; weights collapse them into a single estimate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cenario_disp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0058400" cy="55041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192024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EACH SCENARIO IS A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331720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BEAR — Consumer Wearable Plateau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2660903"/>
            <a:ext cx="7132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Healthcare thesis stalls. Apple Watch + Oura + glucose-sensors split the consumer market. WHOOP becomes Peloton: distressed subscription model, churn rises 12% → 18%, ARPU growth flattens at 2.5%/yr.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2033 ending: 6.5M | Bull-case haircut on every line.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DCF Equity → $2.50B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4754879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BASE — Durable Consumer Subscription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5084064"/>
            <a:ext cx="7132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Healthcare optionality is a real call but doesn't cash. Consumer subscription compounds at moderate rate. Members 2.5M → 10.9M (49%/37%/25%/19% etc.). ARPU 3% growth. Margins ramp to 22% terminal FCF margin.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2033 ending: 10.9M | Mid-case for everything.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DCF Equity → $7.32B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7178040"/>
            <a:ext cx="7132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Calibri"/>
              </a:rPr>
              <a:t>BULL — Healthcare Reimbursement + Platform Win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7507223"/>
            <a:ext cx="71323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FDA expansions + CMS Innovation Center pathway → reimbursement live by 2029. WHOOP Unite enterprise scales. Members 2.5M → 18.1M. ARPU 6%/yr (driven BY healthcare, not assumed independently). Terminal margin 30%.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2033 ending: 18.1M | Bull-stories must align.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DCF Equity → $24.66B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8503920"/>
            <a:ext cx="17373600" cy="1005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8641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COLLAPSE TO ONE NUMBER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9006840"/>
            <a:ext cx="1737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Scenario-weighted Neutral 20/50/30 → $11.56B intrinsic. Why scenario-level (not input-level)? Next slide — the novel-grade insight.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★ NOVEL · JENSEN'S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Input-level vs scenario-level: a $3.37B methodology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Why this matters: DCF is convex; how you average matters as much as what you average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jensens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0058400" cy="55293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0" y="1920240"/>
            <a:ext cx="7132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TWO METHODS, ONE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2331720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11827"/>
                </a:solidFill>
                <a:latin typeface="Calibri"/>
              </a:rPr>
              <a:t>Same Bear/Base/Bull scenarios. Same probability weights. Two ways to combine: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89920" y="3017520"/>
            <a:ext cx="7132320" cy="1371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0" y="315468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6B7280"/>
                </a:solidFill>
                <a:latin typeface="Calibri"/>
              </a:rPr>
              <a:t>INPUT-LEVEL (single-run DCF on weighted avg inputs)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352044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= DCF(0.2 · Bear + 0.5 · Base + 0.3 · Bull inputs)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388620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Calibri"/>
              </a:rPr>
              <a:t>$8.19B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89920" y="4480560"/>
            <a:ext cx="7132320" cy="1371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0" y="461772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F3A5F"/>
                </a:solidFill>
                <a:latin typeface="Calibri"/>
              </a:rPr>
              <a:t>SCENARIO-LEVEL (probability-weighted DCF outputs)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4983480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= 0.2·DCF(Bear) + 0.5·DCF(Base) + 0.3·DCF(Bull)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534924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F3A5F"/>
                </a:solidFill>
                <a:latin typeface="Calibri"/>
              </a:rPr>
              <a:t>$11.56B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03504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6E2C"/>
                </a:solidFill>
                <a:latin typeface="Calibri"/>
              </a:rPr>
              <a:t>JENSEN'S GAP = $3.37B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0800"/>
            <a:ext cx="7132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Jensen's inequality: f(E[X]) ≤ E[f(X)] when f is convex.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DCF IS convex in members and in margin: terminal value scales as (members × ARPU × margin × multiple), and growth rates compound multiplicatively. Averaging inputs first destroys the convexity premium.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For WHOOP specifically: drivers co-move strongly within scenarios. Bull case is consistent (members high → ARPU high → margin high → multiple high). Input-level averages these toward the middle, breaking the joint distribution.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Scenario-level is the right method when scenarios are coherent stories — which is the methodology call this presentation makes.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8778240"/>
            <a:ext cx="17373600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891540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WHY THIS IS THE NOVEL SLIDE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9189720"/>
            <a:ext cx="17373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$3.37B gap = the entire mispricing thesis. Switch to input-level and Series G looks -19.0%; scenario-level says +14.4% underpriced. The methodology call IS the result.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TRIANGULATION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Football field: four methods, two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The disconnect IS the analysis — comp methodology pulls weighted avg down; intrinsic captures what comps miss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ootball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1887200" cy="63435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527280" y="19202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TWO READS OF THE TRIANGULATION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27280" y="2377440"/>
            <a:ext cx="5303520" cy="3200400"/>
          </a:xfrm>
          <a:prstGeom prst="rect">
            <a:avLst/>
          </a:prstGeom>
          <a:solidFill>
            <a:srgbClr val="F3F4F6"/>
          </a:solidFill>
          <a:ln w="19050">
            <a:solidFill>
              <a:srgbClr val="E66E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710160" y="25146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WEIGHTED AVERAGE — $8.78B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10160" y="28803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= $8.78B  →  -13.1% vs Series 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10160" y="3246120"/>
            <a:ext cx="49377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If you trust the comp pull, Series G is mildly OVERpriced. But: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· Comps weight 35% on a $3.57B Bucket-2 (Peloton/Spotify) anchor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· Comp methodology is structurally backward-looking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· It cannot price the platform thesis until publicly visible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527280" y="5760720"/>
            <a:ext cx="5303520" cy="3108960"/>
          </a:xfrm>
          <a:prstGeom prst="rect">
            <a:avLst/>
          </a:prstGeom>
          <a:solidFill>
            <a:srgbClr val="F3F4F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710160" y="59436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INTRINSIC ALONE — $11.56B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10160" y="63093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= $11.56B  →  +14.4% vs Series 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10160" y="6675120"/>
            <a:ext cx="49377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Strip the comp drag. The DCF says Series G is meaningfully UNDERpriced.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The gap between weighted avg and intrinsic IS the structural mispricing of platform-positioned companies — exactly what sophisticated capital captured at Series G entry.</a:t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This is the a16z American Dynamism setup.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COMPS DISCONNECT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Why comps say $3.57B and DCF says $11.56B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The platform thesis: four commercial vectors no public comparable holds together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92024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THREE-BUCKET COMP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17373600" cy="86868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B1 — Consumer 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Garmin (sole). Apple ref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6060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6E2C"/>
                </a:solidFill>
                <a:latin typeface="Calibri"/>
              </a:rPr>
              <a:t>6.2-6.7x rev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60604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Sells boxes, not subscriptions. Low LTV, lumpy.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17373600" cy="86868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B2 — Consumer Subscription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Peloton (1.2x distress) ↔ Spotify (5.1x mature)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566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6E2C"/>
                </a:solidFill>
                <a:latin typeface="Calibri"/>
              </a:rPr>
              <a:t>1.2-5.1x rev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56616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Disaggregated; range IS the insight. WHOOP avoids Peloton's fate via free hardware + lower churn.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17373600" cy="86868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B3 — Health Data / Medical 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Dexcom · ResMed · Masimo · iRhythm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5262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6E2C"/>
                </a:solidFill>
                <a:latin typeface="Calibri"/>
              </a:rPr>
              <a:t>5.0-6.4x rev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526280"/>
            <a:ext cx="9692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Aspirational anchor. Reimbursed by payers; defensible high multiples — but WHOOP is not reimbursed YET.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4406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IMPLIED WHOOP VALUATION BY BUCKET WEIGHTING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806440"/>
            <a:ext cx="173736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WEIGHTING SCHEME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897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WHAT IT CLAIMS WHOOP 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5897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BLENDED MULT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0" y="5897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IMPLIED 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63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BEAR  40 / 40 / 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2636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Peloton with better branding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263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~4.6x rev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0" y="6263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$5.1B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BASE  20 / 40 / 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510527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Subscription + healthcare optionality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1052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~5.1x rev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0" y="6510527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$5.6B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757415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BULL  10 / 30 / 60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757415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Health-data platform that uses a wearable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757415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~5.4x rev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0" y="6757415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$5.9B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7004303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66E2C"/>
                </a:solidFill>
                <a:latin typeface="Calibri"/>
              </a:rPr>
              <a:t>Series G implied  ~5 / 25 / 70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7004303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E66E2C"/>
                </a:solidFill>
                <a:latin typeface="Calibri"/>
              </a:rPr>
              <a:t>What sophisticated capital is paying for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7004303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66E2C"/>
                </a:solidFill>
                <a:latin typeface="Calibri"/>
              </a:rPr>
              <a:t>~9x rev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0" y="7004303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66E2C"/>
                </a:solidFill>
                <a:latin typeface="Calibri"/>
              </a:rPr>
              <a:t>$10.10B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7498079"/>
            <a:ext cx="17373600" cy="20116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763524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THE PLATFORM THESIS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8001000"/>
            <a:ext cx="17373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No bucket-weighting scheme using current observed multiples reaches $10.1B without putting 70%+ weight on Bucket 3 — which Series G investors implicitly do.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WHOOP combines four commercial vectors no public comparable holds together: consumer subscription + clinical-grade hardware + B2B Unite + health-data platform potential. Comp methodology requires a public peer to anchor; the absence of one IS the structural mispricing.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+14.4% intrinsic premium ≈ what gets priced when the fourth vector becomes publicly visible.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SENSITIVITIES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What drives the valuation: members &gt; terminal multiple &gt; WACC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Tornado centered on scenario-weighted Neutral $11.56B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12344400" cy="6579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075920" y="19202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WHAT THE TORNADO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0" y="22860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Members dominates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0" y="256032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2033 ending members (Bear 6.5M ↔ Bull 18.1M) drives ~$8B EV swing. ~3x bigger than next driver. Validates heavy four-lens triangulation focus.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0" y="333756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Terminal multiple #2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0" y="3611879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3.0x Bear ↔ 4.5x Bull at $7-8B 2033 revenue → $4-5B swing.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0" y="43891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WACC #3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75920" y="466344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Bear 12.18% ↔ Bull 11.00% → ~$3B swing. Bottoms-up build (10.85% Damodaran cross-check) is conservative.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75920" y="5440679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FCF margin #4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0" y="5714999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Terminal 18% Bear ↔ 30% Bull → $2.5B swing. Comparable scale to WACC.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0" y="649224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ARPU growth — surprisingly 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75920" y="6766559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Rank 5. Confirms ARPU discipline didn't cost the model much.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0" y="75438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Healthcare option prob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075920" y="781812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111827"/>
                </a:solidFill>
                <a:latin typeface="Calibri"/>
              </a:rPr>
              <a:t>Exhibit-only; 15% materialization shift = $1B EV swing.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8778240"/>
            <a:ext cx="17373600" cy="7315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8915400"/>
            <a:ext cx="1737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Joint Members × WACC heatmap (companion exhibit): $11.56B Base sits in the dense middle of the surface; even at 20%-pessimistic on Members AND 100bps higher WACC, fair value remains &gt; Series 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Central thesis: Series G is modestly UNDER-priced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+14.4% intrinsic premium captures structural mispricing of platform-positioned companies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2103120"/>
            <a:ext cx="17373600" cy="27432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737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66E2C"/>
                </a:solidFill>
                <a:latin typeface="Calibri"/>
              </a:rPr>
              <a:t>INTRINSIC FAIR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17373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$11.56B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737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3F4F6"/>
                </a:solidFill>
                <a:latin typeface="Calibri"/>
              </a:rPr>
              <a:t>vs Series G $10.10B  =  +14.4% premium under Neutral conviction (20/50/30)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CONVICTION-WEIGHTED ROBUSTNESS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486400"/>
            <a:ext cx="5669280" cy="3749039"/>
          </a:xfrm>
          <a:prstGeom prst="rect">
            <a:avLst/>
          </a:prstGeom>
          <a:solidFill>
            <a:srgbClr val="F3F4F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6235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PESSIMISTIC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35% Bear / 50% Base / 15% Bull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$8.23B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71780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-18.5% vs Series 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768096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Even if Bull is half as likely as Base assumes, intrinsic stays close to par.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5486400"/>
            <a:ext cx="5669280" cy="3749039"/>
          </a:xfrm>
          <a:prstGeom prst="rect">
            <a:avLst/>
          </a:prstGeom>
          <a:solidFill>
            <a:srgbClr val="1F3A5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6235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NEUTRAL (HEADLINE)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989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20% Bear / 50% Base / 30% Bull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640080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$11.56B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71780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+14.4% vs Series 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768096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Damodaran-style scenario weights, anchored against Oura's Series E pricing.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0" y="5486400"/>
            <a:ext cx="5669280" cy="3749039"/>
          </a:xfrm>
          <a:prstGeom prst="rect">
            <a:avLst/>
          </a:prstGeom>
          <a:solidFill>
            <a:srgbClr val="F3F4F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527280" y="56235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OPTIMISTIC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0" y="59893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15% Bear / 45% Base / 40% Bull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0" y="640080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11827"/>
                </a:solidFill>
                <a:latin typeface="Calibri"/>
              </a:rPr>
              <a:t>$13.53B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0" y="71780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+34.0% vs Series 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27280" y="7680960"/>
            <a:ext cx="53035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If healthcare materialization probability rises with CMS Innovation Center pathway.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Even at pessimistic conviction, fair value stays close to Series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Premium is structural, not knob-set; scenario-level dominates input-level at every weight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10312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WEIGHT SCHEME × METHOD GRID  (intrinsic, $B)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14600"/>
            <a:ext cx="173736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Weight scheme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5176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Bear / Base / Bull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51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Input-level DCF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65176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Scenario-level DCF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0" y="26517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Jensen's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0" y="2651760"/>
            <a:ext cx="2468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Scenario-level vs Series 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Pessimistic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0040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35 / 50 /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20040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$6.73B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3200400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$8.23B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0" y="32004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+$1.50B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0" y="320040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-18.5%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Neutral (headline)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84048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20 / 50 / 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8404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$8.19B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3840480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$11.56B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0" y="384048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+$3.37B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0" y="384048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3A5F"/>
                </a:solidFill>
                <a:latin typeface="Calibri"/>
              </a:rPr>
              <a:t>+14.4%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805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Optimistic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48056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15 / 45 / 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4805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$8.59B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480560"/>
            <a:ext cx="28346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$13.53B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0" y="44805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+$4.94B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0" y="4480560"/>
            <a:ext cx="24688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+34.0%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309360"/>
            <a:ext cx="8229600" cy="3108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READ 1: SCENARIO-LEVEL IS DOMINANT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812280"/>
            <a:ext cx="78638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Across ALL THREE weight schemes, scenario-level method beats input-level by $1.5B - $4.9B. Jensen's gap WIDENS as Bull weight rises.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This is not a property of the weights. It's a property of the convex DCF. Methodology choice IS the headline.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6309360"/>
            <a:ext cx="8686800" cy="31089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64465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READ 2: SERIES G CALL IS ROBUST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6812280"/>
            <a:ext cx="82296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Pessimistic conviction (only 15% Bull weight) → Series G -18.5%.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Neutral (30% Bull) → +14.4% under-priced.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Optimistic (40% Bull) → +34.0% under-priced.</a:t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111827"/>
                </a:solidFill>
                <a:latin typeface="Calibri"/>
              </a:rPr>
              <a:t>For Series G to look meaningfully overpriced you must put Bull at ≤10% — Oura at $12B (Series E) and CMS Innovation Center selection make sub-10% Bull hard to defend.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What the model does NOT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Honest scope; the bull case has stipulations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MODEL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Healthcare investment cost not modeled.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9552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Real options as exhibit assume free option; ignore upfront $200-400M clinical/regulatory spend WHOOP must commit.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Bull case requires explicit 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59"/>
            <a:ext cx="79552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18M ending members presumes healthcare reimbursement live by 2029 — not a residual; an EVENT must occur.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83479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Series F ratchet status unverified.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57799"/>
            <a:ext cx="79552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SoftBank absent from Series G syndicate. Ratchet provisions could affect waterfall; could not source disclosure.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17919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Option pool size opaque.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39"/>
            <a:ext cx="79552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Cap IQ shows 11.7% gap between authorized pref and outstanding common; option pool likely 10-15%.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7452359"/>
            <a:ext cx="79552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Cohort churn aged curve directional only.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7726679"/>
            <a:ext cx="795527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WHOOP's 'Pro tier &lt;3% monthly' stat misused industry-wide as blended; pressure-tested via Peloton overlay but no first-principles cohort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103120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E66E2C"/>
                </a:solidFill>
                <a:latin typeface="Calibri"/>
              </a:rPr>
              <a:t>EXTERNAL RISKS NOT IN BASE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514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Apple Watch / Oura / glucose entrants.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78892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Competitive risk. Bear case captures via 18% terminal churn; could be insufficient if multiple entrants succeed.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749039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FDA warning letter (Jul 2025) on BPI.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023359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Healthcare credibility shock; resolved but precedent matters for next FDA submission.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983479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Whoopgate (May 2025) pricing controversy.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257799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Estimated $30-40M revenue gap from renewal-timing reversal. Resolved via free upgrades within 48hrs but execution risk persists.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6217919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Founder/key-person risk.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6492239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Will Ahmed concentration. Not directly modeled.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7452359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TV exit-mult vs Gordon divergence (~34%).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7726679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11827"/>
                </a:solidFill>
                <a:latin typeface="Calibri"/>
              </a:rPr>
              <a:t>Indicates aggressive 4.5x Bull terminal multiple — stress-tested via tornado, not haircut.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8961120"/>
            <a:ext cx="17373600" cy="5943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9098280"/>
            <a:ext cx="1737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111827"/>
                </a:solidFill>
                <a:latin typeface="Calibri"/>
              </a:rPr>
              <a:t>Real options retained as cross-validation exhibit (correlated cluster: $5-6B success at 15-20% prob). Not added to football field.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737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66E2C"/>
                </a:solidFill>
                <a:latin typeface="Calibri"/>
              </a:rPr>
              <a:t>Q&amp;A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17373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  <a:latin typeface="Calibri"/>
              </a:rPr>
              <a:t>Anticipated questions — backup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737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Held in reserve; not necessarily presented unless asked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691640"/>
            <a:ext cx="17373600" cy="0"/>
          </a:xfrm>
          <a:prstGeom prst="line">
            <a:avLst/>
          </a:prstGeom>
          <a:ln w="190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2103120"/>
            <a:ext cx="17373600" cy="105156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39"/>
            <a:ext cx="1700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Defend Bull ARPU 6%/yr — that's well above SaaS norms.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17007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Bull case ARPU growth is a CONSEQUENCE of the scenario, not an independent assumption. Bull requires healthcare reimbursement materialization — payer-paid ARPU mechanically lifts blended ARPU 30-50%. 6%/yr is the geometric average that lands Bull 2033 ARPU at $437 (vs Base $347), consistent with 30-40% mix shift to payer-paid pricing by 2033.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17373600" cy="105156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91839"/>
            <a:ext cx="1700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Why bottoms-up WACC (11.59%) and not Damodaran top-down (10.85%)?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7007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Bottoms-up is the more conservative choice. Both methods converge within ~70bps. Bottoms-up uses our own per-comp regressions (3Y weekly OLS vs S&amp;P 500), Bloomberg-adjusted, with PTON excluded from B2 median due to distress. Top-down Damodaran sector medians (Electronics 0.83, HC Info-Tech 0.99) give 10.85% — slight lower. We use the higher number to keep the headline conservative.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17373600" cy="105156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1700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18M Bull endpoint — defend?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17007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Triangulated by four independent lenses: Lens A (TAM × share) → 11.95M Base / ~16M Bull. Lens B (Peloton stage-shift) → 11.21M Base / ~17M Bull. Lens C (Apple Watch + Oura comp median). Lens D (capital-led: $1.4B raised → ~16M Bull via S&amp;M backsolve). 18M is the upper end of the Bull-aligned envelope, NOT outside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32120"/>
            <a:ext cx="17373600" cy="105156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1700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Why 30% Bull weight — not 20%?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7007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Two anchors: (1) Damodaran's standard scenario practice puts upside scenarios at 25-35% when the upside has real-options character. (2) Oura at $12B Series E (Oct 2025) IS market validation that Bull-class wearable + biomarker outcomes are getting funded at &gt;$10B. Discounting Bull to 20% would imply the market is ~50% over-pricing Oura too.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675120"/>
            <a:ext cx="17373600" cy="105156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720840"/>
            <a:ext cx="1700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Why are real options not added to the football field?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7086600"/>
            <a:ext cx="17007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Same Jensen logic as the methodology slide. Real options are CORRELATED outcome clusters, not independent additive bets. Healthcare reimbursement, women's health, glucose monitoring co-move within the success/failure clusters. Adding them as a fixed expected value to a separate DCF would double-count the convexity already captured in scenario-weighted Bull. Retained as exhibit; explicitly NOT additive.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7818120"/>
            <a:ext cx="17373600" cy="1051560"/>
          </a:xfrm>
          <a:prstGeom prst="rect">
            <a:avLst/>
          </a:prstGeom>
          <a:solidFill>
            <a:srgbClr val="F3F4F6"/>
          </a:solidFill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7863840"/>
            <a:ext cx="17007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3A5F"/>
                </a:solidFill>
                <a:latin typeface="Calibri"/>
              </a:rPr>
              <a:t>If Series G is +14.4% under-priced, why didn't more institutional capital pile in?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8229600"/>
            <a:ext cx="17007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It DID — 49 investors across 10 rounds; Series G specifically led by Collaborative Fund with Abbott, Mayo, QIA, Mubadala, IVP, Macquarie. Institutional capital captured the platform thesis. The premium is what's left to be re-rated AT IPO once the platform is publicly visible — exactly the a16z American Dynamism arbitrage pattern.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9829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BUSN 20410 · Spring 2026 · Yannelis | Landon Brice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0" y="9829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