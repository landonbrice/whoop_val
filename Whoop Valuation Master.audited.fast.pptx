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41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E66E2C"/>
                </a:solidFill>
                <a:latin typeface="Calibri"/>
              </a:rPr>
              <a:t>WHOOP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800" b="1">
                <a:solidFill>
                  <a:srgbClr val="1F3A5F"/>
                </a:solidFill>
                <a:latin typeface="Calibri"/>
              </a:rPr>
              <a:t>Is Series G $10.1B fairly priced?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Calibri"/>
              </a:rPr>
              <a:t>Pressure-testing the March 2026 Series G — five methods, one verdict.</a:t>
            </a:r>
          </a:p>
        </p:txBody>
      </p:sp>
      <p:pic>
        <p:nvPicPr>
          <p:cNvPr id="6" name="Picture 5" descr="fundin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4754880"/>
            <a:ext cx="15544800" cy="48626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8595360"/>
            <a:ext cx="1645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66E2C"/>
                </a:solidFill>
                <a:latin typeface="Calibri"/>
              </a:rPr>
              <a:t>Verdict: intrinsic $12.95B  |  +28.2% to Series G  |  meaningfully under-priced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784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0" y="9784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737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COMPANY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A premium wearable with healthcare ambitions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Where WHOOP sits on the consumer–medical-device spectrum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78308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2194560"/>
            <a:ext cx="5669280" cy="457200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6E2C"/>
                </a:solidFill>
                <a:latin typeface="Calibri"/>
              </a:rPr>
              <a:t>WHAT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Hardware-free subscription wearable — band ships with active membership; revenue is recurring, not transactional.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2.5M+ paying members (end-2025)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$30/month consumer Pro tier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FDA-cleared ECG, BPI, Healthspan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WHOOP Coach (generative AI)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94560"/>
            <a:ext cx="5669280" cy="457200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6E2C"/>
                </a:solidFill>
                <a:latin typeface="Calibri"/>
              </a:rPr>
              <a:t>HOW IT GROWS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743200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103% YoY subscription growth.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Cash-flow positive in 2025.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FY25 recognized revenue ~$520M.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~80% consumer / ~20% B2B (Unite)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40-45% international revenue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60% of NEW members international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5 interim raises 2022-2025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  (mezzanine + later-stage)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194560"/>
            <a:ext cx="5669280" cy="457200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0" y="2331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6E2C"/>
                </a:solidFill>
                <a:latin typeface="Calibri"/>
              </a:rPr>
              <a:t>WHY HARD TO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0" y="2743200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No public comparable holds together what WHOOP is becoming: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Hardware (Garmin) — sells boxes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Subscription (Spotify/Peloton) — owns content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Medical (Dexcom, ResMed) — paid by payers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WHOOP combines all three vectors before the platform is publicly visible. Comps systematically miss this.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7040880"/>
            <a:ext cx="17373600" cy="228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717804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SERIES G — MARCH 31,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76809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$575M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8412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3F4F6"/>
                </a:solidFill>
                <a:latin typeface="Calibri"/>
              </a:rPr>
              <a:t>raised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76809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$10.1B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8412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3F4F6"/>
                </a:solidFill>
                <a:latin typeface="Calibri"/>
              </a:rPr>
              <a:t>post-money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76809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2.8x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8412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3F4F6"/>
                </a:solidFill>
                <a:latin typeface="Calibri"/>
              </a:rPr>
              <a:t>step-up vs 2021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76809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Collaborative Fund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8412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3F4F6"/>
                </a:solidFill>
                <a:latin typeface="Calibri"/>
              </a:rPr>
              <a:t>lead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0" y="76809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Abbott · Mayo · QIA · Mubadala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0" y="8412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3F4F6"/>
                </a:solidFill>
                <a:latin typeface="Calibri"/>
              </a:rPr>
              <a:t>strategic + sovereign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33320" y="76809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IPO 2027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33320" y="8412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3F4F6"/>
                </a:solidFill>
                <a:latin typeface="Calibri"/>
              </a:rPr>
              <a:t>explicit trajectory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9784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0" y="9784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737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Architecture: scenario-weighted DCF as primary, comps as cross-check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How four valuation lenses triangulate against the Series G mark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78308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2194560"/>
            <a:ext cx="338328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INTRINSIC DCF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Scenario-weighted</a:t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(Bear / Base / Bull)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148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Calibri"/>
              </a:rPr>
              <a:t>$12.95B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40% weight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39" y="2194560"/>
            <a:ext cx="338328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23317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PUBLIC COMPS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274320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Three buckets:</a:t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hardware · sub · health-data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41148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Calibri"/>
              </a:rPr>
              <a:t>$3.62B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4846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35% weight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2194560"/>
            <a:ext cx="338328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59" y="23317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PRECEDENT M&amp;A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59" y="274320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14 deals across</a:t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the three buckets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59" y="41148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Calibri"/>
              </a:rPr>
              <a:t>$5-8B*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59" y="4846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0% (cross-check)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018520" y="2194560"/>
            <a:ext cx="338328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201400" y="23317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LAST-ROUND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01400" y="274320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Series G post-money</a:t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(Mar 2026)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01400" y="41148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Calibri"/>
              </a:rPr>
              <a:t>$10.10B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4846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10% weight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538960" y="2194560"/>
            <a:ext cx="338328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721840" y="23317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IMPLIED 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721840" y="274320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Back-solved from</a:t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investor IRR targets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721840" y="41148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Calibri"/>
              </a:rPr>
              <a:t>$12.63B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721840" y="4846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15% weight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21792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WHY THIS ARCHITECTURE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67512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Scenario-weighted DCF, not input-level.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6675120"/>
            <a:ext cx="1325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Jensen's inequality: input-averaging at the driver level destroys correlation. WHOOP's drivers co-move within scenarios — scenario-weighted captures the convexity premium worth ~$4B (next slide).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717804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Real options retained as exhibit, NOT additive.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7178040"/>
            <a:ext cx="1325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Healthcare reimbursement, women's health, glucose monitoring — modeled as correlated outcome clusters (success $5-6B at 15-20% prob; mixed $2-3B at 40-50%; failure $0.5-1B at 30-40%). Cross-validation only.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768096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Three-bucket comp framework, disaggregated.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34840" y="7680960"/>
            <a:ext cx="1325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Bucket 2 (consumer subscription): Peloton 1.2x → Spotify 5.1x. Range IS the analysis; averaging destroys it.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818388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Take-private LBO leg excluded.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34840" y="8183880"/>
            <a:ext cx="1325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All-VC preferred capital structure offers no debt capacity; sovereign + crossover signal locked-in IPO path; antitrust blocks Apple/Google strategic acquisition.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868680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Class connections.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8686800"/>
            <a:ext cx="1325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Lecture 1A (DCF mechanics) · 1B (cost of capital) · 3B (real options as exhibit) · 4B (relative valuation).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9784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916400" y="9784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737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DCF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Revenue = Members × ARPU; Members triangulated through four lenses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Heavy analytical effort on Members; controlled discipline on ARPU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78308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2103120"/>
            <a:ext cx="17373600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1737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Revenue  =  Members  ×  ARPU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8412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MEMBERS — FOUR-LENS TRIANGULATION (2033 Base ENDPOINT)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657600"/>
            <a:ext cx="8412480" cy="512064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Lens A — TAM × Terminal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38404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25M premium-WTP TAM × 6%/yr × 30% share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8404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→ 11.95M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Lens B — Peloton stage-shift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42976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10.7M base × 1.08 free-hw × 0.97 ARPU drag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2976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→ 11.21M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548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Lens C — Multi-comp (Apple/Oura)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47548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Three independent comps converge (median)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7548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→ 10.63M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12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Lens D — Capital-led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52120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$1.4B raised → S&amp;M capacity backsolve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52120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→ 8.38M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6692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Median across four lenses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56692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5669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→ 10.92M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126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Calibrated Base endpoint (model)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61264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MG-sequence 49/37/25/19/14/11/8/6%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264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→ 10.92M 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7955279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All four converge within ±15% of 10.9M Base endpoint.</a:t>
            </a:r>
          </a:p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This convergence IS the methodology — not coincidence.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291840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ARPU — ASYMMETRIC DISCIPLINE BY SCENARIO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0" y="3657600"/>
            <a:ext cx="8686800" cy="512064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0" y="38404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2025 anchor: $274 (subscription $258 + Labs $15 + accessories $1)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42062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Growth rate IS where the scenario differentiates: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47548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0392B"/>
                </a:solidFill>
                <a:latin typeface="Calibri"/>
              </a:rPr>
              <a:t>Bear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47548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2.5%/yr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12880" y="47548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$274 → $334 by 2033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356080" y="47548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Consumer pricing pressure; Apple Watch undercuts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3492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720" y="53492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3.0%/yr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612880" y="53492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$274 → $347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356080" y="53492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Modest mix shift to higher tiers; Labs at 5-8% attach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59436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Calibri"/>
              </a:rPr>
              <a:t>Bull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59436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6.0%/yr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612880" y="59436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$274 → $437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356080" y="59436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Healthcare reimbursement materializes; bundle ramps; insurer &amp; employer pricing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0" y="6766560"/>
            <a:ext cx="8229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WHY ASYMMETRIC?</a:t>
            </a:r>
          </a:p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Bear/Base allow ARPU just enough to keep up with inflation + modest tier mix.</a:t>
            </a:r>
          </a:p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Bull is where ARPU levers — but ONLY because Bull also requires healthcare reimbursement materialization, which mechanically lifts ARPU through payer-paid pricing. ARPU growth in Bull is a CONSEQUENCE of the scenario, not an independent assumption.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9784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916400" y="9784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737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THREE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Bear $2.6B · Base $7.8B · Bull $28.4B — feel the dispersion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Each scenario is internally consistent; weights collapse them into a single estimate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78308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cenario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10058400" cy="55041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20116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EACH SCENARIO IS A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242316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  <a:latin typeface="Calibri"/>
              </a:rPr>
              <a:t>BEAR — Consumer Wearable Plateau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2788920"/>
            <a:ext cx="71323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Healthcare thesis stalls. Apple Watch + Oura + glucose-sensors split the consumer market. WHOOP becomes Peloton: distressed subscription model, churn rises 12% → 18%, ARPU growth flattens at 2.5%/yr.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2033 ending: 6.5M | Bull-case haircut on every line.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DCF Equity → $2.55B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484632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BASE — Durable Consumer Subscription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5212080"/>
            <a:ext cx="71323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Healthcare optionality is a real call but doesn't cash. Consumer subscription compounds at moderate rate. Members 2.5M → 10.9M (49%/37%/25%/19% etc.). ARPU 3% growth. Margins ramp to 22% terminal FCF margin.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2033 ending: 10.9M | Mid-case for everything.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DCF Equity → $7.83B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7269479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2E7D32"/>
                </a:solidFill>
                <a:latin typeface="Calibri"/>
              </a:rPr>
              <a:t>BULL — Healthcare Reimbursement + Platform Win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7635240"/>
            <a:ext cx="71323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FDA expansions + CMS Innovation Center pathway → reimbursement live by 2029. WHOOP Unite enterprise scales. Members 2.5M → 18.1M. ARPU 6%/yr (driven BY healthcare, not assumed independently). Terminal margin 30%.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2033 ending: 18.1M | Bull-stories must align.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DCF Equity → $28.4B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8595360"/>
            <a:ext cx="17373600" cy="10058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8732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COLLAPSE TO ONE NUMBER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9098280"/>
            <a:ext cx="1737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Scenario-weighted Neutral 20/50/30 → $12.95B intrinsic. Why scenario-level (not input-level)? Next slide — the novel-grade insight.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9784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0" y="9784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737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★ NOVEL · JENSEN'S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Input-level vs scenario-level: a $4.15B methodology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Why this matters: DCF is convex; how you average matters as much as what you average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78308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jensens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10058400" cy="55293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20116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TWO METHODS, ONE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2423160"/>
            <a:ext cx="7132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11827"/>
                </a:solidFill>
                <a:latin typeface="Calibri"/>
              </a:rPr>
              <a:t>Same Bear/Base/Bull scenarios. Same probability weights. Two ways to combine:</a:t>
            </a:r>
          </a:p>
        </p:txBody>
      </p:sp>
      <p:sp>
        <p:nvSpPr>
          <p:cNvPr id="9" name="Rectangle 8"/>
          <p:cNvSpPr/>
          <p:nvPr/>
        </p:nvSpPr>
        <p:spPr>
          <a:xfrm>
            <a:off x="10789920" y="3108960"/>
            <a:ext cx="7132320" cy="13716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0" y="324612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6B7280"/>
                </a:solidFill>
                <a:latin typeface="Calibri"/>
              </a:rPr>
              <a:t>INPUT-LEVEL (single-run DCF on weighted avg inputs)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361188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= DCF(0.2 · Bear + 0.5 · Base + 0.3 · Bull inputs)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3977639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6B7280"/>
                </a:solidFill>
                <a:latin typeface="Calibri"/>
              </a:rPr>
              <a:t>→ $8.80B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789920" y="4572000"/>
            <a:ext cx="7132320" cy="13716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0" y="470916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F3A5F"/>
                </a:solidFill>
                <a:latin typeface="Calibri"/>
              </a:rPr>
              <a:t>SCENARIO-LEVEL (probability-weighted DCF outputs)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507492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= 0.2·DCF(Bear) + 0.5·DCF(Base) + 0.3·DCF(Bull)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544068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Calibri"/>
              </a:rPr>
              <a:t>→ $12.95B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1264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66E2C"/>
                </a:solidFill>
                <a:latin typeface="Calibri"/>
              </a:rPr>
              <a:t>JENSEN'S GAP = $4.15B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92240"/>
            <a:ext cx="71323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Jensen's inequality: f(E[X]) ≤ E[f(X)] when f is convex.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DCF IS convex in members and in margin: terminal value scales as (members × ARPU × margin × multiple), and growth rates compound multiplicatively. Averaging inputs first destroys the convexity premium.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For WHOOP specifically: drivers co-move strongly within scenarios. Bull case is consistent (members high → ARPU high → margin high → multiple high). Input-level averages these toward the middle, breaking the joint distribution.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Scenario-level is the right method when scenarios are coherent stories — which is exactly the methodology call this presentation makes.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8595360"/>
            <a:ext cx="17373600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873252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WHY THIS IS THE NOVEL SLIDE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9098280"/>
            <a:ext cx="1737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$4.15B gap = the entire mispricing thesis. Switch to input-level and Series G looks fairly priced; scenario-level says +28% underpriced. The methodology call IS the result.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9784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0" y="9784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737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TRIANGULATION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Football field: four methods, two stories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The disconnect IS the analysis — comp methodology pulls weighted avg down; intrinsic captures what comps miss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78308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football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11887200" cy="63435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527280" y="2011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TWO READS OF THE TRIANGULATION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27280" y="2468880"/>
            <a:ext cx="5303520" cy="3200400"/>
          </a:xfrm>
          <a:prstGeom prst="rect">
            <a:avLst/>
          </a:prstGeom>
          <a:solidFill>
            <a:srgbClr val="F3F4F6"/>
          </a:solidFill>
          <a:ln w="19050">
            <a:solidFill>
              <a:srgbClr val="E66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710160" y="26517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WEIGHTED AVERAGE — $9.34B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10160" y="30175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= $9.34B  →  -7.6% vs Series 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0" y="3383280"/>
            <a:ext cx="49377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If you trust the comp pull, Series G is mildly OVERpriced. But: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· Comps weight 35% on a $3.62B Bucket-2 (Peloton/Spotify) anchor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· Comp methodology is structurally backward-looking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· It cannot price the platform thesis until publicly visible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27280" y="5852160"/>
            <a:ext cx="5303520" cy="3108960"/>
          </a:xfrm>
          <a:prstGeom prst="rect">
            <a:avLst/>
          </a:prstGeom>
          <a:solidFill>
            <a:srgbClr val="F3F4F6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710160" y="60350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INTRINSIC ALONE — $12.95B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0" y="64008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= $12.95B  →  +28.2% vs Series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0" y="6766560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Strip the comp drag. The DCF says Series G is meaningfully UNDERpriced.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The gap between weighted avg and intrinsic IS the structural mispricing of platform-positioned companies — exactly what sophisticated capital captured at Series G entry.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This is the a16z American Dynamism setup.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9784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0" y="9784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737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COMPS DISCONNECT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Why comps say $3.6B and DCF says $12.95B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The platform thesis: four commercial vectors no public comparable holds together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78308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201168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THREE-BUCKET COMP FRAMEWORK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17373600" cy="86868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B1 — Consumer Hardware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Garmin (sole). Apple ref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6974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66E2C"/>
                </a:solidFill>
                <a:latin typeface="Calibri"/>
              </a:rPr>
              <a:t>6.2-6.7x rev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69748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Sells boxes, not subscriptions. Low LTV, lumpy.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29000"/>
            <a:ext cx="17373600" cy="86868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20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B2 — Consumer Subscription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Peloton (1.2x distress) ↔ Spotify (5.1x mature)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6576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66E2C"/>
                </a:solidFill>
                <a:latin typeface="Calibri"/>
              </a:rPr>
              <a:t>1.2-5.1x rev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65760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Disaggregated; range IS the insight. WHOOP avoids Peloton's fate via free hardware + lower churn.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89120"/>
            <a:ext cx="17373600" cy="86868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48055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B3 — Health Data / Medical Device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006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Dexcom · ResMed · Masimo · iRhythm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6177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66E2C"/>
                </a:solidFill>
                <a:latin typeface="Calibri"/>
              </a:rPr>
              <a:t>5.0-6.4x rev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461772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Aspirational anchor. Reimbursed by payers; defensible high multiples — but WHOOP is not reimbursed YET.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53212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IMPLIED WHOOP VALUATION BY BUCKET WEIGHTING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897880"/>
            <a:ext cx="173736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WEIGHTING SCHEME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9893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WHAT IT CLAIMS WHOOP 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59893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BLENDED MULT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0" y="59893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IMPLIED EV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BEAR  40 / 40 / 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Peloton with better branding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~4.6x rev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$5.1B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6019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BASE  20 / 40 / 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60196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Subscription + healthcare optionality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6019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~5.1x rev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0" y="66019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$5.6B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84885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BULL  10 / 30 / 60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84885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Health-data platform that uses a wearable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84885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~5.4x rev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173200" y="684885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$5.9B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709574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E66E2C"/>
                </a:solidFill>
                <a:latin typeface="Calibri"/>
              </a:rPr>
              <a:t>Series G implied  ~5 / 25 / 70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7095744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E66E2C"/>
                </a:solidFill>
                <a:latin typeface="Calibri"/>
              </a:rPr>
              <a:t>What sophisticated capital is paying for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709574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E66E2C"/>
                </a:solidFill>
                <a:latin typeface="Calibri"/>
              </a:rPr>
              <a:t>~9x rev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200" y="709574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E66E2C"/>
                </a:solidFill>
                <a:latin typeface="Calibri"/>
              </a:rPr>
              <a:t>$10.10B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7589520"/>
            <a:ext cx="17373600" cy="2011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7726679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THE PLATFORM THESIS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8092440"/>
            <a:ext cx="17373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No bucket-weighting scheme using current observed multiples reaches $10.1B without putting 70%+ weight on Bucket 3 — which Series G investors implicitly do.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WHOOP combines four commercial vectors no public comparable holds together: consumer subscription + clinical-grade hardware + B2B Unite + health-data platform potential. Comp methodology requires a public peer to anchor; the absence of one IS the structural mispricing.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+28% intrinsic premium ≈ what gets priced when the fourth vector becomes publicly visible.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9784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916400" y="9784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737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SENSITIVITIES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What drives the valuation: members &gt; terminal multiple &gt;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Tornado confirms analytical effort allocation was correct (Members dominates by ~30%)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78308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tor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12344400" cy="65796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75920" y="20116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WHAT THE TORNADO SAYS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0" y="2423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Members dominates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75920" y="2697479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2033 ending members (Bear 6.5M ↔ Bull 18.1M) drives ~$8B EV swing. ~3x bigger than next driver. Validates heavy four-lens triangulation focus.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0" y="34747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Terminal multiple #2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75920" y="3749039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3.0x Bear ↔ 4.5x Bull at $7-8B 2033 revenue → $4-5B swing. Bull-tilt at 60% bucket-3 still defensible.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75920" y="45262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WACC #3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075920" y="4800599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9.75% Bull ↔ 11.94% Bear → ~$3B swing. Damodaran build (10.85% Base) is mid-tight.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0" y="55778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FCF margin 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20" y="5852159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Terminal 18% Bear ↔ 30% Bull → $2.5B swing. Comparable scale to WACC.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0" y="66294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ARPU growth — surprisingly small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75920" y="69037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Rank 5. Confirms ARPU discipline didn't cost the model much. The Bull case CARRIES on members + multiple, not on ARPU stretching.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75920" y="76809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Healthcare option prob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75920" y="795528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Already exhibit-only; tornado included for completeness. 15% materialization shift = $1B EV swing.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8869680"/>
            <a:ext cx="17373600" cy="7315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9006840"/>
            <a:ext cx="1737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Joint Members × WACC heatmap (companion exhibit): $12.95B Base sits in the dense middle of the surface; even at 20%-pessimistic on Members AND 100bps higher WACC, fair value remains &gt; Series 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9784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0" y="9784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737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Central thesis: Series G is meaningfully UNDER-priced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+28% intrinsic premium captures structural mispricing of platform-positioned companies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78308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2194560"/>
            <a:ext cx="17373600" cy="2743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77440"/>
            <a:ext cx="1737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E66E2C"/>
                </a:solidFill>
                <a:latin typeface="Calibri"/>
              </a:rPr>
              <a:t>INTRINSIC FAIR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17373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Calibri"/>
              </a:rPr>
              <a:t>$12.95B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1737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3F4F6"/>
                </a:solidFill>
                <a:latin typeface="Calibri"/>
              </a:rPr>
              <a:t>vs Series G $10.10B  =  +28.2% premium under Neutral conviction (20/50/30)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21208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CONVICTION-WEIGHTED ROBUSTNESS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577840"/>
            <a:ext cx="5669280" cy="3749039"/>
          </a:xfrm>
          <a:prstGeom prst="rect">
            <a:avLst/>
          </a:prstGeom>
          <a:solidFill>
            <a:srgbClr val="F3F4F6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7150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PESSIMISTIC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807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35% Bear / 50% Base / 15% Bull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537960"/>
            <a:ext cx="5303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11827"/>
                </a:solidFill>
                <a:latin typeface="Calibri"/>
              </a:rPr>
              <a:t>$9.07B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73152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-10.2% vs Series 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781812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Even if Bull is half as likely as Base assumes, intrinsic stays close to par.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5577840"/>
            <a:ext cx="5669280" cy="3749039"/>
          </a:xfrm>
          <a:prstGeom prst="rect">
            <a:avLst/>
          </a:prstGeom>
          <a:solidFill>
            <a:srgbClr val="1F3A5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57150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NEUTRAL (HEADLINE)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0807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20% Bear / 50% Base / 30% Bull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6537960"/>
            <a:ext cx="5303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$12.95B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73152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+28.2% vs Series 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781812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Damodaran-style scenario weights, anchored against Oura's Series E pricing.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344400" y="5577840"/>
            <a:ext cx="5669280" cy="3749039"/>
          </a:xfrm>
          <a:prstGeom prst="rect">
            <a:avLst/>
          </a:prstGeom>
          <a:solidFill>
            <a:srgbClr val="F3F4F6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527280" y="57150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OPTIMISTIC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527280" y="60807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15% Bear / 45% Base / 40% Bull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27280" y="6537960"/>
            <a:ext cx="5303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11827"/>
                </a:solidFill>
                <a:latin typeface="Calibri"/>
              </a:rPr>
              <a:t>$15.28B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0" y="73152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+51.3% vs Series 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27280" y="781812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If healthcare materialization probability rises with CMS Innovation Center pathway.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9784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0" y="9784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737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Even at pessimistic conviction, fair value stays close to Series 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The +28% premium is structural, not knob-set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78308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219456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WEIGHT SCHEME × METHOD GRID  (intrinsic, $B)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173736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Weight scheme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7432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Bear / Base / Bull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743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Input-level DCF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2743200"/>
            <a:ext cx="28346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Scenario-level DCF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50240" y="274320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Jensen's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0" y="274320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Scenario-level vs Series 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Pessimistic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291840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35 / 50 / 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29184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$6.73B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3291840"/>
            <a:ext cx="283463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$9.07B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50240" y="329184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+$2.34B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0" y="329184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-10.2%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3192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Neutral (headline)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3931920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20 / 50 / 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39319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$8.80B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3931920"/>
            <a:ext cx="283463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$12.95B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50240" y="393192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+$4.15B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0" y="393192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+28.2%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5720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Optimistic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572000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15 / 45 / 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57200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$9.69B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4572000"/>
            <a:ext cx="283463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$15.28B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50240" y="457200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+$5.59B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361920" y="45720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+51.3%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400800"/>
            <a:ext cx="8229600" cy="31089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53796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READ 1: SCENARIO-LEVEL IS DOMINANT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903720"/>
            <a:ext cx="78638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Across ALL THREE weight schemes, scenario-level method beats input-level by $2.3B - $5.6B. Jensen's gap WIDENS as Bull weight rises.</a:t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This is not a property of the weights. It's a property of the convex DCF. Methodology choice IS the headline.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6400800"/>
            <a:ext cx="8686800" cy="31089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0" y="65379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READ 2: SERIES G CALL IS ROBUST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6903720"/>
            <a:ext cx="822960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Pessimistic conviction (only 15% Bull weight) → Series G barely overpriced (-10%).</a:t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Neutral (30% Bull) → +28% under-priced.</a:t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Optimistic (40% Bull) → +51% under-priced.</a:t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For Series G to look meaningfully overpriced you must put Bull at ≤10% — but Oura at $12B (Series E) and CMS Innovation Center selection make sub-10% Bull hard to defend.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9784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916400" y="9784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737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What the model does NOT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Honest scope; the bull case has stipulations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78308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MODEL 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Healthcare investment cost not modeled.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Real options as exhibit assume free option; ignore upfront $200-400M clinical/regulatory spend WHOOP must commit.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Bull case requires explicit story.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18M ending members presumes healthcare reimbursement live by 2029 — not a residual; an EVENT must occur.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7492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Series F ratchet status unverified.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49240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SoftBank absent from Series G syndicate. Ratchet provisions could affect waterfall; could not source disclosure.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0936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Option pool size opaque.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583680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Cap IQ shows 11.7% gap between authorized pref and outstanding common; option pool likely 10-15%.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75438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Cohort churn aged curve directional only.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7818120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WHOOP's 'Pro tier &lt;3% monthly' stat misused industry-wide as blended; pressure-tested via Peloton overlay but no first-principles cohort data.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194560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EXTERNAL RISKS NOT IN BASE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606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Apple Watch / Oura / glucose entrants.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88036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Competitive risk. Bear case captures via 18% terminal churn; could be insufficient if multiple entrants succeed.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38404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FDA warning letter (Jul 2025) on BPI.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411480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Healthcare credibility shock; resolved but precedent matters for next FDA submission.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5074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Whoopgate (May 2025) pricing controversy.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534924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Estimated $30-40M revenue gap from renewal-timing reversal. Resolved via free upgrades within 48hrs but execution risk persists.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63093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Founder/key-person risk.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658368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Will Ahmed concentration. Not directly modeled.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7543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TV exit-mult vs Gordon divergence (25.79%).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781812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Just over WARN threshold (was FAIL pre-WACC fix). Indicates aggressive 4.5x Bull terminal multiple — stress-tested via tornado, not haircut.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9006840"/>
            <a:ext cx="17373600" cy="5943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9144000"/>
            <a:ext cx="1737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  <a:latin typeface="Calibri"/>
              </a:rPr>
              <a:t>Real options retained as cross-validation exhibit (correlated cluster: $5-6B success at 15-20% prob). Not added to football field.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9784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0" y="9784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737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Q&amp;A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Anticipated questions — backup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Held in reserve; not necessarily presented unless asked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78308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2194560"/>
            <a:ext cx="17373600" cy="105156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79"/>
            <a:ext cx="1700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Why Bull DCF $28B and not the $19.9B in your earlier draft?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7007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Earlier draft had a Bull MG sequence bug — off-by-one on 2031/2032/2033 growth references suppressed late-year Bull growth. Bull was actually using 9%/7%/error instead of 13%/9%/7%. Fixed in audit pass; mechanical, not subjective. Combined with 9.755% Damodaran Bull WACC (also was wired to 11% bottoms-up), Bull DCF lifts to $28.4B. The MG fix is the bigger contributor.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17373600" cy="105156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83279"/>
            <a:ext cx="1700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Defend Bull ARPU 6%/yr — that's well above SaaS norms.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17007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Bull case ARPU growth is a CONSEQUENCE of the scenario, not an independent assumption. Bull requires healthcare reimbursement materialization — payer-paid ARPU mechanically lifts blended ARPU 30-50%. 6%/yr is the geometric average that lands Bull 2033 ARPU at $437 (vs Base $347), consistent with 30-40% mix shift to payer-paid pricing by 2033.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80560"/>
            <a:ext cx="17373600" cy="105156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1700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18M Bull endpoint — defend?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17007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Triangulated by four independent lenses: Lens A (TAM × share) → 11.95M Base / ~16M Bull at 33% share. Lens B (Peloton stage-shift) → 11.21M Base / ~17M Bull. Lens C (Apple Watch + Oura comp median). Lens D (capital-led: $1.4B raised → ~16M Bull via S&amp;M backsolve). 18M is the upper end of the Bull-aligned envelope, NOT outside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623560"/>
            <a:ext cx="17373600" cy="105156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669280"/>
            <a:ext cx="1700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Why 30% Bull weight — not 20%?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035040"/>
            <a:ext cx="17007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Two anchors: (1) Damodaran's standard scenario practice puts upside scenarios at 25-35% when the upside has real-options character. (2) Oura at $12B Series E (Oct 2025) IS market validation that Bull-class wearable + biomarker outcomes are getting funded at &gt;$10B. Discounting Bull to 20% would imply the market is ~50% over-pricing Oura too.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766560"/>
            <a:ext cx="17373600" cy="105156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812280"/>
            <a:ext cx="1700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Why are real options not added to the football field?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7178040"/>
            <a:ext cx="17007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Same Jensen logic as the methodology slide. Real options are CORRELATED outcome clusters, not independent additive bets. Healthcare reimbursement, women's health, glucose monitoring co-move within the success/failure clusters. Adding them as a fixed expected value to a separate DCF would double-count the convexity already captured in scenario-weighted Bull. Retained as exhibit; explicitly NOT additive.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7909560"/>
            <a:ext cx="17373600" cy="105156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7955280"/>
            <a:ext cx="1700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If Series G is 28% under-priced, why didn't more institutional capital pile in?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8321040"/>
            <a:ext cx="17007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It DID — 49 investors across 10 rounds; Series G specifically led by Collaborative Fund with Abbott, Mayo, QIA, Mubadala, IVP, Macquarie. Institutional capital captured the platform thesis. The 28% gap is what's left to be re-rated AT IPO once the platform is publicly visible — exactly the a16z American Dynamism arbitrage pattern.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9784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0" y="9784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