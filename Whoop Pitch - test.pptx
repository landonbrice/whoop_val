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9" r:id="rId4"/>
    <p:sldId id="258" r:id="rId5"/>
    <p:sldId id="259" r:id="rId6"/>
    <p:sldId id="271" r:id="rId7"/>
    <p:sldId id="272" r:id="rId8"/>
    <p:sldId id="276" r:id="rId9"/>
    <p:sldId id="277" r:id="rId10"/>
    <p:sldId id="264" r:id="rId11"/>
    <p:sldId id="266" r:id="rId12"/>
    <p:sldId id="267" r:id="rId13"/>
    <p:sldId id="265" r:id="rId14"/>
    <p:sldId id="278" r:id="rId15"/>
    <p:sldId id="279" r:id="rId16"/>
    <p:sldId id="280" r:id="rId17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6E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33E6B9-0BBC-7643-A9B1-D7652E841333}" v="856" dt="2026-05-11T01:32:58.984"/>
    <p1510:client id="{985C6BDA-2F1C-3B4A-A9EE-EB113451F07F}" v="2" dt="2026-05-10T21:30:07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4"/>
    <p:restoredTop sz="94637"/>
  </p:normalViewPr>
  <p:slideViewPr>
    <p:cSldViewPr snapToGrid="0" snapToObjects="1">
      <p:cViewPr>
        <p:scale>
          <a:sx n="92" d="100"/>
          <a:sy n="92" d="100"/>
        </p:scale>
        <p:origin x="608" y="4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599CF-B7BD-7146-A262-CD81C1811A82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9481CF-592B-D248-B3A4-10EC410C9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41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085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1532021"/>
            <a:ext cx="11742821" cy="178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5800" b="1" dirty="0">
                <a:solidFill>
                  <a:srgbClr val="1F3A5F"/>
                </a:solidFill>
                <a:latin typeface="Calibri"/>
              </a:rPr>
              <a:t>Is </a:t>
            </a:r>
            <a:r>
              <a:rPr lang="en-US" sz="5800" b="1" dirty="0">
                <a:solidFill>
                  <a:srgbClr val="E66E2C"/>
                </a:solidFill>
                <a:latin typeface="Calibri"/>
              </a:rPr>
              <a:t>Whoop’s</a:t>
            </a:r>
            <a:r>
              <a:rPr lang="en-US" sz="5800" b="1" dirty="0">
                <a:solidFill>
                  <a:srgbClr val="1F3A5F"/>
                </a:solidFill>
                <a:latin typeface="Calibri"/>
              </a:rPr>
              <a:t> Series G </a:t>
            </a:r>
            <a:r>
              <a:rPr sz="5800" b="1" dirty="0">
                <a:solidFill>
                  <a:srgbClr val="1F3A5F"/>
                </a:solidFill>
                <a:latin typeface="Calibri"/>
              </a:rPr>
              <a:t>$10.1B fairly priced</a:t>
            </a:r>
            <a:r>
              <a:rPr lang="en-US" sz="5800" b="1" dirty="0">
                <a:solidFill>
                  <a:srgbClr val="1F3A5F"/>
                </a:solidFill>
                <a:latin typeface="Calibri"/>
              </a:rPr>
              <a:t>?</a:t>
            </a:r>
            <a:endParaRPr sz="5800" b="1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916400" y="9784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01 / 13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11ABC5-721A-4970-2D73-41C3DEBD9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0128" y="853976"/>
            <a:ext cx="3746500" cy="3581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E5FEFF-3BC7-88C3-6638-CE6B6840A8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385" b="5289"/>
          <a:stretch>
            <a:fillRect/>
          </a:stretch>
        </p:blipFill>
        <p:spPr>
          <a:xfrm>
            <a:off x="1322833" y="3845899"/>
            <a:ext cx="11890467" cy="52887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73736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E66E2C"/>
                </a:solidFill>
                <a:latin typeface="Calibri"/>
              </a:rPr>
              <a:t>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7373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dirty="0">
                <a:solidFill>
                  <a:srgbClr val="1F3A5F"/>
                </a:solidFill>
                <a:latin typeface="Calibri"/>
              </a:rPr>
              <a:t>A premium wearable with healthcare ambitions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737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6B7280"/>
                </a:solidFill>
                <a:latin typeface="Calibri"/>
              </a:rPr>
              <a:t>Where WHOOP sits on the consumer–medical-device spectrum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78308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2194560"/>
            <a:ext cx="5669280" cy="457200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12064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E66E2C"/>
                </a:solidFill>
                <a:latin typeface="Calibri"/>
              </a:rPr>
              <a:t>WHAT</a:t>
            </a:r>
            <a:r>
              <a:rPr lang="en-US" sz="1300" b="1" dirty="0">
                <a:solidFill>
                  <a:srgbClr val="E66E2C"/>
                </a:solidFill>
                <a:latin typeface="Calibri"/>
              </a:rPr>
              <a:t> THEY DO? </a:t>
            </a:r>
            <a:endParaRPr sz="1300" b="1" dirty="0">
              <a:solidFill>
                <a:srgbClr val="E66E2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120640" cy="4385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500" kern="0" dirty="0">
                <a:solidFill>
                  <a:srgbClr val="3A3A3A"/>
                </a:solidFill>
                <a:latin typeface="Calibri" panose="020F0502020204030204" pitchFamily="34" charset="0"/>
                <a:ea typeface="JetBrains Mono" pitchFamily="34" charset="-122"/>
                <a:cs typeface="Calibri" panose="020F0502020204030204" pitchFamily="34" charset="0"/>
              </a:rPr>
              <a:t>24/7 health &amp; fitness wearable. Tracks recovery, strain, sleep, and biometric trends across continuous monitoring.</a:t>
            </a:r>
          </a:p>
          <a:p>
            <a:endParaRPr lang="en-US" sz="1500" kern="0" dirty="0">
              <a:solidFill>
                <a:srgbClr val="3A3A3A"/>
              </a:solidFill>
              <a:latin typeface="Calibri" panose="020F0502020204030204" pitchFamily="34" charset="0"/>
              <a:ea typeface="JetBrains Mono" pitchFamily="34" charset="-122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Targeted for professional athletes and serious fitness enthusiasts, particularly in endurance sports and professional leagues</a:t>
            </a:r>
          </a:p>
          <a:p>
            <a:pPr algn="l"/>
            <a:endParaRPr lang="en-US" sz="1500" dirty="0">
              <a:solidFill>
                <a:srgbClr val="11182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sz="1500" b="0" dirty="0">
                <a:solidFill>
                  <a:srgbClr val="1118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Hardware-free subscription wearable — band ships with active membership; revenue is recurring</a:t>
            </a:r>
            <a:r>
              <a:rPr lang="en-US" sz="1500" dirty="0">
                <a:solidFill>
                  <a:srgbClr val="1118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sz="1500" b="0" dirty="0">
                <a:solidFill>
                  <a:srgbClr val="1118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/>
            <a:endParaRPr sz="1500" b="0" dirty="0">
              <a:solidFill>
                <a:srgbClr val="E66E2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sz="1500" b="0" dirty="0">
                <a:solidFill>
                  <a:srgbClr val="E66E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· 2.5M+ paying members (end-2025)</a:t>
            </a:r>
          </a:p>
          <a:p>
            <a:pPr algn="l"/>
            <a:r>
              <a:rPr sz="1500" b="0" dirty="0">
                <a:solidFill>
                  <a:srgbClr val="E66E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· $30/month consumer Pro tier</a:t>
            </a:r>
          </a:p>
          <a:p>
            <a:pPr algn="l"/>
            <a:r>
              <a:rPr sz="1500" b="0" dirty="0">
                <a:solidFill>
                  <a:srgbClr val="E66E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· FDA-cleared ECG, BPI, </a:t>
            </a:r>
            <a:r>
              <a:rPr sz="1500" b="0" dirty="0" err="1">
                <a:solidFill>
                  <a:srgbClr val="E66E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Healthspan</a:t>
            </a:r>
            <a:endParaRPr sz="1500" b="0" dirty="0">
              <a:solidFill>
                <a:srgbClr val="E66E2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sz="1500" b="0" dirty="0">
                <a:solidFill>
                  <a:srgbClr val="E66E2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· WHOOP Coach (generative AI)</a:t>
            </a:r>
            <a:endParaRPr lang="en-US" sz="1500" b="0" dirty="0">
              <a:solidFill>
                <a:srgbClr val="E66E2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1500" dirty="0">
              <a:solidFill>
                <a:srgbClr val="111827"/>
              </a:solidFill>
              <a:latin typeface="Calibri"/>
            </a:endParaRPr>
          </a:p>
          <a:p>
            <a:pPr algn="l"/>
            <a:endParaRPr lang="en-US" sz="1500" b="0" dirty="0">
              <a:solidFill>
                <a:srgbClr val="111827"/>
              </a:solidFill>
              <a:latin typeface="Calibri"/>
            </a:endParaRPr>
          </a:p>
          <a:p>
            <a:pPr algn="l"/>
            <a:endParaRPr lang="en-US" sz="1500" dirty="0">
              <a:solidFill>
                <a:srgbClr val="111827"/>
              </a:solidFill>
              <a:latin typeface="Calibri"/>
            </a:endParaRPr>
          </a:p>
          <a:p>
            <a:pPr algn="l"/>
            <a:endParaRPr lang="en-US" sz="1500" b="0" dirty="0">
              <a:solidFill>
                <a:srgbClr val="111827"/>
              </a:solidFill>
              <a:latin typeface="Calibri"/>
            </a:endParaRPr>
          </a:p>
          <a:p>
            <a:pPr algn="l"/>
            <a:endParaRPr lang="en-US" sz="1500" dirty="0">
              <a:solidFill>
                <a:srgbClr val="111827"/>
              </a:solidFill>
              <a:latin typeface="Calibri"/>
            </a:endParaRPr>
          </a:p>
          <a:p>
            <a:pPr algn="l"/>
            <a:endParaRPr sz="1500" b="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0" y="2194560"/>
            <a:ext cx="5669280" cy="457200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66E2C"/>
                </a:solidFill>
                <a:latin typeface="Calibri"/>
              </a:rPr>
              <a:t>HOW IT GROWS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51760"/>
            <a:ext cx="5120640" cy="20774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solidFill>
                  <a:srgbClr val="111827"/>
                </a:solidFill>
                <a:latin typeface="Calibri"/>
              </a:rPr>
              <a:t>103% YoY subscription growth.</a:t>
            </a:r>
          </a:p>
          <a:p>
            <a:pPr algn="l"/>
            <a:r>
              <a:rPr sz="1500" b="0" dirty="0">
                <a:solidFill>
                  <a:srgbClr val="111827"/>
                </a:solidFill>
                <a:latin typeface="Calibri"/>
              </a:rPr>
              <a:t>Cash-flow positive in 2025.</a:t>
            </a:r>
          </a:p>
          <a:p>
            <a:pPr algn="l"/>
            <a:r>
              <a:rPr sz="1500" b="0" dirty="0">
                <a:solidFill>
                  <a:srgbClr val="111827"/>
                </a:solidFill>
                <a:latin typeface="Calibri"/>
              </a:rPr>
              <a:t>FY25 recognized revenue ~$520M.</a:t>
            </a:r>
          </a:p>
          <a:p>
            <a:pPr algn="l"/>
            <a:endParaRPr sz="1500" b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500" b="0" dirty="0">
                <a:solidFill>
                  <a:srgbClr val="111827"/>
                </a:solidFill>
                <a:latin typeface="Calibri"/>
              </a:rPr>
              <a:t>· ~80% consumer / ~20% B2B (Unite)</a:t>
            </a:r>
          </a:p>
          <a:p>
            <a:pPr algn="l"/>
            <a:r>
              <a:rPr sz="1500" b="0" dirty="0">
                <a:solidFill>
                  <a:srgbClr val="111827"/>
                </a:solidFill>
                <a:latin typeface="Calibri"/>
              </a:rPr>
              <a:t>· 40-45% international revenue</a:t>
            </a:r>
          </a:p>
          <a:p>
            <a:pPr algn="l"/>
            <a:r>
              <a:rPr sz="1500" b="0" dirty="0">
                <a:solidFill>
                  <a:srgbClr val="111827"/>
                </a:solidFill>
                <a:latin typeface="Calibri"/>
              </a:rPr>
              <a:t>· 60% of NEW members international</a:t>
            </a:r>
          </a:p>
          <a:p>
            <a:pPr algn="l"/>
            <a:r>
              <a:rPr sz="1500" b="0" dirty="0">
                <a:solidFill>
                  <a:srgbClr val="111827"/>
                </a:solidFill>
                <a:latin typeface="Calibri"/>
              </a:rPr>
              <a:t>· 5 interim raises 2022-2025</a:t>
            </a:r>
          </a:p>
          <a:p>
            <a:pPr algn="l"/>
            <a:r>
              <a:rPr sz="1500" b="0" dirty="0">
                <a:solidFill>
                  <a:srgbClr val="111827"/>
                </a:solidFill>
                <a:latin typeface="Calibri"/>
              </a:rPr>
              <a:t>  (mezzanine + later-stage)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194560"/>
            <a:ext cx="5669280" cy="457200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618720" y="23317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66E2C"/>
                </a:solidFill>
                <a:latin typeface="Calibri"/>
              </a:rPr>
              <a:t>WHY HARD TO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0" y="2743200"/>
            <a:ext cx="5120640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solidFill>
                  <a:srgbClr val="111827"/>
                </a:solidFill>
                <a:latin typeface="Calibri"/>
              </a:rPr>
              <a:t>No public comparable holds together what WHOOP is becoming:</a:t>
            </a:r>
          </a:p>
          <a:p>
            <a:pPr algn="l"/>
            <a:endParaRPr sz="1500" b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500" b="0" dirty="0">
                <a:solidFill>
                  <a:srgbClr val="111827"/>
                </a:solidFill>
                <a:latin typeface="Calibri"/>
              </a:rPr>
              <a:t>· Hardware (Garmin) — sells boxes</a:t>
            </a:r>
          </a:p>
          <a:p>
            <a:pPr algn="l"/>
            <a:r>
              <a:rPr sz="1500" b="0" dirty="0">
                <a:solidFill>
                  <a:srgbClr val="111827"/>
                </a:solidFill>
                <a:latin typeface="Calibri"/>
              </a:rPr>
              <a:t>· Subscription (Spotify/Peloton) — owns content</a:t>
            </a:r>
          </a:p>
          <a:p>
            <a:pPr algn="l"/>
            <a:r>
              <a:rPr sz="1500" b="0" dirty="0">
                <a:solidFill>
                  <a:srgbClr val="111827"/>
                </a:solidFill>
                <a:latin typeface="Calibri"/>
              </a:rPr>
              <a:t>· Medical (Dexcom, ResMed) — paid by payers</a:t>
            </a:r>
          </a:p>
          <a:p>
            <a:pPr algn="l"/>
            <a:endParaRPr sz="1500" b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500" b="0" dirty="0">
                <a:solidFill>
                  <a:srgbClr val="111827"/>
                </a:solidFill>
                <a:latin typeface="Calibri"/>
              </a:rPr>
              <a:t>WHOOP combines all three vectors before the platform is publicly visible. Comps systematically miss</a:t>
            </a:r>
            <a:r>
              <a:rPr lang="en-US" sz="1500" b="0" dirty="0">
                <a:solidFill>
                  <a:srgbClr val="111827"/>
                </a:solidFill>
                <a:latin typeface="Calibri"/>
              </a:rPr>
              <a:t> this. </a:t>
            </a:r>
            <a:endParaRPr sz="1500" b="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7040880"/>
            <a:ext cx="10499558" cy="228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7178040"/>
            <a:ext cx="1737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E66E2C"/>
                </a:solidFill>
                <a:latin typeface="Calibri"/>
              </a:rPr>
              <a:t>SERIES G — MARCH 31,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76809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$575M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84124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Calibri"/>
              </a:rPr>
              <a:t>raised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0596" y="76809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Calibri"/>
              </a:rPr>
              <a:t>$10.1B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60596" y="84124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F3F4F6"/>
                </a:solidFill>
                <a:latin typeface="Calibri"/>
              </a:rPr>
              <a:t>post-money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6345" y="7680960"/>
            <a:ext cx="27432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103% YoY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46345" y="8412480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dirty="0">
                <a:solidFill>
                  <a:srgbClr val="F3F4F6"/>
                </a:solidFill>
                <a:latin typeface="Calibri"/>
              </a:rPr>
              <a:t>Revenue Growth</a:t>
            </a:r>
            <a:endParaRPr sz="1100" b="0" dirty="0">
              <a:solidFill>
                <a:srgbClr val="F3F4F6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7012" y="7635239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Calibri"/>
              </a:rPr>
              <a:t>Abbott · Mayo · QIA · Mubadala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7012" y="8366759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F3F4F6"/>
                </a:solidFill>
                <a:latin typeface="Calibri"/>
              </a:rPr>
              <a:t>strategic + sovereign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7372" y="7635239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Calibri"/>
              </a:rPr>
              <a:t>IPO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7372" y="8366759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0" dirty="0">
                <a:solidFill>
                  <a:srgbClr val="F3F4F6"/>
                </a:solidFill>
                <a:latin typeface="Calibri"/>
              </a:rPr>
              <a:t>Confirmed by CEO</a:t>
            </a:r>
            <a:endParaRPr sz="1100" b="0" dirty="0">
              <a:solidFill>
                <a:srgbClr val="F3F4F6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916400" y="9784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02 / 13</a:t>
            </a:r>
          </a:p>
        </p:txBody>
      </p:sp>
      <p:pic>
        <p:nvPicPr>
          <p:cNvPr id="31" name="Picture 4" descr="WHOOP STRAP - Products We Use">
            <a:extLst>
              <a:ext uri="{FF2B5EF4-FFF2-40B4-BE49-F238E27FC236}">
                <a16:creationId xmlns:a16="http://schemas.microsoft.com/office/drawing/2014/main" id="{9318B5FE-CB1F-FDCA-922C-22EBBA1D43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030" t="14787" r="21046" b="15192"/>
          <a:stretch>
            <a:fillRect/>
          </a:stretch>
        </p:blipFill>
        <p:spPr bwMode="auto">
          <a:xfrm>
            <a:off x="12344400" y="6903720"/>
            <a:ext cx="2724530" cy="3237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42900"/>
            <a:ext cx="130306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36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VALUATION</a:t>
            </a:r>
            <a:r>
              <a:rPr lang="en-US" sz="1050" b="1" kern="0" spc="336" dirty="0">
                <a:solidFill>
                  <a:srgbClr val="FF5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668625" y="450056"/>
            <a:ext cx="76698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7A77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546041" y="342900"/>
            <a:ext cx="86565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7A77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IDENTITY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101328"/>
            <a:ext cx="1471612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-10" dirty="0">
                <a:solidFill>
                  <a:srgbClr val="3A3A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WHOOP is simultaneously a hardware OEM, a subscription business, and a health-data platform</a:t>
            </a:r>
            <a:endParaRPr lang="en-US" sz="19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3554685"/>
            <a:ext cx="7429500" cy="3619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769995" y="3135585"/>
            <a:ext cx="27470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-8" dirty="0">
                <a:solidFill>
                  <a:srgbClr val="D14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Consumer Hardware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3769995" y="3440385"/>
            <a:ext cx="27470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126" dirty="0">
                <a:solidFill>
                  <a:srgbClr val="D14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GARMIN · FITBIT · GOPRO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2149" y="7463730"/>
            <a:ext cx="27470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-8" dirty="0">
                <a:solidFill>
                  <a:srgbClr val="1F4FB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Consumer Subscription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42149" y="7768530"/>
            <a:ext cx="27470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126" dirty="0">
                <a:solidFill>
                  <a:srgbClr val="1F4F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PELOTON · SONOS · ROKU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90325" y="7463730"/>
            <a:ext cx="27470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-8" dirty="0">
                <a:solidFill>
                  <a:srgbClr val="1F7A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Health Data Platform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890325" y="7768530"/>
            <a:ext cx="27470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126" dirty="0">
                <a:solidFill>
                  <a:srgbClr val="1F7A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DEXCOM · MASIMO · IRHYTHM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49117" y="5528742"/>
            <a:ext cx="2988766" cy="3952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794785" y="5643042"/>
            <a:ext cx="2697429" cy="204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kern="0" spc="176" dirty="0">
                <a:solidFill>
                  <a:srgbClr val="FF5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WHOOP — AT THE INTERSECTION</a:t>
            </a:r>
            <a:endParaRPr lang="en-US" sz="975" dirty="0"/>
          </a:p>
        </p:txBody>
      </p:sp>
      <p:sp>
        <p:nvSpPr>
          <p:cNvPr id="45" name="Text 42"/>
          <p:cNvSpPr/>
          <p:nvPr/>
        </p:nvSpPr>
        <p:spPr>
          <a:xfrm>
            <a:off x="952500" y="9767888"/>
            <a:ext cx="487870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7A77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IDENTITY DRIVES THE MULTIPLE. WE TEST ALL THREE.</a:t>
            </a: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803A74-7CF6-C6E1-DB04-3DD7062CEC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605"/>
          <a:stretch>
            <a:fillRect/>
          </a:stretch>
        </p:blipFill>
        <p:spPr>
          <a:xfrm>
            <a:off x="9707596" y="2964135"/>
            <a:ext cx="8119394" cy="56171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7A20EDB-5C0E-9319-0274-8C085FA89A86}"/>
              </a:ext>
            </a:extLst>
          </p:cNvPr>
          <p:cNvSpPr txBox="1"/>
          <p:nvPr/>
        </p:nvSpPr>
        <p:spPr>
          <a:xfrm>
            <a:off x="457200" y="731520"/>
            <a:ext cx="173736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600" b="1" dirty="0">
                <a:solidFill>
                  <a:srgbClr val="1F3A5F"/>
                </a:solidFill>
                <a:latin typeface="Calibri"/>
              </a:rPr>
              <a:t>Three companies in one. </a:t>
            </a:r>
            <a:endParaRPr sz="2600" b="1" dirty="0">
              <a:solidFill>
                <a:srgbClr val="1F3A5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640080"/>
            <a:ext cx="173736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600" b="1" dirty="0">
                <a:solidFill>
                  <a:srgbClr val="1F3A5F"/>
                </a:solidFill>
                <a:latin typeface="Calibri"/>
              </a:rPr>
              <a:t>Consumer subscription economics capturing healthcare upside.</a:t>
            </a:r>
            <a:endParaRPr sz="2600" b="1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How four valuation lenses triangulate against the Series G mark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2103120"/>
            <a:ext cx="3383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INTRINSIC DCF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Scenario-weighted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(Bear / Base / Bull)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$11.56B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40% weight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2103120"/>
            <a:ext cx="3383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2240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PUBLIC COMPS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65176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Three buckets: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hardware · sub · health-data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40233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$3.57B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47548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35% weight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2103120"/>
            <a:ext cx="3383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01400" y="2240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LAST-ROUND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265176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Series G post-money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(Mar 2026)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40233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$10.10B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47548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10% weight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538960" y="2103120"/>
            <a:ext cx="3383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721840" y="2240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IMPLIED 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721840" y="265176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Private→IPO step-up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reference class (6 deals)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721840" y="40233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$14.69B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721840" y="47548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15% weight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26480"/>
            <a:ext cx="1737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WHY THIS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Scenario-weighted DCF, not input-level.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653796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Jensen's inequality: input-averaging at the driver level destroys correlation. WHOOP's drivers co-move within scenarios — scenario-weighted captures the convexity premium worth $3.4B (Slide 9).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70408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Real options retained as exhibit, NOT additive.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704088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111827"/>
                </a:solidFill>
                <a:latin typeface="Calibri"/>
              </a:rPr>
              <a:t>Healthcare reimbursement, women's health, glucose monitoring — modeled as correlated outcome clusters (success $5-6B at 15-20% prob; mixed $2-3B at 40-50%; failure $0.5-1B at 30-40%). Cross-validation only.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754380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Three-bucket comp framework, disaggregated.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754380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Bucket 2 (consumer subscription): Peloton 1.2x → Spotify 5.1x. Range IS the analysis; averaging destroys 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804672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Take-private LBO leg excluded.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80467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All-VC preferred capital structure offers no debt capacity; sovereign + crossover signal locked-in IPO path; antitrust blocks Apple/Google strategic acquisition.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854964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Class connections.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854964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Lecture 1A (DCF mechanics) · 1B (cost of capital, Slide 7) · 3B (real options as exhibit) · 4B (relative valuation).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03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731520"/>
            <a:ext cx="173736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600" b="1" dirty="0">
                <a:solidFill>
                  <a:srgbClr val="1F3A5F"/>
                </a:solidFill>
                <a:latin typeface="Calibri"/>
              </a:rPr>
              <a:t>DCF: </a:t>
            </a:r>
            <a:r>
              <a:rPr sz="2600" b="1" dirty="0">
                <a:solidFill>
                  <a:srgbClr val="1F3A5F"/>
                </a:solidFill>
                <a:latin typeface="Calibri"/>
              </a:rPr>
              <a:t>Revenue</a:t>
            </a:r>
            <a:r>
              <a:rPr lang="en-US" sz="2600" b="1" dirty="0">
                <a:solidFill>
                  <a:srgbClr val="1F3A5F"/>
                </a:solidFill>
                <a:latin typeface="Calibri"/>
              </a:rPr>
              <a:t> Inputs</a:t>
            </a:r>
            <a:r>
              <a:rPr sz="2600" b="1" dirty="0">
                <a:solidFill>
                  <a:srgbClr val="1F3A5F"/>
                </a:solidFill>
                <a:latin typeface="Calibri"/>
              </a:rPr>
              <a:t> = Members × A</a:t>
            </a:r>
            <a:r>
              <a:rPr lang="en-US" sz="2600" b="1" dirty="0">
                <a:solidFill>
                  <a:srgbClr val="1F3A5F"/>
                </a:solidFill>
                <a:latin typeface="Calibri"/>
              </a:rPr>
              <a:t>verage Revenue per User (ARPU)</a:t>
            </a:r>
            <a:endParaRPr sz="2600" b="1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49739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E66E2C"/>
                </a:solidFill>
                <a:latin typeface="Calibri"/>
              </a:rPr>
              <a:t>MEMBERS — FOUR-LENS TRIANGULATION (2033 Base ENDPOINT)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1" y="462681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1F3A5F"/>
                </a:solidFill>
                <a:latin typeface="Calibri"/>
              </a:rPr>
              <a:t>Calibrated Base endpoint (model)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1497390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E66E2C"/>
                </a:solidFill>
                <a:latin typeface="Calibri"/>
              </a:rPr>
              <a:t>ARPU —</a:t>
            </a:r>
            <a:r>
              <a:rPr lang="en-US" sz="1100" b="1" dirty="0">
                <a:solidFill>
                  <a:srgbClr val="E66E2C"/>
                </a:solidFill>
                <a:latin typeface="Calibri"/>
              </a:rPr>
              <a:t> GROWTH RATE </a:t>
            </a:r>
            <a:r>
              <a:rPr sz="1100" b="1" dirty="0">
                <a:solidFill>
                  <a:srgbClr val="E66E2C"/>
                </a:solidFill>
                <a:latin typeface="Calibri"/>
              </a:rPr>
              <a:t>BY SCENARIO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916400" y="9784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04 / 13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F91D17F7-2DD8-491B-DEB4-E6C942A50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61165"/>
            <a:ext cx="7620000" cy="48285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0F1A3467-C555-F5DE-C40A-74E3B8855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64107"/>
            <a:ext cx="7772400" cy="1412278"/>
          </a:xfrm>
          <a:prstGeom prst="rect">
            <a:avLst/>
          </a:prstGeom>
        </p:spPr>
      </p:pic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8C988F7E-B450-8C72-B92E-1533979EA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988667"/>
              </p:ext>
            </p:extLst>
          </p:nvPr>
        </p:nvGraphicFramePr>
        <p:xfrm>
          <a:off x="457201" y="5078543"/>
          <a:ext cx="7772399" cy="702420"/>
        </p:xfrm>
        <a:graphic>
          <a:graphicData uri="http://schemas.openxmlformats.org/drawingml/2006/table">
            <a:tbl>
              <a:tblPr/>
              <a:tblGrid>
                <a:gridCol w="2022088">
                  <a:extLst>
                    <a:ext uri="{9D8B030D-6E8A-4147-A177-3AD203B41FA5}">
                      <a16:colId xmlns:a16="http://schemas.microsoft.com/office/drawing/2014/main" val="435520111"/>
                    </a:ext>
                  </a:extLst>
                </a:gridCol>
                <a:gridCol w="639542">
                  <a:extLst>
                    <a:ext uri="{9D8B030D-6E8A-4147-A177-3AD203B41FA5}">
                      <a16:colId xmlns:a16="http://schemas.microsoft.com/office/drawing/2014/main" val="2139254393"/>
                    </a:ext>
                  </a:extLst>
                </a:gridCol>
                <a:gridCol w="842636">
                  <a:extLst>
                    <a:ext uri="{9D8B030D-6E8A-4147-A177-3AD203B41FA5}">
                      <a16:colId xmlns:a16="http://schemas.microsoft.com/office/drawing/2014/main" val="3486253582"/>
                    </a:ext>
                  </a:extLst>
                </a:gridCol>
                <a:gridCol w="586182">
                  <a:extLst>
                    <a:ext uri="{9D8B030D-6E8A-4147-A177-3AD203B41FA5}">
                      <a16:colId xmlns:a16="http://schemas.microsoft.com/office/drawing/2014/main" val="3872347378"/>
                    </a:ext>
                  </a:extLst>
                </a:gridCol>
                <a:gridCol w="498254">
                  <a:extLst>
                    <a:ext uri="{9D8B030D-6E8A-4147-A177-3AD203B41FA5}">
                      <a16:colId xmlns:a16="http://schemas.microsoft.com/office/drawing/2014/main" val="3376510691"/>
                    </a:ext>
                  </a:extLst>
                </a:gridCol>
                <a:gridCol w="478104">
                  <a:extLst>
                    <a:ext uri="{9D8B030D-6E8A-4147-A177-3AD203B41FA5}">
                      <a16:colId xmlns:a16="http://schemas.microsoft.com/office/drawing/2014/main" val="2535001669"/>
                    </a:ext>
                  </a:extLst>
                </a:gridCol>
                <a:gridCol w="544049">
                  <a:extLst>
                    <a:ext uri="{9D8B030D-6E8A-4147-A177-3AD203B41FA5}">
                      <a16:colId xmlns:a16="http://schemas.microsoft.com/office/drawing/2014/main" val="2177341871"/>
                    </a:ext>
                  </a:extLst>
                </a:gridCol>
                <a:gridCol w="566031">
                  <a:extLst>
                    <a:ext uri="{9D8B030D-6E8A-4147-A177-3AD203B41FA5}">
                      <a16:colId xmlns:a16="http://schemas.microsoft.com/office/drawing/2014/main" val="3852946125"/>
                    </a:ext>
                  </a:extLst>
                </a:gridCol>
                <a:gridCol w="522068">
                  <a:extLst>
                    <a:ext uri="{9D8B030D-6E8A-4147-A177-3AD203B41FA5}">
                      <a16:colId xmlns:a16="http://schemas.microsoft.com/office/drawing/2014/main" val="4059844943"/>
                    </a:ext>
                  </a:extLst>
                </a:gridCol>
                <a:gridCol w="478104">
                  <a:extLst>
                    <a:ext uri="{9D8B030D-6E8A-4147-A177-3AD203B41FA5}">
                      <a16:colId xmlns:a16="http://schemas.microsoft.com/office/drawing/2014/main" val="2243604790"/>
                    </a:ext>
                  </a:extLst>
                </a:gridCol>
                <a:gridCol w="500086">
                  <a:extLst>
                    <a:ext uri="{9D8B030D-6E8A-4147-A177-3AD203B41FA5}">
                      <a16:colId xmlns:a16="http://schemas.microsoft.com/office/drawing/2014/main" val="2447760204"/>
                    </a:ext>
                  </a:extLst>
                </a:gridCol>
                <a:gridCol w="95255">
                  <a:extLst>
                    <a:ext uri="{9D8B030D-6E8A-4147-A177-3AD203B41FA5}">
                      <a16:colId xmlns:a16="http://schemas.microsoft.com/office/drawing/2014/main" val="3646785355"/>
                    </a:ext>
                  </a:extLst>
                </a:gridCol>
              </a:tblGrid>
              <a:tr h="1326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2025E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2026E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2027E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2028E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2029E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2030E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2031E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2032E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2033E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CAGR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716467"/>
                  </a:ext>
                </a:extLst>
              </a:tr>
              <a:tr h="1326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1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Raw Oura shape (%)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26%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652"/>
                  </a:ext>
                </a:extLst>
              </a:tr>
              <a:tr h="1326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1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Calibration multiplier k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0.9781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Hardcoded multiplier on raw growth rates so compounded endpoint = lens median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902695"/>
                  </a:ext>
                </a:extLst>
              </a:tr>
              <a:tr h="1326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Members (M), end of year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2.50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3.72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5.11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6.40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7.60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8.64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9.56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10.31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10.92</a:t>
                      </a:r>
                    </a:p>
                  </a:txBody>
                  <a:tcPr marL="5828" marR="5828" marT="5828" marB="2797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20.2%</a:t>
                      </a:r>
                    </a:p>
                  </a:txBody>
                  <a:tcPr marL="5828" marR="5828" marT="5828" marB="2797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849497"/>
                  </a:ext>
                </a:extLst>
              </a:tr>
              <a:tr h="1326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1" u="none" strike="noStrike" dirty="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Calibrated YoY 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48.9%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37.2%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25.4%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18.6%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13.7%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10.8%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7.8%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5.9%</a:t>
                      </a: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28" marR="5828" marT="5828" marB="27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218450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0B7AD69F-AFB7-D478-838C-2915D2D9CCFA}"/>
              </a:ext>
            </a:extLst>
          </p:cNvPr>
          <p:cNvSpPr txBox="1"/>
          <p:nvPr/>
        </p:nvSpPr>
        <p:spPr>
          <a:xfrm>
            <a:off x="457200" y="3459528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1" dirty="0">
                <a:solidFill>
                  <a:srgbClr val="1F3A5F"/>
                </a:solidFill>
                <a:latin typeface="Calibri"/>
              </a:rPr>
              <a:t>TAM Example</a:t>
            </a:r>
            <a:endParaRPr sz="1100" b="1" dirty="0">
              <a:solidFill>
                <a:srgbClr val="1F3A5F"/>
              </a:solidFill>
              <a:latin typeface="Calibri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DD4D69EA-B47E-6F5E-5379-EF7A1B35D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863150"/>
            <a:ext cx="7772400" cy="670113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BA3F29DE-CC74-269F-092A-CC04555213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835414"/>
            <a:ext cx="7772400" cy="2257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640080"/>
            <a:ext cx="173736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600" b="1" dirty="0">
                <a:solidFill>
                  <a:srgbClr val="1F3A5F"/>
                </a:solidFill>
                <a:latin typeface="Calibri"/>
              </a:rPr>
              <a:t>DCF: Projected </a:t>
            </a:r>
            <a:r>
              <a:rPr sz="2600" b="1" dirty="0">
                <a:solidFill>
                  <a:srgbClr val="1F3A5F"/>
                </a:solidFill>
                <a:latin typeface="Calibri"/>
              </a:rPr>
              <a:t>P&amp;L → FCF → discounting → Equity 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Base case; mid-year convention; 8-year explicit period (2026-2033); terminal value at year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920240"/>
            <a:ext cx="1737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P&amp;L YEAR-BY-YEAR  (Base case, $M)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173736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157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2400" y="2286000"/>
            <a:ext cx="157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7200" y="2286000"/>
            <a:ext cx="157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2286000"/>
            <a:ext cx="157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56800" y="2286000"/>
            <a:ext cx="157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31600" y="2286000"/>
            <a:ext cx="157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06400" y="2286000"/>
            <a:ext cx="157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81200" y="2286000"/>
            <a:ext cx="157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56000" y="2286000"/>
            <a:ext cx="157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3288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Phase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532888"/>
            <a:ext cx="157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Hist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2400" y="2532888"/>
            <a:ext cx="157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7200" y="2532888"/>
            <a:ext cx="157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0" y="2532888"/>
            <a:ext cx="157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6800" y="2532888"/>
            <a:ext cx="157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31600" y="2532888"/>
            <a:ext cx="157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06400" y="2532888"/>
            <a:ext cx="157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81200" y="2532888"/>
            <a:ext cx="157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56000" y="2532888"/>
            <a:ext cx="157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346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dirty="0">
                <a:solidFill>
                  <a:srgbClr val="111827"/>
                </a:solidFill>
                <a:latin typeface="Calibri"/>
              </a:rPr>
              <a:t>Ending Members (M)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83464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2400" y="283464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7200" y="283464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5.1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0" y="283464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6.4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56800" y="283464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31600" y="283464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8.6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06400" y="283464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9.6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81200" y="283464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10.3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56000" y="283464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10.9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10896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ARPU ($)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1089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$274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2400" y="31089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$282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7200" y="31089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$291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0" y="31089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$299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56800" y="31089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$308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31600" y="31089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$318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106400" y="31089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$327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81200" y="31089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$337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256000" y="31089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$347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3383279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dirty="0">
                <a:solidFill>
                  <a:srgbClr val="1F3A5F"/>
                </a:solidFill>
                <a:latin typeface="Calibri"/>
              </a:rPr>
              <a:t>Revenue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338327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521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2400" y="338327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878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7200" y="338327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1283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0" y="338327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1723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56800" y="338327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2159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531600" y="338327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2578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106400" y="338327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2978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681200" y="338327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3350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256000" y="338327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3686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3657599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  YoY Growth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0" y="365759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 dirty="0">
                <a:solidFill>
                  <a:srgbClr val="111827"/>
                </a:solidFill>
                <a:latin typeface="Calibri"/>
              </a:rPr>
              <a:t>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2400" y="365759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 dirty="0">
                <a:solidFill>
                  <a:srgbClr val="111827"/>
                </a:solidFill>
                <a:latin typeface="Calibri"/>
              </a:rPr>
              <a:t>69%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07200" y="365759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46%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82000" y="365759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34%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56800" y="365759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31600" y="365759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19%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106400" y="365759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16%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681200" y="365759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12%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256000" y="3657599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3913631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Gross Profit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0" y="3890481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2400" y="3913631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659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07200" y="3913631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972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82000" y="3913631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1317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56800" y="3913631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1665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531600" y="3913631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2007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106400" y="3913631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2340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681200" y="3913631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2656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256000" y="3913631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2949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4169663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  Gross Margin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0" y="4169663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60%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32400" y="4169663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75%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07200" y="4169663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76%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82000" y="4169663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76%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56800" y="4169663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77%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531600" y="4169663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78%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106400" y="4169663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79%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681200" y="4169663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79%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256000" y="4169663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80%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442569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Total OpEx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57600" y="442569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422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32400" y="442569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737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07200" y="442569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1069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82000" y="442569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1310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56800" y="442569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1505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531600" y="442569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1699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106400" y="442569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1871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681200" y="442569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2002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256000" y="442569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2108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468172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dirty="0">
                <a:solidFill>
                  <a:srgbClr val="111827"/>
                </a:solidFill>
                <a:latin typeface="Calibri"/>
              </a:rPr>
              <a:t>EBIT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57600" y="468172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-109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32400" y="468172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-78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07200" y="468172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-97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382000" y="468172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956800" y="468172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160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531600" y="468172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309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3106400" y="468172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469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681200" y="468172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654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256000" y="468172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841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8640" y="493776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  Less: Cash Taxes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657600" y="49377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232400" y="49377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07200" y="49377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82000" y="49377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56800" y="49377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531600" y="49377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69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3106400" y="49377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122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4681200" y="49377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169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6256000" y="4937760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217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519379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  Plus: D&amp;A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57600" y="5193792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18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232400" y="5193792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7200" y="5193792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45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382000" y="5193792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60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956800" y="5193792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531600" y="5193792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90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106400" y="5193792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104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4681200" y="5193792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117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6256000" y="5193792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129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48640" y="544982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  Less: CapEx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657600" y="5449824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-21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232400" y="5449824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-35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807200" y="5449824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-51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82000" y="5449824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-69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956800" y="5449824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-86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531600" y="5449824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-103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106400" y="5449824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-119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4681200" y="5449824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-134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6256000" y="5449824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-147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48640" y="570585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  Plus: Δ NWC (def rev)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657600" y="570585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100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232400" y="570585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172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807200" y="570585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214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382000" y="570585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213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956800" y="570585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531600" y="570585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198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3106400" y="570585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192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4681200" y="570585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171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6256000" y="5705856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153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596188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E66E2C"/>
                </a:solidFill>
                <a:latin typeface="Calibri"/>
              </a:rPr>
              <a:t>Unlevered FCF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657600" y="596188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-11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232400" y="596188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90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807200" y="596188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110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382000" y="596188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210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956800" y="596188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350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531600" y="596188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424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106400" y="596188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523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4681200" y="596188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639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6256000" y="596188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758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48640" y="623620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  FCF Margin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657600" y="623620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-2%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232400" y="623620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10%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807200" y="623620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9%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382000" y="623620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12%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956800" y="623620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16%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531600" y="623620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16%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3106400" y="623620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18%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4681200" y="623620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19%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6256000" y="6236208"/>
            <a:ext cx="157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21%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DISCOUNTING — PV(FCF) AND TERMINAL VALUE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57200" y="6720840"/>
            <a:ext cx="100584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640080" y="68122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Calibri"/>
              </a:rPr>
              <a:t>Year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103120" y="681228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UFCF ($M)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657600" y="68122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Period (yr)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120640" y="68122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Discount Factor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766560" y="68122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PV(FCF) ($M)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412480" y="681228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Calibri"/>
              </a:rPr>
              <a:t>@ WACC = 11.59%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40080" y="705916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2026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103120" y="705916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90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657600" y="705916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0.5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120640" y="705916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0.9467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766560" y="705916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85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40080" y="7278624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2027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103120" y="727862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110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657600" y="7278624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1.5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120640" y="7278624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0.8484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766560" y="7278624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94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40080" y="7498079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2028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103120" y="7498079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210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657600" y="7498079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2.5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120640" y="7498079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0.7603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766560" y="7498079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160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40080" y="771753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2029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103120" y="7717536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350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657600" y="771753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3.5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120640" y="771753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0.6813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766560" y="771753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239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40080" y="793699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2030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103120" y="793699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424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657600" y="793699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4.5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120640" y="793699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0.6106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766560" y="793699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259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0080" y="815644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2031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103120" y="815644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523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657600" y="815644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5.5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120640" y="815644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0.5472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766560" y="815644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286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0080" y="8375904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2032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2103120" y="837590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639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657600" y="8375904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6.5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120640" y="8375904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0.4903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766560" y="8375904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313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40080" y="859536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2033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103120" y="859536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758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657600" y="859536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7.5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120640" y="85953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0.4394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6766560" y="85953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333</a:t>
            </a:r>
          </a:p>
        </p:txBody>
      </p:sp>
      <p:cxnSp>
        <p:nvCxnSpPr>
          <p:cNvPr id="216" name="Connector 215"/>
          <p:cNvCxnSpPr/>
          <p:nvPr/>
        </p:nvCxnSpPr>
        <p:spPr>
          <a:xfrm>
            <a:off x="640080" y="8814816"/>
            <a:ext cx="9692640" cy="0"/>
          </a:xfrm>
          <a:prstGeom prst="line">
            <a:avLst/>
          </a:prstGeom>
          <a:ln w="1016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640080" y="8860536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Calibri"/>
              </a:rPr>
              <a:t>Σ PV(FCF)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766560" y="8860536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1769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40080" y="910742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Terminal Value (yr8)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766560" y="9107424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111827"/>
                </a:solidFill>
                <a:latin typeface="Calibri"/>
              </a:rPr>
              <a:t>PV = 4833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40080" y="93085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  Exit 3.5×Rev = $12.9B  ·  Gordon (g=3%) = $9.1B  ·  Blended = $11.0B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972800" y="640080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EV → EQUITY BRIDGE (Base)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972800" y="6720840"/>
            <a:ext cx="68580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11064240" y="69037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Σ PV(FCF)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2801600" y="6903720"/>
            <a:ext cx="1149222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14042262" y="690372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1769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1064240" y="72877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+ PV(TV)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2801600" y="7287768"/>
            <a:ext cx="3138897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16031937" y="728776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4833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1064240" y="76718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= Enterprise V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2801600" y="7671816"/>
            <a:ext cx="4288120" cy="228600"/>
          </a:xfrm>
          <a:prstGeom prst="rect">
            <a:avLst/>
          </a:prstGeom>
          <a:solidFill>
            <a:srgbClr val="E66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17181160" y="767181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E66E2C"/>
                </a:solidFill>
                <a:latin typeface="Calibri"/>
              </a:rPr>
              <a:t>6602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1064240" y="805586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Less: Debt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2801600" y="8055864"/>
            <a:ext cx="6495" cy="228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12899535" y="805586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C0392B"/>
                </a:solidFill>
                <a:latin typeface="Calibri"/>
              </a:rPr>
              <a:t>-10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1064240" y="84399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Plus: Cash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2801600" y="8439912"/>
            <a:ext cx="473255" cy="228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13366295" y="843991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2E7D32"/>
                </a:solidFill>
                <a:latin typeface="Calibri"/>
              </a:rPr>
              <a:t>729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1064240" y="88239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= Equity Value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2801600" y="8823960"/>
            <a:ext cx="4754880" cy="228600"/>
          </a:xfrm>
          <a:prstGeom prst="rect">
            <a:avLst/>
          </a:prstGeom>
          <a:solidFill>
            <a:srgbClr val="E66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17647920" y="882396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E66E2C"/>
                </a:solidFill>
                <a:latin typeface="Calibri"/>
              </a:rPr>
              <a:t>7321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0972800" y="9555480"/>
            <a:ext cx="6858000" cy="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05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DCF MECHANICS — WACC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600" b="1" dirty="0">
                <a:solidFill>
                  <a:srgbClr val="1F3A5F"/>
                </a:solidFill>
                <a:latin typeface="Calibri"/>
              </a:rPr>
              <a:t>DCF: </a:t>
            </a:r>
            <a:r>
              <a:rPr sz="2600" b="1" dirty="0">
                <a:solidFill>
                  <a:srgbClr val="1F3A5F"/>
                </a:solidFill>
                <a:latin typeface="Calibri"/>
              </a:rPr>
              <a:t>Bottoms-up build: 11.59% Base WACC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Comp regressions → unlever → bucket-weight → re-lever → CAPM. Damodaran sector cross-check converges within 0.07 β.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92024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E66E2C"/>
                </a:solidFill>
                <a:latin typeface="Calibri"/>
              </a:rPr>
              <a:t>§1  PER-COMP REGRESSED BETAS  (3Y weekly, Bloomberg-adj)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8412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Calibri"/>
              </a:rPr>
              <a:t>Comp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7744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Calibri"/>
              </a:rPr>
              <a:t>Bucket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7744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β 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3774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β adj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774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Garmin (GRMN)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67004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B1 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7004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1.029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7004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1.019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67004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0.216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16936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Peloton (PTON)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916936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B2 Sub (distressed)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91693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2.283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16936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1.855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916936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0.185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16382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Spotify (SPOT)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163824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B2 Sub (mature)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16382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1.014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16382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1.010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16382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0.134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41071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Dexcom (DXCM)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410712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B3 Health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41071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1.080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41071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1.054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41071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0.119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6576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ResMed (RMD)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365760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B3 Health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6576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0.962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65760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0.974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65760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904487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Masimo (MASI)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3904487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B3 Health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904487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0.885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904487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0.924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904487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0.090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151375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iRhythm (IRTC)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4151375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B3 Health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151375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0.816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151375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0.877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151375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dirty="0">
                <a:solidFill>
                  <a:srgbClr val="6B7280"/>
                </a:solidFill>
                <a:latin typeface="Calibri"/>
              </a:rPr>
              <a:t>0.057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6177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dirty="0">
                <a:solidFill>
                  <a:srgbClr val="6B7280"/>
                </a:solidFill>
                <a:latin typeface="Calibri"/>
              </a:rPr>
              <a:t>Notes: All zero-net-debt or near-zero (unlevered = levered). PTON excluded from B2 median (distress).</a:t>
            </a:r>
          </a:p>
          <a:p>
            <a:pPr algn="l"/>
            <a:r>
              <a:rPr sz="850" b="0" dirty="0">
                <a:solidFill>
                  <a:srgbClr val="6B7280"/>
                </a:solidFill>
                <a:latin typeface="Calibri"/>
              </a:rPr>
              <a:t>R² range 5.7% (IRTC) - 21.6% (GRMN). Bloomberg adjustment: β_adj = ⅔ β_raw + ⅓ × 1.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34924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§2  BUCKET MEDIAN UNLEVERED β  (ex-PTON for B2)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71500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580644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Calibri"/>
              </a:rPr>
              <a:t>Bucket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31920" y="58064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Calibri"/>
              </a:rPr>
              <a:t>Comps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0" y="580644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Median βᵤ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08076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B1 — Consumer hardware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31920" y="60807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Garmin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0" y="608076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1.015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33679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B2 — Consumer subscription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1920" y="633679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Spotify (ex-Peloton)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633679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1.005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592824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B3 — Health data / med-device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31920" y="659282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Dexcom · ResMed · Masimo · iRhythm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6592824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0.919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19202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§3  WHOOP BLENDED β  (re-levered, zero net debt)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0" y="2286000"/>
            <a:ext cx="8686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326880" y="2377440"/>
            <a:ext cx="8321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Calibri"/>
              </a:rPr>
              <a:t>Scenario  ·  Bucket weights (B1/B2/B3)  →  Blended βᵤ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2697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Bear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32720" y="2697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40 / 40 / 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173200" y="26974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→  βᵤ = 0.992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0" y="2990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Base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32720" y="299008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20 / 40 / 40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173200" y="299008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→  βᵤ = 0.973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26880" y="3282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Bull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32720" y="328269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10 / 30 / 60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173200" y="328269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→  βᵤ = 0.955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393192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§4  CAPM BUILD  ·  Cost of Equity (= WACC, zero debt)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0" y="4297680"/>
            <a:ext cx="8686800" cy="3840480"/>
          </a:xfrm>
          <a:prstGeom prst="rect">
            <a:avLst/>
          </a:prstGeom>
          <a:solidFill>
            <a:srgbClr val="F3F4F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326880" y="443484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Risk-free rate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716000" y="4434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10Y UST · Fed H.15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550640" y="44348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4.30%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373600" y="44348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E66E2C"/>
                </a:solidFill>
                <a:latin typeface="Calibri"/>
              </a:rPr>
              <a:t>+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26880" y="476402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111827"/>
                </a:solidFill>
                <a:latin typeface="Calibri"/>
              </a:rPr>
              <a:t>Equity risk premium (rev-</a:t>
            </a:r>
            <a:r>
              <a:rPr sz="1050" b="0" dirty="0" err="1">
                <a:solidFill>
                  <a:srgbClr val="111827"/>
                </a:solidFill>
                <a:latin typeface="Calibri"/>
              </a:rPr>
              <a:t>wtd</a:t>
            </a:r>
            <a:r>
              <a:rPr sz="1050" b="0" dirty="0">
                <a:solidFill>
                  <a:srgbClr val="111827"/>
                </a:solidFill>
                <a:latin typeface="Calibri"/>
              </a:rPr>
              <a:t>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716000" y="476402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Damodaran Jan 2026 · 42% intl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550640" y="476402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4.60%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373600" y="476402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E66E2C"/>
                </a:solidFill>
                <a:latin typeface="Calibri"/>
              </a:rPr>
              <a:t>× 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26880" y="509320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Blended β (Base, ex-PTON)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716000" y="50932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Bucket-weighted from bottom-up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550640" y="50932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0.973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373600" y="509320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E66E2C"/>
                </a:solidFill>
                <a:latin typeface="Calibri"/>
              </a:rPr>
              <a:t>=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26880" y="542239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ERP × β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716000" y="5422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6550640" y="5422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1F3A5F"/>
                </a:solidFill>
                <a:latin typeface="Calibri"/>
              </a:rPr>
              <a:t>4.48%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7373600" y="542239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E66E2C"/>
                </a:solidFill>
                <a:latin typeface="Calibri"/>
              </a:rPr>
              <a:t>+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26880" y="575157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Size premium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716000" y="575157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Kroll CRSP Decile 3 ($7-13B)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550640" y="57515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0.81%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7373600" y="575157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E66E2C"/>
                </a:solidFill>
                <a:latin typeface="Calibri"/>
              </a:rPr>
              <a:t>+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26880" y="60807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Liquidity premium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716000" y="6080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Oura tender (Jan 2026) — 25% DLOM anchor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6550640" y="60807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2.00%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373600" y="60807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E66E2C"/>
                </a:solidFill>
                <a:latin typeface="Calibri"/>
              </a:rPr>
              <a:t>=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9326880" y="6455664"/>
            <a:ext cx="832104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9326880" y="6547104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WACC (Base) =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6002000" y="6547104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800" b="1">
                <a:solidFill>
                  <a:srgbClr val="E66E2C"/>
                </a:solidFill>
                <a:latin typeface="Calibri"/>
              </a:rPr>
              <a:t>11.59%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26880" y="69311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Bear: 12.18%   ·   Base: 11.59%   ·   Bull: 11.00%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26880" y="7223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Bull WACC &lt; Base because Bull weights more into B3 (lower β, longer-duration medtech-style cash flows).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57200" y="8778240"/>
            <a:ext cx="17373600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40080" y="8869680"/>
            <a:ext cx="1737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CROSS-CHECK · DAMODARAN TOP-DOWN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" y="9144000"/>
            <a:ext cx="17373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Damodaran sector approach (4.30% Rf + 0.83 × 4.50% ERP + 0.81% size + 2.00% CSRP) lands at 10.85% — bottoms-up sits 75bps higher due to revenue-weighted intl ERP (+10bps) and beta upgrade vs sector medians (+65bps). Bottoms-up is the conservative choice for the live DCF.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06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640080"/>
            <a:ext cx="173736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dirty="0">
                <a:solidFill>
                  <a:srgbClr val="1F3A5F"/>
                </a:solidFill>
                <a:latin typeface="Calibri"/>
              </a:rPr>
              <a:t>20 </a:t>
            </a:r>
            <a:r>
              <a:rPr sz="2600" b="1" dirty="0" err="1">
                <a:solidFill>
                  <a:srgbClr val="1F3A5F"/>
                </a:solidFill>
                <a:latin typeface="Calibri"/>
              </a:rPr>
              <a:t>ProbWeighted</a:t>
            </a:r>
            <a:r>
              <a:rPr sz="2600" b="1" dirty="0">
                <a:solidFill>
                  <a:srgbClr val="1F3A5F"/>
                </a:solidFill>
                <a:latin typeface="Calibri"/>
              </a:rPr>
              <a:t> drivers </a:t>
            </a:r>
            <a:r>
              <a:rPr lang="en-US" sz="2600" b="1" dirty="0">
                <a:solidFill>
                  <a:srgbClr val="1F3A5F"/>
                </a:solidFill>
                <a:latin typeface="Calibri"/>
              </a:rPr>
              <a:t>for DCF  </a:t>
            </a:r>
            <a:endParaRPr sz="2600" b="1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>
                <a:solidFill>
                  <a:srgbClr val="6B7280"/>
                </a:solidFill>
                <a:latin typeface="Calibri"/>
              </a:rPr>
              <a:t>Ranked by Bull−Bear spread as % of |Base|; member growth dominates by section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ssumption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17556480" cy="76751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04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THREE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Bear $2.5B · Base $7.3B · Bull $24.7B — feel the dispersion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>
                <a:solidFill>
                  <a:srgbClr val="6B7280"/>
                </a:solidFill>
                <a:latin typeface="Calibri"/>
              </a:rPr>
              <a:t>Each scenario is internally consistent; weights collapse them into a single estimate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cenario_disp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0058400" cy="55041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192024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EACH SCENARIO IS A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331720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BEAR — Consumer Wearable Plateau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2660903"/>
            <a:ext cx="7132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Healthcare thesis stalls. Apple Watch + Oura + glucose-sensors split the consumer market. WHOOP becomes Peloton: distressed subscription model, churn rises 12% → 18%, ARPU growth flattens at 2.5%/yr.</a:t>
            </a:r>
          </a:p>
          <a:p>
            <a:pPr algn="l"/>
            <a:endParaRPr sz="1000" b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2033 ending: 6.5M | Bull-case haircut on every line.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DCF Equity → $2.50B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4754879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BASE — Durable Consumer Subscription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5084064"/>
            <a:ext cx="7132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Healthcare optionality is a real call but doesn't cash. Consumer subscription compounds at moderate rate. Members 2.5M → 10.9M (49%/37%/25%/19% etc.). ARPU 3% growth. Margins ramp to 22% terminal FCF margin.</a:t>
            </a:r>
          </a:p>
          <a:p>
            <a:pPr algn="l"/>
            <a:endParaRPr sz="1000" b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2033 ending: 10.9M | Mid-case for everything.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DCF Equity → $7.32B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7178040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BULL — Healthcare Reimbursement + Platform 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7507223"/>
            <a:ext cx="7132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FDA expansions + CMS Innovation Center pathway → reimbursement live by 2029. WHOOP Unite enterprise scales. Members 2.5M → 18.1M. ARPU 6%/yr (driven BY healthcare, not assumed independently). Terminal margin 30%.</a:t>
            </a:r>
          </a:p>
          <a:p>
            <a:pPr algn="l"/>
            <a:endParaRPr sz="1000" b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2033 ending: 18.1M | Bull-stories must align.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DCF Equity → $24.66B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8503920"/>
            <a:ext cx="17373600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8641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COLLAPSE TO ONE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9006840"/>
            <a:ext cx="1737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Scenario-weighted Neutral 20/50/30 → $11.56B intrinsic. Why scenario-level (not input-level)? Next slide — the novel-grade insight.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08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★ NOVEL · SCENARIOS &amp; JENSEN'S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dirty="0">
                <a:solidFill>
                  <a:srgbClr val="1F3A5F"/>
                </a:solidFill>
                <a:latin typeface="Calibri"/>
              </a:rPr>
              <a:t>Three weight schemes; scenario-level beats input-level at every conviction by $3.37B+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4699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347578"/>
            <a:ext cx="17373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E66E2C"/>
                </a:solidFill>
                <a:latin typeface="Calibri"/>
              </a:rPr>
              <a:t>SCENARIOS CALCULATOR — all three weight schemes (live from model)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67619"/>
            <a:ext cx="17373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59059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Weight scheme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5905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P(Bear)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759059"/>
            <a:ext cx="12801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P(Base)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759059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P(Bull)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759059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Scenario-wtd ($B)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1759059"/>
            <a:ext cx="21945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ProbWtd ($B)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0" y="1759059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Jensen gap ($B)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0" y="1759059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vs Series 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2124819"/>
            <a:ext cx="17007840" cy="0"/>
          </a:xfrm>
          <a:prstGeom prst="line">
            <a:avLst/>
          </a:prstGeom>
          <a:ln w="1016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2216259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Pessimistic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1625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216259"/>
            <a:ext cx="12801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216259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216259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$8.23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2216259"/>
            <a:ext cx="21945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$6.82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0" y="2216259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+$1.41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0" y="2216259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-18.5%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600307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Neutral (HEADLINE)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600307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600307"/>
            <a:ext cx="12801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600307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600307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$11.56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2600307"/>
            <a:ext cx="21945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$8.19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0" y="2600307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+$3.37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0" y="2600307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+14.4%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984355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Optimistic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984355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2984355"/>
            <a:ext cx="12801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45%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2984355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40%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2984355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$13.53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04320" y="2984355"/>
            <a:ext cx="21945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$8.66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898880" y="2984355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+$4.87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0" y="2984355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+34.0%</a:t>
            </a:r>
          </a:p>
        </p:txBody>
      </p:sp>
      <p:pic>
        <p:nvPicPr>
          <p:cNvPr id="41" name="Picture 40" descr="jensens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87859"/>
            <a:ext cx="11887200" cy="65301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618720" y="3587859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WHY BOTH METHODS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618720" y="3953619"/>
            <a:ext cx="5303520" cy="2286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2801600" y="404505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dirty="0">
                <a:solidFill>
                  <a:srgbClr val="6B7280"/>
                </a:solidFill>
                <a:latin typeface="Calibri"/>
              </a:rPr>
              <a:t>INPUT-LEVEL (single DCF on prob-</a:t>
            </a:r>
            <a:r>
              <a:rPr sz="1050" b="1" dirty="0" err="1">
                <a:solidFill>
                  <a:srgbClr val="6B7280"/>
                </a:solidFill>
                <a:latin typeface="Calibri"/>
              </a:rPr>
              <a:t>wtd</a:t>
            </a:r>
            <a:r>
              <a:rPr sz="1050" b="1" dirty="0">
                <a:solidFill>
                  <a:srgbClr val="6B7280"/>
                </a:solidFill>
                <a:latin typeface="Calibri"/>
              </a:rPr>
              <a:t> inputs)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0" y="4410819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Treats drivers as independent.</a:t>
            </a:r>
          </a:p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Valid when scenarios don't co-vary.</a:t>
            </a:r>
          </a:p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Understates convexity when they do.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0" y="5462379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Calibri"/>
              </a:rPr>
              <a:t>Headline: $8.19B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618720" y="6376779"/>
            <a:ext cx="5303520" cy="2377440"/>
          </a:xfrm>
          <a:prstGeom prst="rect">
            <a:avLst/>
          </a:prstGeom>
          <a:solidFill>
            <a:srgbClr val="F3F4F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2801600" y="646821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dirty="0">
                <a:solidFill>
                  <a:srgbClr val="1F3A5F"/>
                </a:solidFill>
                <a:latin typeface="Calibri"/>
              </a:rPr>
              <a:t>SCENARIO-LEVEL (P · DCF across scenarios)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0" y="6833979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Preserves driver co-movement WITHIN each</a:t>
            </a:r>
          </a:p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scenario (members↑ → ARPU↑ → margin↑).</a:t>
            </a:r>
          </a:p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Captures the convexity premium DCF earns.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0" y="8022699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Headline: $11.56B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D2175D-B66F-E105-5055-A94677F41D00}"/>
              </a:ext>
            </a:extLst>
          </p:cNvPr>
          <p:cNvSpPr txBox="1"/>
          <p:nvPr/>
        </p:nvSpPr>
        <p:spPr>
          <a:xfrm>
            <a:off x="12618720" y="8877727"/>
            <a:ext cx="530352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111827"/>
                </a:solidFill>
                <a:latin typeface="Calibri"/>
              </a:rPr>
              <a:t>Jensen's inequality: f(E[X]) ≤ E[f(X)] when f is convex.</a:t>
            </a:r>
          </a:p>
          <a:p>
            <a:pPr algn="l"/>
            <a:endParaRPr sz="1000" b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DCF IS convex in members and in margin: terminal value scales as (members × ARPU × margin × multiple), and growth rates compound multiplicatively. Averaging inputs first destroys the convexity premium.</a:t>
            </a:r>
          </a:p>
          <a:p>
            <a:pPr algn="l"/>
            <a:endParaRPr sz="1000" b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Scenario-level is the right method when scenarios are coherent stories — which is the methodology call this presentation makes.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SENSITIVITY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dirty="0">
                <a:solidFill>
                  <a:srgbClr val="1F3A5F"/>
                </a:solidFill>
                <a:latin typeface="Calibri"/>
              </a:rPr>
              <a:t>Headline robust to ±15pp on either bear or bull weight; Members drives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>
                <a:solidFill>
                  <a:srgbClr val="6B7280"/>
                </a:solidFill>
                <a:latin typeface="Calibri"/>
              </a:rPr>
              <a:t>Left: scenario-weighted equity across all weight schemes. Right: material drivers (Members · WACC · Terminal multiple).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ensitivity_heatmap.png"/>
          <p:cNvPicPr>
            <a:picLocks noChangeAspect="1"/>
          </p:cNvPicPr>
          <p:nvPr/>
        </p:nvPicPr>
        <p:blipFill>
          <a:blip r:embed="rId2"/>
          <a:srcRect r="38393"/>
          <a:stretch>
            <a:fillRect/>
          </a:stretch>
        </p:blipFill>
        <p:spPr>
          <a:xfrm>
            <a:off x="1412530" y="2764536"/>
            <a:ext cx="7170638" cy="56300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11 / 17</a:t>
            </a:r>
          </a:p>
        </p:txBody>
      </p:sp>
      <p:pic>
        <p:nvPicPr>
          <p:cNvPr id="11" name="Picture 10" descr="tornado.png">
            <a:extLst>
              <a:ext uri="{FF2B5EF4-FFF2-40B4-BE49-F238E27FC236}">
                <a16:creationId xmlns:a16="http://schemas.microsoft.com/office/drawing/2014/main" id="{71961563-7FEE-6D9B-649C-C3D40734D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36" y="2764536"/>
            <a:ext cx="8071104" cy="44340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COMPS DISCONNECT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Why comps say $3.57B and DCF says $11.56B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mp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19"/>
            <a:ext cx="10058400" cy="6234090"/>
          </a:xfrm>
          <a:prstGeom prst="rect">
            <a:avLst/>
          </a:prstGeom>
        </p:spPr>
      </p:pic>
      <p:pic>
        <p:nvPicPr>
          <p:cNvPr id="7" name="Picture 6" descr="comp_bracke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874519"/>
            <a:ext cx="7132320" cy="31335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521208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THE THREE-BUCKET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0" y="5577840"/>
            <a:ext cx="7132320" cy="77724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0" y="565099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B1 — Consumer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5925312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Garmin sole; sells boxes.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0" y="6419088"/>
            <a:ext cx="7132320" cy="77724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B2 — Consumer subscription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766559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Peloton (1.2×) ↔ Spotify (3.7×); range IS the insight.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0" y="7260336"/>
            <a:ext cx="7132320" cy="77724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0" y="7333488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B3 — Health data / med-device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7607808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Dexcom · iRhythm · ResMed · Masimo — reimbursed; aspirational.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8183879"/>
            <a:ext cx="17373600" cy="1417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8275320"/>
            <a:ext cx="1737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THE PLATFORM 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8613648"/>
            <a:ext cx="173736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FFFFFF"/>
                </a:solidFill>
                <a:latin typeface="Calibri"/>
              </a:rPr>
              <a:t>WHOOP @ Series G prices at ~19× recognized revenue / ~9× bookings — outside every public tier (highest public anchor: Masimo 5.96×).</a:t>
            </a:r>
          </a:p>
          <a:p>
            <a:pPr algn="l"/>
            <a:r>
              <a:rPr sz="1050" b="0" dirty="0">
                <a:solidFill>
                  <a:srgbClr val="FFFFFF"/>
                </a:solidFill>
                <a:latin typeface="Calibri"/>
              </a:rPr>
              <a:t>No bucket-weighting scheme reaches $10.1B without 70%+ weight on Bucket 3 — which Series G investors implicitly do. WHOOP combines four commercial vectors (consumer sub + clinical-grade hardware + B2B Unite + health-data platform) no public comp holds together. +14.4% intrinsic premium ≈ what gets priced when the fourth vector becomes publicly visible.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TRIANGULATION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dirty="0">
                <a:solidFill>
                  <a:srgbClr val="1F3A5F"/>
                </a:solidFill>
                <a:latin typeface="Calibri"/>
              </a:rPr>
              <a:t>Football field: four methods, two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>
                <a:solidFill>
                  <a:srgbClr val="6B7280"/>
                </a:solidFill>
                <a:latin typeface="Calibri"/>
              </a:rPr>
              <a:t>The disconnect IS the analysis — comp methodology pulls weighted avg down; intrinsic captures what comps miss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ootball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1887200" cy="63435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527280" y="19202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TWO READS OF THE TRIANGULATION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27280" y="2377440"/>
            <a:ext cx="5303520" cy="3200400"/>
          </a:xfrm>
          <a:prstGeom prst="rect">
            <a:avLst/>
          </a:prstGeom>
          <a:solidFill>
            <a:srgbClr val="F3F4F6"/>
          </a:solidFill>
          <a:ln w="19050">
            <a:solidFill>
              <a:srgbClr val="E66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710160" y="25146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WEIGHTED AVERAGE — $9.09B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0" y="28803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111827"/>
                </a:solidFill>
                <a:latin typeface="Calibri"/>
              </a:rPr>
              <a:t>= $9.09B  →  -10.0% vs Series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0" y="3246120"/>
            <a:ext cx="493776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If you trust the comp pull, Series G is mildly </a:t>
            </a:r>
            <a:r>
              <a:rPr sz="1000" b="0" dirty="0" err="1">
                <a:solidFill>
                  <a:srgbClr val="111827"/>
                </a:solidFill>
                <a:latin typeface="Calibri"/>
              </a:rPr>
              <a:t>OVERpriced</a:t>
            </a:r>
            <a:r>
              <a:rPr sz="1000" b="0" dirty="0">
                <a:solidFill>
                  <a:srgbClr val="111827"/>
                </a:solidFill>
                <a:latin typeface="Calibri"/>
              </a:rPr>
              <a:t>. But:</a:t>
            </a:r>
          </a:p>
          <a:p>
            <a:pPr algn="l"/>
            <a:endParaRPr sz="1000" b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· Comps weight 35% on a $3.57B Bucket-2 (Peloton/Spotify) anchor</a:t>
            </a:r>
          </a:p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· Comp methodology is structurally backward-looking</a:t>
            </a:r>
          </a:p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· It cannot price the platform thesis until publicly visible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27280" y="5760720"/>
            <a:ext cx="5303520" cy="3108960"/>
          </a:xfrm>
          <a:prstGeom prst="rect">
            <a:avLst/>
          </a:prstGeom>
          <a:solidFill>
            <a:srgbClr val="F3F4F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710160" y="59436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INTRINSIC ALONE — $11.56B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10160" y="63093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= $11.56B  →  +14.4% vs Series 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0" y="6675120"/>
            <a:ext cx="49377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Strip the comp drag. The DCF says Series G is meaningfully </a:t>
            </a:r>
            <a:r>
              <a:rPr sz="1000" b="0" dirty="0" err="1">
                <a:solidFill>
                  <a:srgbClr val="111827"/>
                </a:solidFill>
                <a:latin typeface="Calibri"/>
              </a:rPr>
              <a:t>UNDERpriced</a:t>
            </a:r>
            <a:r>
              <a:rPr sz="10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 algn="l"/>
            <a:endParaRPr sz="1000" b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The gap between weighted avg and intrinsic IS the structural mispricing of platform-positioned companies — exactly what sophisticated capital captured at Series G entry.</a:t>
            </a:r>
          </a:p>
          <a:p>
            <a:pPr algn="l"/>
            <a:endParaRPr sz="1000" b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1000" b="0" dirty="0">
                <a:solidFill>
                  <a:srgbClr val="111827"/>
                </a:solidFill>
                <a:latin typeface="Calibri"/>
              </a:rPr>
              <a:t>This is the a16z American Dynamism setup.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600" b="1" dirty="0">
                <a:solidFill>
                  <a:srgbClr val="1F3A5F"/>
                </a:solidFill>
                <a:latin typeface="Calibri"/>
              </a:rPr>
              <a:t>Our Verdict: </a:t>
            </a:r>
            <a:r>
              <a:rPr sz="2600" b="1" dirty="0">
                <a:solidFill>
                  <a:srgbClr val="1F3A5F"/>
                </a:solidFill>
                <a:latin typeface="Calibri"/>
              </a:rPr>
              <a:t>Series G is modestly UNDER-priced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2103120"/>
            <a:ext cx="17373600" cy="2743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737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E66E2C"/>
                </a:solidFill>
                <a:latin typeface="Calibri"/>
              </a:rPr>
              <a:t>INTRINSIC FAIR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7373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$11.56B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737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F3F4F6"/>
                </a:solidFill>
                <a:latin typeface="Calibri"/>
              </a:rPr>
              <a:t>vs Series G $10.10B  =  +14.4% premium under Neutral conviction (20/50/30)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1737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CONVICTION-WEIGHTED ROBUSTNESS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486400"/>
            <a:ext cx="5669280" cy="3749039"/>
          </a:xfrm>
          <a:prstGeom prst="rect">
            <a:avLst/>
          </a:prstGeom>
          <a:solidFill>
            <a:srgbClr val="F3F4F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6235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PESSIMISTIC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35% Bear / 50% Base / 15% Bull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$8.23B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71780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-18.5% vs Series 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7680960"/>
            <a:ext cx="53035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Even if Bull is half as likely as Base assumes, intrinsic stays close to par.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5486400"/>
            <a:ext cx="5669280" cy="3749039"/>
          </a:xfrm>
          <a:prstGeom prst="rect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56235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NEUTRAL (HEADLINE)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9893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20% Bear / 50% Base / 30% Bull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640080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$11.56B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71780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+14.4% vs Series 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7680960"/>
            <a:ext cx="53035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Damodaran-style scenario weights, anchored against Oura's Series E pricing.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0" y="5486400"/>
            <a:ext cx="5669280" cy="3749039"/>
          </a:xfrm>
          <a:prstGeom prst="rect">
            <a:avLst/>
          </a:prstGeom>
          <a:solidFill>
            <a:srgbClr val="F3F4F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527280" y="56235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OPTIMISTIC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0" y="59893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15% Bear / 45% Base / 40% Bull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0" y="640080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$13.53B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0" y="71780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+34.0% vs Series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27280" y="7680960"/>
            <a:ext cx="53035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If healthcare materialization probability rises with CMS Innovation Center pathway.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What the model does NOT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Honest scope; the bull case has stipulations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MODEL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Healthcare investment cost not modeled.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95527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Real options as exhibit assume free option; ignore upfront $200-400M clinical/regulatory spend WHOOP must commit.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Bull case requires explicit 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59"/>
            <a:ext cx="795527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18M ending members presumes healthcare reimbursement live by 2029 — not a residual; an EVENT must occur.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83479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Series F ratchet status unverified.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799"/>
            <a:ext cx="795527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SoftBank absent from Series G syndicate. Ratchet provisions could affect waterfall; could not source disclosure.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17919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Option pool size opaque.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39"/>
            <a:ext cx="795527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Cap IQ shows 11.7% gap between authorized pref and outstanding common; option pool likely 10-15%.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7452359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Cohort churn aged curve directional only.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7726679"/>
            <a:ext cx="795527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WHOOP's 'Pro tier &lt;3% monthly' stat misused industry-wide as blended; pressure-tested via Peloton overlay but no first-principles cohort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1031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EXTERNAL RISKS NOT IN BASE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514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Apple Watch / Oura / glucose entrants.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7889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Competitive risk. Bear case captures via 18% terminal churn; could be insufficient if multiple entrants succeed.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749039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FDA warning letter (Jul 2025) on BPI.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023359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Healthcare credibility shock; resolved but precedent matters for next FDA submission.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983479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Whoopgate (May 2025) pricing controversy.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257799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Estimated $30-40M revenue gap from renewal-timing reversal. Resolved via free upgrades within 48hrs but execution risk persists.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6217919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Founder/key-person risk.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6492239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Will Ahmed concentration. Not directly modeled.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7452359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TV exit-mult vs Gordon divergence (~34%).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7726679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Indicates aggressive 4.5x Bull terminal multiple — stress-tested via tornado, not haircut.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8961120"/>
            <a:ext cx="17373600" cy="594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9098280"/>
            <a:ext cx="1737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Real options retained as cross-validation exhibit (correlated cluster: $5-6B success at 15-20% prob). Not added to football field.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Q&amp;A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Anticipated questions — backup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Held in reserve; not necessarily presented unless asked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2103120"/>
            <a:ext cx="17373600" cy="105156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48839"/>
            <a:ext cx="17007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Defend Bull ARPU 6%/yr — that's well above SaaS norms.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7007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Bull case ARPU growth is a CONSEQUENCE of the scenario, not an independent assumption. Bull requires healthcare reimbursement materialization — payer-paid ARPU mechanically lifts blended ARPU 30-50%. 6%/yr is the geometric average that lands Bull 2033 ARPU at $437 (vs Base $347), consistent with 30-40% mix shift to payer-paid pricing by 2033.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17373600" cy="105156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17007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Why bottoms-up WACC (11.59%) and not Damodaran top-down (10.85%)?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7007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Bottoms-up is the more conservative choice. Both methods converge within ~70bps. Bottoms-up uses our own per-comp regressions (3Y weekly OLS vs S&amp;P 500), Bloomberg-adjusted, with PTON excluded from B2 median due to distress. Top-down Damodaran sector medians (Electronics 0.83, HC Info-Tech 0.99) give 10.85% — slight lower. We use the higher number to keep the headline conservative.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7373600" cy="105156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17007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18M Bull endpoint — defend?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17007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Triangulated by four independent lenses: Lens A (TAM × share) → 11.95M Base / ~16M Bull. Lens B (Peloton stage-shift) → 11.21M Base / ~17M Bull. Lens C (Apple Watch + Oura comp median). Lens D (capital-led: $1.4B raised → ~16M Bull via S&amp;M backsolve). 18M is the upper end of the Bull-aligned envelope, NOT outside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32120"/>
            <a:ext cx="17373600" cy="105156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7007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Why 30% Bull weight — not 20%?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7007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Two anchors: (1) Damodaran's standard scenario practice puts upside scenarios at 25-35% when the upside has real-options character. (2) Oura at $12B Series E (Oct 2025) IS market validation that Bull-class wearable + biomarker outcomes are getting funded at &gt;$10B. Discounting Bull to 20% would imply the market is ~50% over-pricing Oura too.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675120"/>
            <a:ext cx="17373600" cy="105156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720840"/>
            <a:ext cx="17007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Why are real options not added to the football field?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7086600"/>
            <a:ext cx="17007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Same Jensen logic as the methodology slide. Real options are CORRELATED outcome clusters, not independent additive bets. Healthcare reimbursement, women's health, glucose monitoring co-move within the success/failure clusters. Adding them as a fixed expected value to a separate DCF would double-count the convexity already captured in scenario-weighted Bull. Retained as exhibit; explicitly NOT additive.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7818120"/>
            <a:ext cx="17373600" cy="105156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7863840"/>
            <a:ext cx="17007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If Series G is +14.4% under-priced, why didn't more institutional capital pile in?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8229600"/>
            <a:ext cx="17007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It DID — 49 investors across 10 rounds; Series G specifically led by Collaborative Fund with Abbott, Mayo, QIA, Mubadala, IVP, Macquarie. Institutional capital captured the platform thesis. The premium is what's left to be re-rated AT IPO once the platform is publicly visible — exactly the a16z American Dynamism arbitrage pattern.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3503</Words>
  <Application>Microsoft Macintosh PowerPoint</Application>
  <PresentationFormat>Custom</PresentationFormat>
  <Paragraphs>660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JetBrains Mono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Landon Brice</cp:lastModifiedBy>
  <cp:revision>4</cp:revision>
  <dcterms:created xsi:type="dcterms:W3CDTF">2013-01-27T09:14:16Z</dcterms:created>
  <dcterms:modified xsi:type="dcterms:W3CDTF">2026-05-11T01:35:24Z</dcterms:modified>
  <cp:category/>
</cp:coreProperties>
</file>