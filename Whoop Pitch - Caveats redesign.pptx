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6E2C"/>
                </a:solidFill>
                <a:latin typeface="Calibr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E1E3D"/>
                </a:solidFill>
                <a:latin typeface="Georgia"/>
              </a:rPr>
              <a:t>What the model does NOT capture.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Three honest categories. Most named caveats already sit inside the sensitivity grid or are absorbed by scenario weighting — the genuine gaps are the external risks no DCF can price.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783080"/>
            <a:ext cx="17373600" cy="0"/>
          </a:xfrm>
          <a:prstGeom prst="line">
            <a:avLst/>
          </a:prstGeom>
          <a:ln w="95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857232"/>
            <a:ext cx="16276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BUSN 20410  ·  Spring 2026  ·  Yannelis | Landon Brice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16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669280" cy="457200"/>
          </a:xfrm>
          <a:prstGeom prst="rect">
            <a:avLst/>
          </a:prstGeom>
          <a:solidFill>
            <a:srgbClr val="FFF4EF"/>
          </a:solidFill>
          <a:ln w="9525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40080" y="2130552"/>
            <a:ext cx="1188720" cy="237744"/>
          </a:xfrm>
          <a:prstGeom prst="roundRect">
            <a:avLst/>
          </a:prstGeom>
          <a:solidFill>
            <a:srgbClr val="C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STRESS-TESTED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30552"/>
            <a:ext cx="40233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E1E3D"/>
                </a:solidFill>
                <a:latin typeface="Calibri"/>
              </a:rPr>
              <a:t>Already in the tornado / sensitivity grid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5669280" cy="6583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26060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94360" y="2606040"/>
            <a:ext cx="73152" cy="1508760"/>
          </a:xfrm>
          <a:prstGeom prst="rect">
            <a:avLst/>
          </a:prstGeom>
          <a:solidFill>
            <a:srgbClr val="C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029200" y="2715768"/>
            <a:ext cx="868680" cy="256032"/>
          </a:xfrm>
          <a:prstGeom prst="roundRect">
            <a:avLst/>
          </a:prstGeom>
          <a:solidFill>
            <a:srgbClr val="FFF4EF"/>
          </a:solidFill>
          <a:ln w="6350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0" y="27157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C8441A"/>
                </a:solidFill>
                <a:latin typeface="Calibri"/>
              </a:rPr>
              <a:t>±$3.7B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157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Member endpoint dominates the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632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Bear 6.0M ↔ Bull 16.6M swings DCF Equity by ±$3.7B — rank-1 driver, 3× next-largest.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062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4360" y="4206240"/>
            <a:ext cx="73152" cy="1508760"/>
          </a:xfrm>
          <a:prstGeom prst="rect">
            <a:avLst/>
          </a:prstGeom>
          <a:solidFill>
            <a:srgbClr val="C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029200" y="4315968"/>
            <a:ext cx="868680" cy="256032"/>
          </a:xfrm>
          <a:prstGeom prst="roundRect">
            <a:avLst/>
          </a:prstGeom>
          <a:solidFill>
            <a:srgbClr val="FFF4EF"/>
          </a:solidFill>
          <a:ln w="6350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0" y="43159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C8441A"/>
                </a:solidFill>
                <a:latin typeface="Calibri"/>
              </a:rPr>
              <a:t>±$1.5B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Terminal multiple — Bull 4.5×.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TV exit-multiple vs Gordon-growth divergence 34% (above 25% threshold). Stress-tested via tornado, not haircut.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8064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94360" y="5806440"/>
            <a:ext cx="73152" cy="1508760"/>
          </a:xfrm>
          <a:prstGeom prst="rect">
            <a:avLst/>
          </a:prstGeom>
          <a:solidFill>
            <a:srgbClr val="C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029200" y="5916168"/>
            <a:ext cx="868680" cy="256032"/>
          </a:xfrm>
          <a:prstGeom prst="roundRect">
            <a:avLst/>
          </a:prstGeom>
          <a:solidFill>
            <a:srgbClr val="FFF4EF"/>
          </a:solidFill>
          <a:ln w="6350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029200" y="59161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C8441A"/>
                </a:solidFill>
                <a:latin typeface="Calibri"/>
              </a:rPr>
              <a:t>±$1.5B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161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WACC — bottoms-up vs top-down.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636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Internal 11.59% sits 75bps above Damodaran top-down 10.85%. Conservative anchor; spread quantified.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74066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94360" y="7406640"/>
            <a:ext cx="73152" cy="1508760"/>
          </a:xfrm>
          <a:prstGeom prst="rect">
            <a:avLst/>
          </a:prstGeom>
          <a:solidFill>
            <a:srgbClr val="C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029200" y="7516367"/>
            <a:ext cx="868680" cy="256032"/>
          </a:xfrm>
          <a:prstGeom prst="roundRect">
            <a:avLst/>
          </a:prstGeom>
          <a:solidFill>
            <a:srgbClr val="FFF4EF"/>
          </a:solidFill>
          <a:ln w="6350">
            <a:solidFill>
              <a:srgbClr val="E89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029200" y="7516367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C8441A"/>
                </a:solidFill>
                <a:latin typeface="Calibri"/>
              </a:rPr>
              <a:t>±$0.8B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7516367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ARPU Bull 6% decomposition.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78638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0.7% payer-paid uplift is the loosest of the 5 components — plausible 0.5-1.0% range.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011680"/>
            <a:ext cx="5669280" cy="457200"/>
          </a:xfrm>
          <a:prstGeom prst="rect">
            <a:avLst/>
          </a:prstGeom>
          <a:solidFill>
            <a:srgbClr val="ECEFF4"/>
          </a:solidFill>
          <a:ln w="9525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492240" y="2130552"/>
            <a:ext cx="1417320" cy="237744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92240" y="2130552"/>
            <a:ext cx="14173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SCENARIO-ABSORBED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2130552"/>
            <a:ext cx="37947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E1E3D"/>
                </a:solidFill>
                <a:latin typeface="Calibri"/>
              </a:rPr>
              <a:t>Bear / Bull stories carry the event risk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468880"/>
            <a:ext cx="5669280" cy="6583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446520" y="26060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446520" y="2606040"/>
            <a:ext cx="73152" cy="1508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10881360" y="2715768"/>
            <a:ext cx="868680" cy="256032"/>
          </a:xfrm>
          <a:prstGeom prst="roundRect">
            <a:avLst/>
          </a:prstGeom>
          <a:solidFill>
            <a:srgbClr val="ECEFF4"/>
          </a:solidFill>
          <a:ln w="6350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881360" y="27157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Calibri"/>
              </a:rPr>
              <a:t>P = 30%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27157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Bull 18M members presumes reimbursement live by 2029.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30632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Not a residual — an EVENT must occur (FDA + CMS pathway). Priced at 30% Bull probability, anchored externally vs 9% reference-class base rate.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42062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446520" y="4206240"/>
            <a:ext cx="73152" cy="1508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10881360" y="4315968"/>
            <a:ext cx="868680" cy="256032"/>
          </a:xfrm>
          <a:prstGeom prst="roundRect">
            <a:avLst/>
          </a:prstGeom>
          <a:solidFill>
            <a:srgbClr val="ECEFF4"/>
          </a:solidFill>
          <a:ln w="6350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881360" y="43159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Calibri"/>
              </a:rPr>
              <a:t>Bull-only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3159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Healthcare regulatory / clinical spend $200-400M.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46634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Implicit in Bull's operating thesis but not line-itemed in DCF. Treated as the 'cost of buying the option' — defensible but Yannelis may press.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58064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446520" y="5806440"/>
            <a:ext cx="73152" cy="1508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0881360" y="5916168"/>
            <a:ext cx="868680" cy="256032"/>
          </a:xfrm>
          <a:prstGeom prst="roundRect">
            <a:avLst/>
          </a:prstGeom>
          <a:solidFill>
            <a:srgbClr val="ECEFF4"/>
          </a:solidFill>
          <a:ln w="6350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881360" y="59161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Calibri"/>
              </a:rPr>
              <a:t>Range shown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59161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Probability weight selection IS an analytical choice.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62636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Pessimistic 35/50/15 → $8.23B (−18.5%) · Neutral 20/50/30 → $11.56B (+14.4%) · Optimistic 15/45/40 → $13.53B (+34%). Conclusion holds across.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46520" y="74066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446520" y="7406640"/>
            <a:ext cx="73152" cy="1508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10881360" y="7516367"/>
            <a:ext cx="868680" cy="256032"/>
          </a:xfrm>
          <a:prstGeom prst="roundRect">
            <a:avLst/>
          </a:prstGeom>
          <a:solidFill>
            <a:srgbClr val="ECEFF4"/>
          </a:solidFill>
          <a:ln w="6350">
            <a:solidFill>
              <a:srgbClr val="B8C2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881360" y="7516367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Calibri"/>
              </a:rPr>
              <a:t>Long-tail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29400" y="7516367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Healthcare timing uncertainty (post-2033 tail).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400" y="78638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Bull case prices materialization within forecast horizon. Delays beyond 2033 reduce DCF contribution — absorbed by Bull probability, not separately discounted.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161520" y="2011680"/>
            <a:ext cx="56692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12344400" y="2130552"/>
            <a:ext cx="1325880" cy="237744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2344400" y="2130552"/>
            <a:ext cx="132588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ACKNOWLEDGED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761720" y="2130552"/>
            <a:ext cx="38862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E1E3D"/>
                </a:solidFill>
                <a:latin typeface="Calibri"/>
              </a:rPr>
              <a:t>Honest gaps — no DCF can price these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161520" y="2468880"/>
            <a:ext cx="5669280" cy="6583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2298680" y="26060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12298680" y="2606040"/>
            <a:ext cx="73152" cy="1508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16733520" y="2715768"/>
            <a:ext cx="868680" cy="256032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6733520" y="27157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Bear partial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481560" y="27157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Competitive entrants (Apple / Oura / glucose).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481560" y="30632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Bear case 18% terminal churn is a partial offset. Could be insufficient if multiple entrants succeed simultaneously — most external risk.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298680" y="42062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2298680" y="4206240"/>
            <a:ext cx="73152" cy="1508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16733520" y="4315968"/>
            <a:ext cx="868680" cy="256032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6733520" y="43159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Pre-S-1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481560" y="43159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Cap structure unknowns.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481560" y="46634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Series F ratchet status unverified (SoftBank absent from Series G). Option pool likely 10-15% per Cap IQ gap. Adverse waterfall could compress common-equivalent.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298680" y="58064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2298680" y="5806440"/>
            <a:ext cx="73152" cy="1508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16733520" y="5916168"/>
            <a:ext cx="868680" cy="256032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6733520" y="5916168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Qualitative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81560" y="591616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Founder + execution risk.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481560" y="62636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Will Ahmed concentration not directly modeled. Whoopgate (May 2025) and FDA BPI warning (Jul 2025) precedent operational risk that current architecture can't price.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298680" y="740664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2298680" y="7406640"/>
            <a:ext cx="73152" cy="1508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16733520" y="7516367"/>
            <a:ext cx="868680" cy="256032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6733520" y="7516367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6B7280"/>
                </a:solidFill>
                <a:latin typeface="Calibri"/>
              </a:rPr>
              <a:t>Data-gap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481560" y="7516367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1E3D"/>
                </a:solidFill>
                <a:latin typeface="Calibri"/>
              </a:rPr>
              <a:t>Cohort churn directional only.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481560" y="7863840"/>
            <a:ext cx="51663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WHOOP's 'Pro tier &lt;3% monthly' stat misused industry-wide as blended; pressure-tested via Peloton overlay but no first-principles cohort data until S-1.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9098280"/>
            <a:ext cx="17373600" cy="548640"/>
          </a:xfrm>
          <a:prstGeom prst="rect">
            <a:avLst/>
          </a:prstGeom>
          <a:solidFill>
            <a:srgbClr val="F3F4F6"/>
          </a:solidFill>
          <a:ln w="6350">
            <a:solidFill>
              <a:srgbClr val="E8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40080" y="9235440"/>
            <a:ext cx="170078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1E3D"/>
                </a:solidFill>
                <a:latin typeface="Calibri"/>
              </a:rPr>
              <a:t>Real options retained as cross-validation exhibit  ·  </a:t>
            </a:r>
            <a:r>
              <a:rPr sz="1100" b="0" i="0">
                <a:solidFill>
                  <a:srgbClr val="111827"/>
                </a:solidFill>
                <a:latin typeface="Calibri"/>
              </a:rPr>
              <a:t>correlated cluster: $5-6B success at 15-20% probability  ·  </a:t>
            </a:r>
            <a:r>
              <a:rPr sz="1100" b="0" i="1">
                <a:solidFill>
                  <a:srgbClr val="6B7280"/>
                </a:solidFill>
                <a:latin typeface="Calibri"/>
              </a:rPr>
              <a:t>NOT added to football field (double-counts with Bull bucket-3 multiple weighting).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