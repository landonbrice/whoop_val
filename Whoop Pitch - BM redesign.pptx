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6E2C"/>
                </a:solidFill>
                <a:latin typeface="Calibri"/>
              </a:rPr>
              <a:t>WHOOP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E1793C"/>
                </a:solidFill>
                <a:latin typeface="Georgia"/>
              </a:rPr>
              <a:t>Three</a:t>
            </a:r>
            <a:r>
              <a:rPr sz="3400" b="1" i="0">
                <a:solidFill>
                  <a:srgbClr val="0E1E3D"/>
                </a:solidFill>
                <a:latin typeface="Georgia"/>
              </a:rPr>
              <a:t> companies in one  ·  the industry is converging on all three.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WHOOP straddles consumer hardware, consumer subscription, and health-data platform — and four dated industry signals show the rest of the world moving toward that same intersection.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783080"/>
            <a:ext cx="17373600" cy="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857232"/>
            <a:ext cx="16276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Sources: Grand View Research / Precedence Research (wearables TAM) · IDC (smart-ring share) · Dexcom 10-K (Stelo OTC Aug 2024) · WHOOP press (FDA ECG Apr 2025; CMS Innovation Center Apr 13, 2026) · FDA Makary Wellness guidance (Jan 2026) · iRhythm 10-K (CMS CPT codes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03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6E2C"/>
                </a:solidFill>
                <a:latin typeface="Calibri"/>
              </a:rPr>
              <a:t>§1  WHAT WHOOP IS  ·  NO PUBLIC COMP HOLDS IT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6583680" cy="6309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H="1">
            <a:off x="1463040" y="3017520"/>
            <a:ext cx="2285999" cy="3749040"/>
          </a:xfrm>
          <a:prstGeom prst="line">
            <a:avLst/>
          </a:prstGeom>
          <a:ln w="15240">
            <a:solidFill>
              <a:srgbClr val="0E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49039" y="3017520"/>
            <a:ext cx="2286001" cy="3749040"/>
          </a:xfrm>
          <a:prstGeom prst="line">
            <a:avLst/>
          </a:prstGeom>
          <a:ln w="15240">
            <a:solidFill>
              <a:srgbClr val="0E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6766560"/>
            <a:ext cx="4572000" cy="0"/>
          </a:xfrm>
          <a:prstGeom prst="line">
            <a:avLst/>
          </a:prstGeom>
          <a:ln w="15240">
            <a:solidFill>
              <a:srgbClr val="0E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11879" y="2880360"/>
            <a:ext cx="274320" cy="274320"/>
          </a:xfrm>
          <a:prstGeom prst="ellipse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25880" y="662940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897879" y="6629400"/>
            <a:ext cx="274320" cy="274320"/>
          </a:xfrm>
          <a:prstGeom prst="ellipse">
            <a:avLst/>
          </a:prstGeom>
          <a:solidFill>
            <a:srgbClr val="2C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377439" y="242316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C8441A"/>
                </a:solidFill>
                <a:latin typeface="Calibri"/>
              </a:rPr>
              <a:t>Consumer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2688336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Calibri"/>
              </a:rPr>
              <a:t>GARMIN  ·  FITBIT  ·  GOPRO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9494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Consumer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7223760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Calibri"/>
              </a:rPr>
              <a:t>PELOTON  ·  SONOS  ·  ROKU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69494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C7A4E"/>
                </a:solidFill>
                <a:latin typeface="Calibri"/>
              </a:rPr>
              <a:t>Health Data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7223760"/>
            <a:ext cx="2377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Calibri"/>
              </a:rPr>
              <a:t>DEXCOM  ·  MASIMO  ·  IRHYTHM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732019"/>
            <a:ext cx="237744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4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60320" y="4846319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C8441A"/>
                </a:solidFill>
                <a:latin typeface="Calibri"/>
              </a:rPr>
              <a:t>WHOOP — AT THE INTERSECTION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7772400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E1E3D"/>
                </a:solidFill>
                <a:latin typeface="Calibri"/>
              </a:rPr>
              <a:t>Series G prices the intersection, not any single bucket.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8046720"/>
            <a:ext cx="5852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~19× recognized rev / ~9× bookings — above every public tier (highest single bucket: 6.7× hardware, 5.96× health-data). The premium IS the four-vector combination no listed company holds.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01168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6E2C"/>
                </a:solidFill>
                <a:latin typeface="Calibri"/>
              </a:rPr>
              <a:t>§2  WHERE THE INDUSTRY IS MOVING  ·  4 DATED SIGNALS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377440"/>
            <a:ext cx="10424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406640" y="2377440"/>
            <a:ext cx="777240" cy="1417320"/>
          </a:xfrm>
          <a:prstGeom prst="rect">
            <a:avLst/>
          </a:prstGeom>
          <a:solidFill>
            <a:srgbClr val="FF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06640" y="2651760"/>
            <a:ext cx="7772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8441A"/>
                </a:solidFill>
                <a:latin typeface="Georgia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50592"/>
            <a:ext cx="9418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1E3D"/>
                </a:solidFill>
                <a:latin typeface="Calibri"/>
              </a:rPr>
              <a:t>Wearable market doubling by 2033.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76148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$87B → $230-700B  ·  12-14% CAGR  ·  611M units shipped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035808"/>
            <a:ext cx="9418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Grand View Research · Precedence Research · IDC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3264408"/>
            <a:ext cx="9372599" cy="0"/>
          </a:xfrm>
          <a:prstGeom prst="line">
            <a:avLst/>
          </a:prstGeom>
          <a:ln w="6350">
            <a:solidFill>
              <a:srgbClr val="E8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21040" y="3337560"/>
            <a:ext cx="9418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8441A"/>
                </a:solidFill>
                <a:latin typeface="Calibri"/>
              </a:rPr>
              <a:t>WHOOP read  ·  </a:t>
            </a:r>
            <a:r>
              <a:rPr sz="1000" b="0" i="0">
                <a:solidFill>
                  <a:srgbClr val="111827"/>
                </a:solidFill>
                <a:latin typeface="Calibri"/>
              </a:rPr>
              <a:t>The rising tide. Even flat share gain compounds — WHOOP doesn't need to take share to clear its DCF.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959352"/>
            <a:ext cx="10424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406640" y="3959352"/>
            <a:ext cx="777240" cy="1417320"/>
          </a:xfrm>
          <a:prstGeom prst="rect">
            <a:avLst/>
          </a:prstGeom>
          <a:solidFill>
            <a:srgbClr val="FF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06640" y="4233672"/>
            <a:ext cx="7772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8441A"/>
                </a:solidFill>
                <a:latin typeface="Georgia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032504"/>
            <a:ext cx="9418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1E3D"/>
                </a:solidFill>
                <a:latin typeface="Calibri"/>
              </a:rPr>
              <a:t>Medical-grade and consumer wearables are converging — from both directions.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343400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Dexcom Stelo OTC (Aug 2024)  ←→  WHOOP FDA-cleared ECG (Apr 2025) · BPI (Jan 2026)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17720"/>
            <a:ext cx="9418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Dexcom 10-K · WHOOP press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21040" y="4846320"/>
            <a:ext cx="9372599" cy="0"/>
          </a:xfrm>
          <a:prstGeom prst="line">
            <a:avLst/>
          </a:prstGeom>
          <a:ln w="6350">
            <a:solidFill>
              <a:srgbClr val="E8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321040" y="4919472"/>
            <a:ext cx="9418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8441A"/>
                </a:solidFill>
                <a:latin typeface="Calibri"/>
              </a:rPr>
              <a:t>WHOOP read  ·  </a:t>
            </a:r>
            <a:r>
              <a:rPr sz="1000" b="0" i="0">
                <a:solidFill>
                  <a:srgbClr val="111827"/>
                </a:solidFill>
                <a:latin typeface="Calibri"/>
              </a:rPr>
              <a:t>The dominant industry vector. WHOOP's healthcare pivot isn't an outlier bet — it's the direction of travel.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5541264"/>
            <a:ext cx="10424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406640" y="5541264"/>
            <a:ext cx="777240" cy="1417320"/>
          </a:xfrm>
          <a:prstGeom prst="rect">
            <a:avLst/>
          </a:prstGeom>
          <a:solidFill>
            <a:srgbClr val="FF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406640" y="5815584"/>
            <a:ext cx="7772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8441A"/>
                </a:solidFill>
                <a:latin typeface="Georgia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614416"/>
            <a:ext cx="9418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1E3D"/>
                </a:solidFill>
                <a:latin typeface="Calibri"/>
              </a:rPr>
              <a:t>Regulatory tailwind: FDA expanded wellness exemptions.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925312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Jan 2026 Makary guidance  ·  Optical BP measurement permitted in wellness category, no 510(k) 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199632"/>
            <a:ext cx="9418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FDA Commissioner Makary guidance · MedTech Dive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21040" y="6428232"/>
            <a:ext cx="9372599" cy="0"/>
          </a:xfrm>
          <a:prstGeom prst="line">
            <a:avLst/>
          </a:prstGeom>
          <a:ln w="6350">
            <a:solidFill>
              <a:srgbClr val="E8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321040" y="6501384"/>
            <a:ext cx="9418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8441A"/>
                </a:solidFill>
                <a:latin typeface="Calibri"/>
              </a:rPr>
              <a:t>WHOOP read  ·  </a:t>
            </a:r>
            <a:r>
              <a:rPr sz="1000" b="0" i="0">
                <a:solidFill>
                  <a:srgbClr val="111827"/>
                </a:solidFill>
                <a:latin typeface="Calibri"/>
              </a:rPr>
              <a:t>Lower compliance cost for sensor features. Validates WHOOP's BPI relaunch path; lifts attach potential on Healthspan.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7123175"/>
            <a:ext cx="10424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7406640" y="7123175"/>
            <a:ext cx="777240" cy="1417320"/>
          </a:xfrm>
          <a:prstGeom prst="rect">
            <a:avLst/>
          </a:prstGeom>
          <a:solidFill>
            <a:srgbClr val="FF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06640" y="7397496"/>
            <a:ext cx="7772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8441A"/>
                </a:solidFill>
                <a:latin typeface="Georgia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7196327"/>
            <a:ext cx="9418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1E3D"/>
                </a:solidFill>
                <a:latin typeface="Calibri"/>
              </a:rPr>
              <a:t>CMS reimbursement gates are opening to wearable platforms.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7507223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iRhythm: regional MAC → national CPT codes  ·  WHOOP at CMS Innovation Center (Apr 13, 2026)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7781544"/>
            <a:ext cx="9418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iRhythm 10-K (CPT 93243/93247, $213/$224)  ·  WHOOP / CMS press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21040" y="8010144"/>
            <a:ext cx="9372599" cy="0"/>
          </a:xfrm>
          <a:prstGeom prst="line">
            <a:avLst/>
          </a:prstGeom>
          <a:ln w="6350">
            <a:solidFill>
              <a:srgbClr val="E8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321040" y="8083296"/>
            <a:ext cx="9418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8441A"/>
                </a:solidFill>
                <a:latin typeface="Calibri"/>
              </a:rPr>
              <a:t>WHOOP read  ·  </a:t>
            </a:r>
            <a:r>
              <a:rPr sz="1000" b="0" i="0">
                <a:solidFill>
                  <a:srgbClr val="111827"/>
                </a:solidFill>
                <a:latin typeface="Calibri"/>
              </a:rPr>
              <a:t>Path from consumer-paid $30/mo to payer-paid $200+/episode is precedented. The Bull case lives here.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8823960"/>
            <a:ext cx="1737360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0080" y="8951976"/>
            <a:ext cx="17007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66E2C"/>
                </a:solidFill>
                <a:latin typeface="Calibri"/>
              </a:rPr>
              <a:t>THE CONVERGENCE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9208008"/>
            <a:ext cx="17007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Every industry signal moves toward </a:t>
            </a:r>
            <a:r>
              <a:rPr sz="1300" b="1" i="0">
                <a:solidFill>
                  <a:srgbClr val="E66E2C"/>
                </a:solidFill>
                <a:latin typeface="Calibri"/>
              </a:rPr>
              <a:t>the same intersection WHOOP already occupies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.  Bull case 30% weight = P(all 4 vectors activate) — not a hopeful prior, an industry-aligned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