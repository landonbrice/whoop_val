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2" r:id="rId2"/>
    <p:sldId id="270" r:id="rId3"/>
    <p:sldId id="257" r:id="rId4"/>
    <p:sldId id="273" r:id="rId5"/>
    <p:sldId id="259" r:id="rId6"/>
    <p:sldId id="274" r:id="rId7"/>
    <p:sldId id="271" r:id="rId8"/>
    <p:sldId id="260" r:id="rId9"/>
    <p:sldId id="261" r:id="rId10"/>
    <p:sldId id="262" r:id="rId11"/>
    <p:sldId id="263" r:id="rId12"/>
    <p:sldId id="264" r:id="rId13"/>
    <p:sldId id="265" r:id="rId14"/>
    <p:sldId id="266"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3332D-6734-3E4B-BD46-07D3FC67F897}" v="341" dt="2026-05-08T14:19:05.822"/>
    <p1510:client id="{2BE62217-1276-594E-8C1E-18E2DFF39299}" v="1" dt="2026-05-10T14:14:36.079"/>
    <p1510:client id="{745B0903-0BAD-884F-97B0-E31DBA052005}" v="1598" dt="2026-05-08T18:26:05.8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p:restoredTop sz="94589"/>
  </p:normalViewPr>
  <p:slideViewPr>
    <p:cSldViewPr snapToGrid="0" snapToObjects="1">
      <p:cViewPr varScale="1">
        <p:scale>
          <a:sx n="80" d="100"/>
          <a:sy n="80" d="100"/>
        </p:scale>
        <p:origin x="672" y="20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0597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use 4.5x exit multiple primary; implied perpetuity growth is ~5% reflecting platform durability vs Gordon at 3%; both methods triangulated within 30%." Shows you understand the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hyperlink" Target="https://sacra-pdfs.s3.us-east-2.amazonaws.com/whoop.pdf"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a:solidFill>
                  <a:srgbClr val="0A0A0A"/>
                </a:solidFill>
                <a:latin typeface="JetBrains Mono" pitchFamily="34" charset="0"/>
                <a:ea typeface="JetBrains Mono" pitchFamily="34" charset="-122"/>
                <a:cs typeface="JetBrains Mono" pitchFamily="34" charset="-120"/>
              </a:rPr>
              <a:t>VALUATION</a:t>
            </a:r>
            <a:r>
              <a:rPr lang="en-US" sz="1050" b="1" kern="0" spc="336">
                <a:solidFill>
                  <a:srgbClr val="FF5A1F"/>
                </a:solidFill>
                <a:latin typeface="JetBrains Mono" pitchFamily="34" charset="0"/>
                <a:ea typeface="JetBrains Mono" pitchFamily="34" charset="-122"/>
                <a:cs typeface="JetBrains Mono" pitchFamily="34" charset="-120"/>
              </a:rPr>
              <a:t>.</a:t>
            </a:r>
            <a:endParaRPr lang="en-US" sz="1050"/>
          </a:p>
        </p:txBody>
      </p:sp>
      <p:sp>
        <p:nvSpPr>
          <p:cNvPr id="3" name="Text 1"/>
          <p:cNvSpPr/>
          <p:nvPr/>
        </p:nvSpPr>
        <p:spPr>
          <a:xfrm>
            <a:off x="15231963"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01 / 12</a:t>
            </a:r>
            <a:endParaRPr lang="en-US" sz="1050" dirty="0"/>
          </a:p>
        </p:txBody>
      </p:sp>
      <p:sp>
        <p:nvSpPr>
          <p:cNvPr id="6" name="Text 4"/>
          <p:cNvSpPr/>
          <p:nvPr/>
        </p:nvSpPr>
        <p:spPr>
          <a:xfrm>
            <a:off x="1295400" y="1358801"/>
            <a:ext cx="9832058" cy="257175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0500" b="1" kern="0" spc="-367" dirty="0">
                <a:solidFill>
                  <a:srgbClr val="0A0A0A"/>
                </a:solidFill>
                <a:latin typeface="Space Grotesk" pitchFamily="34" charset="0"/>
                <a:ea typeface="Space Grotesk" pitchFamily="34" charset="-122"/>
                <a:cs typeface="Space Grotesk" pitchFamily="34" charset="-120"/>
              </a:rPr>
              <a:t>Is WHOOP worth </a:t>
            </a:r>
            <a:r>
              <a:rPr lang="en-US" sz="10500" b="1" kern="0" spc="-367" dirty="0">
                <a:solidFill>
                  <a:srgbClr val="FF5A1F"/>
                </a:solidFill>
                <a:latin typeface="Space Grotesk" pitchFamily="34" charset="0"/>
                <a:ea typeface="Space Grotesk" pitchFamily="34" charset="-122"/>
                <a:cs typeface="Space Grotesk" pitchFamily="34" charset="-120"/>
              </a:rPr>
              <a:t>$10.1 billion?</a:t>
            </a:r>
            <a:endParaRPr lang="en-US" sz="10500" dirty="0"/>
          </a:p>
        </p:txBody>
      </p:sp>
      <p:sp>
        <p:nvSpPr>
          <p:cNvPr id="8" name="Text 6"/>
          <p:cNvSpPr/>
          <p:nvPr/>
        </p:nvSpPr>
        <p:spPr>
          <a:xfrm>
            <a:off x="1399183" y="3662505"/>
            <a:ext cx="4285382" cy="242888"/>
          </a:xfrm>
          <a:prstGeom prst="rect">
            <a:avLst/>
          </a:prstGeom>
          <a:noFill/>
          <a:ln/>
        </p:spPr>
        <p:txBody>
          <a:bodyPr wrap="square" lIns="25400" tIns="25400" rIns="25400" bIns="25400" rtlCol="0" anchor="t">
            <a:normAutofit/>
          </a:bodyPr>
          <a:lstStyle/>
          <a:p>
            <a:pPr marL="0" indent="0" algn="l">
              <a:buNone/>
            </a:pPr>
            <a:r>
              <a:rPr lang="en-US" sz="1200" kern="0" spc="216" dirty="0">
                <a:solidFill>
                  <a:srgbClr val="7A776E"/>
                </a:solidFill>
                <a:latin typeface="JetBrains Mono" pitchFamily="34" charset="0"/>
                <a:ea typeface="JetBrains Mono" pitchFamily="34" charset="-122"/>
                <a:cs typeface="JetBrains Mono" pitchFamily="34" charset="-120"/>
              </a:rPr>
              <a:t>BUSN 20410 · SPRING 2026 · YANNELIS</a:t>
            </a:r>
            <a:endParaRPr lang="en-US" sz="1200" dirty="0"/>
          </a:p>
        </p:txBody>
      </p:sp>
      <p:sp>
        <p:nvSpPr>
          <p:cNvPr id="9" name="Text 7"/>
          <p:cNvSpPr/>
          <p:nvPr/>
        </p:nvSpPr>
        <p:spPr>
          <a:xfrm>
            <a:off x="5722665" y="7466112"/>
            <a:ext cx="195114" cy="242888"/>
          </a:xfrm>
          <a:prstGeom prst="rect">
            <a:avLst/>
          </a:prstGeom>
          <a:noFill/>
          <a:ln/>
        </p:spPr>
        <p:txBody>
          <a:bodyPr wrap="square" lIns="25400" tIns="25400" rIns="25400" bIns="25400" rtlCol="0" anchor="t">
            <a:normAutofit/>
          </a:bodyPr>
          <a:lstStyle/>
          <a:p>
            <a:pPr marL="0" indent="0" algn="l">
              <a:buNone/>
            </a:pPr>
            <a:endParaRPr lang="en-US" sz="1200"/>
          </a:p>
        </p:txBody>
      </p:sp>
      <p:pic>
        <p:nvPicPr>
          <p:cNvPr id="5" name="Picture 4">
            <a:extLst>
              <a:ext uri="{FF2B5EF4-FFF2-40B4-BE49-F238E27FC236}">
                <a16:creationId xmlns:a16="http://schemas.microsoft.com/office/drawing/2014/main" id="{DC87AA55-E535-8E38-5CC0-42BE579A4224}"/>
              </a:ext>
            </a:extLst>
          </p:cNvPr>
          <p:cNvPicPr>
            <a:picLocks noChangeAspect="1"/>
          </p:cNvPicPr>
          <p:nvPr/>
        </p:nvPicPr>
        <p:blipFill>
          <a:blip r:embed="rId3"/>
          <a:stretch>
            <a:fillRect/>
          </a:stretch>
        </p:blipFill>
        <p:spPr>
          <a:xfrm>
            <a:off x="12980128" y="853976"/>
            <a:ext cx="3746500" cy="3581400"/>
          </a:xfrm>
          <a:prstGeom prst="rect">
            <a:avLst/>
          </a:prstGeom>
        </p:spPr>
      </p:pic>
      <p:pic>
        <p:nvPicPr>
          <p:cNvPr id="13" name="Picture 12">
            <a:extLst>
              <a:ext uri="{FF2B5EF4-FFF2-40B4-BE49-F238E27FC236}">
                <a16:creationId xmlns:a16="http://schemas.microsoft.com/office/drawing/2014/main" id="{30454003-32CB-C793-7631-F81BD6171A71}"/>
              </a:ext>
            </a:extLst>
          </p:cNvPr>
          <p:cNvPicPr>
            <a:picLocks noChangeAspect="1"/>
          </p:cNvPicPr>
          <p:nvPr/>
        </p:nvPicPr>
        <p:blipFill>
          <a:blip r:embed="rId4"/>
          <a:srcRect t="15385" b="5289"/>
          <a:stretch>
            <a:fillRect/>
          </a:stretch>
        </p:blipFill>
        <p:spPr>
          <a:xfrm>
            <a:off x="1399183" y="4144282"/>
            <a:ext cx="11890467" cy="52887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a:solidFill>
                  <a:srgbClr val="0A0A0A"/>
                </a:solidFill>
                <a:latin typeface="JetBrains Mono" pitchFamily="34" charset="0"/>
                <a:ea typeface="JetBrains Mono" pitchFamily="34" charset="-122"/>
                <a:cs typeface="JetBrains Mono" pitchFamily="34" charset="-120"/>
              </a:rPr>
              <a:t>VALUATION</a:t>
            </a:r>
            <a:r>
              <a:rPr lang="en-US" sz="1050" b="1" kern="0" spc="336">
                <a:solidFill>
                  <a:srgbClr val="FF5A1F"/>
                </a:solidFill>
                <a:latin typeface="JetBrains Mono" pitchFamily="34" charset="0"/>
                <a:ea typeface="JetBrains Mono" pitchFamily="34" charset="-122"/>
                <a:cs typeface="JetBrains Mono" pitchFamily="34" charset="-120"/>
              </a:rPr>
              <a:t>.</a:t>
            </a:r>
          </a:p>
        </p:txBody>
      </p:sp>
      <p:sp>
        <p:nvSpPr>
          <p:cNvPr id="3" name="Text 1"/>
          <p:cNvSpPr/>
          <p:nvPr/>
        </p:nvSpPr>
        <p:spPr>
          <a:xfrm>
            <a:off x="16141700" y="342900"/>
            <a:ext cx="1270000" cy="215900"/>
          </a:xfrm>
          <a:prstGeom prst="rect">
            <a:avLst/>
          </a:prstGeom>
          <a:noFill/>
          <a:ln/>
        </p:spPr>
        <p:txBody>
          <a:bodyPr wrap="square" lIns="25400" tIns="25400" rIns="25400" bIns="25400" rtlCol="0" anchor="t">
            <a:normAutofit/>
          </a:bodyPr>
          <a:lstStyle/>
          <a:p>
            <a:pPr marL="0" indent="0" algn="l">
              <a:buNone/>
            </a:pPr>
            <a:r>
              <a:rPr lang="en-US" sz="1050" kern="0" spc="147">
                <a:solidFill>
                  <a:srgbClr val="7A776E"/>
                </a:solidFill>
                <a:latin typeface="JetBrains Mono" pitchFamily="34" charset="0"/>
                <a:ea typeface="JetBrains Mono" pitchFamily="34" charset="-122"/>
                <a:cs typeface="JetBrains Mono" pitchFamily="34" charset="-120"/>
              </a:rPr>
              <a:t>02 / 12</a:t>
            </a:r>
          </a:p>
        </p:txBody>
      </p:sp>
      <p:sp>
        <p:nvSpPr>
          <p:cNvPr id="6" name="Text 4"/>
          <p:cNvSpPr/>
          <p:nvPr/>
        </p:nvSpPr>
        <p:spPr>
          <a:xfrm>
            <a:off x="803809" y="748389"/>
            <a:ext cx="16510000" cy="762000"/>
          </a:xfrm>
          <a:prstGeom prst="rect">
            <a:avLst/>
          </a:prstGeom>
          <a:noFill/>
          <a:ln/>
        </p:spPr>
        <p:txBody>
          <a:bodyPr wrap="square" lIns="25400" tIns="25400" rIns="25400" bIns="25400" rtlCol="0" anchor="t">
            <a:normAutofit/>
          </a:bodyPr>
          <a:lstStyle/>
          <a:p>
            <a:pPr marL="0" indent="0" algn="ctr">
              <a:lnSpc>
                <a:spcPct val="104000"/>
              </a:lnSpc>
              <a:buNone/>
            </a:pPr>
            <a:endParaRPr lang="en-US" sz="4500" b="1" kern="0" spc="-81" dirty="0">
              <a:solidFill>
                <a:srgbClr val="0A0A0A"/>
              </a:solidFill>
              <a:latin typeface="Space Grotesk" pitchFamily="34" charset="0"/>
              <a:ea typeface="Space Grotesk" pitchFamily="34" charset="-122"/>
              <a:cs typeface="Space Grotesk" pitchFamily="34" charset="-120"/>
            </a:endParaRPr>
          </a:p>
        </p:txBody>
      </p:sp>
      <p:sp>
        <p:nvSpPr>
          <p:cNvPr id="200" name="TopNavLabel"/>
          <p:cNvSpPr/>
          <p:nvPr/>
        </p:nvSpPr>
        <p:spPr>
          <a:xfrm>
            <a:off x="15227300" y="342900"/>
            <a:ext cx="762000" cy="215900"/>
          </a:xfrm>
          <a:prstGeom prst="rect">
            <a:avLst/>
          </a:prstGeom>
          <a:noFill/>
          <a:ln>
            <a:noFill/>
          </a:ln>
        </p:spPr>
        <p:txBody>
          <a:bodyPr wrap="square" lIns="0" tIns="0" rIns="0" bIns="0"/>
          <a:lstStyle/>
          <a:p>
            <a:pPr marL="0" indent="0" algn="l">
              <a:buNone/>
            </a:pPr>
            <a:r>
              <a:rPr lang="en-US" sz="1050" kern="0" spc="147">
                <a:solidFill>
                  <a:srgbClr val="7A776E"/>
                </a:solidFill>
                <a:latin typeface="JetBrains Mono" pitchFamily="34" charset="0"/>
                <a:ea typeface="JetBrains Mono" pitchFamily="34" charset="-122"/>
                <a:cs typeface="JetBrains Mono" pitchFamily="34" charset="-120"/>
              </a:rPr>
              <a:t>COMPANY</a:t>
            </a:r>
          </a:p>
        </p:txBody>
      </p:sp>
      <p:sp>
        <p:nvSpPr>
          <p:cNvPr id="210" name="Card1"/>
          <p:cNvSpPr/>
          <p:nvPr/>
        </p:nvSpPr>
        <p:spPr>
          <a:xfrm>
            <a:off x="364763" y="899202"/>
            <a:ext cx="5397500" cy="2790435"/>
          </a:xfrm>
          <a:prstGeom prst="roundRect">
            <a:avLst>
              <a:gd name="adj" fmla="val 3000"/>
            </a:avLst>
          </a:prstGeom>
          <a:solidFill>
            <a:srgbClr val="F5F2ED"/>
          </a:solidFill>
          <a:ln>
            <a:noFill/>
          </a:ln>
        </p:spPr>
        <p:txBody>
          <a:bodyPr wrap="square" lIns="152400" tIns="114300" rIns="152400" bIns="114300" anchor="t"/>
          <a:lstStyle/>
          <a:p>
            <a:pPr marL="0" indent="0" algn="l">
              <a:spcAft>
                <a:spcPts val="200"/>
              </a:spcAft>
              <a:buNone/>
            </a:pPr>
            <a:r>
              <a:rPr lang="en-US" sz="1400" b="1" kern="0" spc="100" dirty="0">
                <a:solidFill>
                  <a:srgbClr val="FF5A1F"/>
                </a:solidFill>
                <a:latin typeface="JetBrains Mono" pitchFamily="34" charset="0"/>
                <a:ea typeface="JetBrains Mono" pitchFamily="34" charset="-122"/>
                <a:cs typeface="JetBrains Mono" pitchFamily="34" charset="-120"/>
              </a:rPr>
              <a:t>01</a:t>
            </a:r>
          </a:p>
          <a:p>
            <a:pPr marL="0" indent="0" algn="l">
              <a:spcAft>
                <a:spcPts val="800"/>
              </a:spcAft>
              <a:buNone/>
            </a:pPr>
            <a:r>
              <a:rPr lang="en-US" sz="1500" b="1" kern="0" spc="-10" dirty="0">
                <a:solidFill>
                  <a:srgbClr val="0A0A0A"/>
                </a:solidFill>
                <a:latin typeface="Space Grotesk" pitchFamily="34" charset="0"/>
                <a:ea typeface="Space Grotesk" pitchFamily="34" charset="-122"/>
                <a:cs typeface="Space Grotesk" pitchFamily="34" charset="-120"/>
              </a:rPr>
              <a:t>WHAT THEY DO</a:t>
            </a:r>
          </a:p>
          <a:p>
            <a:pPr marL="285750" indent="-285750" algn="l">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24/7 health &amp; fitness wearable. Tracks recovery, strain, sleep, and biometric trends across continuous monitoring.</a:t>
            </a:r>
          </a:p>
          <a:p>
            <a:pPr marL="285750" indent="-285750">
              <a:lnSpc>
                <a:spcPct val="135000"/>
              </a:lnSpc>
              <a:spcAft>
                <a:spcPts val="600"/>
              </a:spcAft>
              <a:buFont typeface="Arial" panose="020B0604020202020204" pitchFamily="34" charset="0"/>
              <a:buChar char="•"/>
            </a:pPr>
            <a:r>
              <a:rPr lang="en-US" sz="1400" dirty="0"/>
              <a:t>Targeted for professional athletes and serious fitness enthusiasts, particularly in endurance sports and professional leagues</a:t>
            </a:r>
          </a:p>
          <a:p>
            <a:pPr marL="285750" indent="-285750">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Focusing on healthcare reimbursement + women’s health monitoring</a:t>
            </a:r>
          </a:p>
        </p:txBody>
      </p:sp>
      <p:sp>
        <p:nvSpPr>
          <p:cNvPr id="211" name="Card2"/>
          <p:cNvSpPr/>
          <p:nvPr/>
        </p:nvSpPr>
        <p:spPr>
          <a:xfrm>
            <a:off x="364763" y="4057780"/>
            <a:ext cx="5397500" cy="2677410"/>
          </a:xfrm>
          <a:prstGeom prst="roundRect">
            <a:avLst>
              <a:gd name="adj" fmla="val 3000"/>
            </a:avLst>
          </a:prstGeom>
          <a:solidFill>
            <a:srgbClr val="F5F2ED"/>
          </a:solidFill>
          <a:ln>
            <a:noFill/>
          </a:ln>
        </p:spPr>
        <p:txBody>
          <a:bodyPr wrap="square" lIns="152400" tIns="114300" rIns="152400" bIns="114300" anchor="t"/>
          <a:lstStyle/>
          <a:p>
            <a:pPr marL="0" indent="0" algn="l">
              <a:spcAft>
                <a:spcPts val="200"/>
              </a:spcAft>
              <a:buNone/>
            </a:pPr>
            <a:r>
              <a:rPr lang="en-US" sz="1400" b="1" kern="0" spc="100" dirty="0">
                <a:solidFill>
                  <a:srgbClr val="FF5A1F"/>
                </a:solidFill>
                <a:latin typeface="JetBrains Mono" pitchFamily="34" charset="0"/>
                <a:ea typeface="JetBrains Mono" pitchFamily="34" charset="-122"/>
                <a:cs typeface="JetBrains Mono" pitchFamily="34" charset="-120"/>
              </a:rPr>
              <a:t>02</a:t>
            </a:r>
          </a:p>
          <a:p>
            <a:pPr marL="0" indent="0" algn="l">
              <a:spcAft>
                <a:spcPts val="800"/>
              </a:spcAft>
              <a:buNone/>
            </a:pPr>
            <a:r>
              <a:rPr lang="en-US" sz="1500" b="1" kern="0" spc="-10" dirty="0">
                <a:solidFill>
                  <a:srgbClr val="0A0A0A"/>
                </a:solidFill>
                <a:latin typeface="Space Grotesk" pitchFamily="34" charset="0"/>
                <a:ea typeface="Space Grotesk" pitchFamily="34" charset="-122"/>
                <a:cs typeface="Space Grotesk" pitchFamily="34" charset="-120"/>
              </a:rPr>
              <a:t>HOW THEY MAKE MONEY</a:t>
            </a:r>
          </a:p>
          <a:p>
            <a:pPr marL="0" indent="0" algn="l">
              <a:lnSpc>
                <a:spcPct val="135000"/>
              </a:lnSpc>
              <a:spcAft>
                <a:spcPts val="600"/>
              </a:spcAft>
              <a:buNone/>
            </a:pPr>
            <a:r>
              <a:rPr lang="en-US" sz="1400" kern="0" dirty="0">
                <a:solidFill>
                  <a:srgbClr val="3A3A3A"/>
                </a:solidFill>
                <a:latin typeface="JetBrains Mono" pitchFamily="34" charset="0"/>
                <a:ea typeface="JetBrains Mono" pitchFamily="34" charset="-122"/>
                <a:cs typeface="JetBrains Mono" pitchFamily="34" charset="-120"/>
              </a:rPr>
              <a:t>Hardware bundled free with subscription.</a:t>
            </a:r>
          </a:p>
          <a:p>
            <a:pPr marL="285750" indent="-285750" algn="l">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~80% recurring consumer subscription ($199 / $239 / $359 tiers).</a:t>
            </a:r>
          </a:p>
          <a:p>
            <a:pPr marL="285750" indent="-285750" algn="l">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~20% B2B Unite (employer / team contracts).</a:t>
            </a:r>
          </a:p>
          <a:p>
            <a:pPr marL="285750" indent="-285750" algn="l">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78% gross margin — closer to software than hardware.</a:t>
            </a:r>
          </a:p>
        </p:txBody>
      </p:sp>
      <p:sp>
        <p:nvSpPr>
          <p:cNvPr id="212" name="Card3"/>
          <p:cNvSpPr/>
          <p:nvPr/>
        </p:nvSpPr>
        <p:spPr>
          <a:xfrm>
            <a:off x="364763" y="7103334"/>
            <a:ext cx="5397500" cy="2435277"/>
          </a:xfrm>
          <a:prstGeom prst="roundRect">
            <a:avLst>
              <a:gd name="adj" fmla="val 3000"/>
            </a:avLst>
          </a:prstGeom>
          <a:solidFill>
            <a:srgbClr val="F5F2ED"/>
          </a:solidFill>
          <a:ln>
            <a:noFill/>
          </a:ln>
        </p:spPr>
        <p:txBody>
          <a:bodyPr wrap="square" lIns="152400" tIns="114300" rIns="152400" bIns="114300" anchor="t"/>
          <a:lstStyle/>
          <a:p>
            <a:pPr marL="0" indent="0" algn="l">
              <a:spcAft>
                <a:spcPts val="200"/>
              </a:spcAft>
              <a:buNone/>
            </a:pPr>
            <a:r>
              <a:rPr lang="en-US" sz="1400" b="1" kern="0" spc="100" dirty="0">
                <a:solidFill>
                  <a:srgbClr val="FF5A1F"/>
                </a:solidFill>
                <a:latin typeface="JetBrains Mono" pitchFamily="34" charset="0"/>
                <a:ea typeface="JetBrains Mono" pitchFamily="34" charset="-122"/>
                <a:cs typeface="JetBrains Mono" pitchFamily="34" charset="-120"/>
              </a:rPr>
              <a:t>03</a:t>
            </a:r>
          </a:p>
          <a:p>
            <a:pPr marL="0" indent="0" algn="l">
              <a:spcAft>
                <a:spcPts val="800"/>
              </a:spcAft>
              <a:buNone/>
            </a:pPr>
            <a:r>
              <a:rPr lang="en-US" sz="1500" b="1" kern="0" spc="-10" dirty="0">
                <a:solidFill>
                  <a:srgbClr val="0A0A0A"/>
                </a:solidFill>
                <a:latin typeface="Space Grotesk" pitchFamily="34" charset="0"/>
                <a:ea typeface="Space Grotesk" pitchFamily="34" charset="-122"/>
                <a:cs typeface="Space Grotesk" pitchFamily="34" charset="-120"/>
              </a:rPr>
              <a:t>WHY HARD TO VALUE</a:t>
            </a:r>
          </a:p>
          <a:p>
            <a:pPr marL="285750" indent="-285750" algn="l">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No direct public comp. Closest analog (Oura) is private.</a:t>
            </a:r>
          </a:p>
          <a:p>
            <a:pPr marL="285750" indent="-285750" algn="l">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Hardware comps undervalue the recurring base.</a:t>
            </a:r>
          </a:p>
          <a:p>
            <a:pPr marL="285750" indent="-285750" algn="l">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Subscription comps don't capture healthcare optionality.</a:t>
            </a:r>
          </a:p>
          <a:p>
            <a:pPr marL="285750" indent="-285750" algn="l">
              <a:lnSpc>
                <a:spcPct val="135000"/>
              </a:lnSpc>
              <a:spcAft>
                <a:spcPts val="600"/>
              </a:spcAft>
              <a:buFont typeface="Arial" panose="020B0604020202020204" pitchFamily="34" charset="0"/>
              <a:buChar char="•"/>
            </a:pPr>
            <a:r>
              <a:rPr lang="en-US" sz="1400" kern="0" dirty="0">
                <a:solidFill>
                  <a:srgbClr val="3A3A3A"/>
                </a:solidFill>
                <a:latin typeface="JetBrains Mono" pitchFamily="34" charset="0"/>
                <a:ea typeface="JetBrains Mono" pitchFamily="34" charset="-122"/>
                <a:cs typeface="JetBrains Mono" pitchFamily="34" charset="-120"/>
              </a:rPr>
              <a:t>Health-data comps just compressed 50–67% on the public side.</a:t>
            </a:r>
          </a:p>
        </p:txBody>
      </p:sp>
      <p:pic>
        <p:nvPicPr>
          <p:cNvPr id="1028" name="Picture 4" descr="WHOOP STRAP - Products We Use">
            <a:extLst>
              <a:ext uri="{FF2B5EF4-FFF2-40B4-BE49-F238E27FC236}">
                <a16:creationId xmlns:a16="http://schemas.microsoft.com/office/drawing/2014/main" id="{99FAFE88-9B55-E914-42B8-F956918E0760}"/>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0030" t="14787" r="21046" b="15192"/>
          <a:stretch>
            <a:fillRect/>
          </a:stretch>
        </p:blipFill>
        <p:spPr bwMode="auto">
          <a:xfrm>
            <a:off x="7213598" y="1794994"/>
            <a:ext cx="6061439" cy="720298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FFC31ED-5155-E6C2-C4E5-56A849C8A5E3}"/>
              </a:ext>
            </a:extLst>
          </p:cNvPr>
          <p:cNvSpPr txBox="1"/>
          <p:nvPr/>
        </p:nvSpPr>
        <p:spPr>
          <a:xfrm>
            <a:off x="6464300" y="842590"/>
            <a:ext cx="10849509" cy="707886"/>
          </a:xfrm>
          <a:prstGeom prst="rect">
            <a:avLst/>
          </a:prstGeom>
          <a:noFill/>
        </p:spPr>
        <p:txBody>
          <a:bodyPr wrap="square">
            <a:spAutoFit/>
          </a:bodyPr>
          <a:lstStyle/>
          <a:p>
            <a:pPr algn="l">
              <a:spcBef>
                <a:spcPts val="600"/>
              </a:spcBef>
              <a:buNone/>
            </a:pPr>
            <a:r>
              <a:rPr lang="en-US" sz="4000" b="1" i="0" dirty="0">
                <a:solidFill>
                  <a:srgbClr val="0A0A0A"/>
                </a:solidFill>
                <a:effectLst/>
                <a:latin typeface="Inter Tight"/>
              </a:rPr>
              <a:t>A premium wearable with </a:t>
            </a:r>
            <a:r>
              <a:rPr lang="en-US" sz="4000" b="1" i="0" dirty="0">
                <a:solidFill>
                  <a:srgbClr val="E63425"/>
                </a:solidFill>
                <a:effectLst/>
                <a:latin typeface="Inter Tight"/>
              </a:rPr>
              <a:t>healthcare ambitions.</a:t>
            </a:r>
            <a:endParaRPr lang="en-US" sz="4000" b="1" i="0" dirty="0">
              <a:solidFill>
                <a:srgbClr val="0A0A0A"/>
              </a:solidFill>
              <a:effectLst/>
              <a:latin typeface="Inter Tight"/>
            </a:endParaRPr>
          </a:p>
        </p:txBody>
      </p:sp>
      <p:sp>
        <p:nvSpPr>
          <p:cNvPr id="15" name="TextBox 14">
            <a:extLst>
              <a:ext uri="{FF2B5EF4-FFF2-40B4-BE49-F238E27FC236}">
                <a16:creationId xmlns:a16="http://schemas.microsoft.com/office/drawing/2014/main" id="{AD0B2FBF-0B18-004B-E9EF-37B0AB9BD890}"/>
              </a:ext>
            </a:extLst>
          </p:cNvPr>
          <p:cNvSpPr txBox="1"/>
          <p:nvPr/>
        </p:nvSpPr>
        <p:spPr>
          <a:xfrm>
            <a:off x="14249400" y="2974539"/>
            <a:ext cx="1892300" cy="2862322"/>
          </a:xfrm>
          <a:prstGeom prst="rect">
            <a:avLst/>
          </a:prstGeom>
          <a:noFill/>
        </p:spPr>
        <p:txBody>
          <a:bodyPr wrap="square">
            <a:spAutoFit/>
          </a:bodyPr>
          <a:lstStyle/>
          <a:p>
            <a:pPr algn="l">
              <a:buNone/>
            </a:pPr>
            <a:r>
              <a:rPr lang="en-US" b="0" i="0" cap="all" dirty="0">
                <a:solidFill>
                  <a:srgbClr val="5A5A5A"/>
                </a:solidFill>
                <a:effectLst/>
                <a:latin typeface="JetBrains Mono"/>
              </a:rPr>
              <a:t>Round mechanics</a:t>
            </a:r>
          </a:p>
          <a:p>
            <a:pPr algn="l">
              <a:buNone/>
            </a:pPr>
            <a:r>
              <a:rPr lang="en-US" b="1" i="0" dirty="0">
                <a:solidFill>
                  <a:srgbClr val="E63425"/>
                </a:solidFill>
                <a:effectLst/>
                <a:latin typeface="JetBrains Mono"/>
              </a:rPr>
              <a:t>$575M</a:t>
            </a:r>
          </a:p>
          <a:p>
            <a:pPr algn="l">
              <a:buNone/>
            </a:pPr>
            <a:r>
              <a:rPr lang="en-US" b="0" i="0" dirty="0">
                <a:solidFill>
                  <a:srgbClr val="5A5A5A"/>
                </a:solidFill>
                <a:effectLst/>
                <a:latin typeface="Inter Tight"/>
              </a:rPr>
              <a:t>Series G raise</a:t>
            </a:r>
          </a:p>
          <a:p>
            <a:pPr algn="l">
              <a:buNone/>
            </a:pPr>
            <a:r>
              <a:rPr lang="en-US" b="1" i="0" dirty="0">
                <a:solidFill>
                  <a:srgbClr val="E63425"/>
                </a:solidFill>
                <a:effectLst/>
                <a:latin typeface="JetBrains Mono"/>
              </a:rPr>
              <a:t>$10.1B</a:t>
            </a:r>
          </a:p>
          <a:p>
            <a:pPr algn="l">
              <a:buNone/>
            </a:pPr>
            <a:r>
              <a:rPr lang="en-US" b="0" i="0" dirty="0">
                <a:solidFill>
                  <a:srgbClr val="5A5A5A"/>
                </a:solidFill>
                <a:effectLst/>
                <a:latin typeface="Inter Tight"/>
              </a:rPr>
              <a:t>Post-money</a:t>
            </a:r>
          </a:p>
          <a:p>
            <a:pPr algn="l">
              <a:buNone/>
            </a:pPr>
            <a:r>
              <a:rPr lang="en-US" b="1" i="0" dirty="0">
                <a:solidFill>
                  <a:srgbClr val="0A0A0A"/>
                </a:solidFill>
                <a:effectLst/>
                <a:latin typeface="JetBrains Mono"/>
              </a:rPr>
              <a:t>$3.6B</a:t>
            </a:r>
          </a:p>
          <a:p>
            <a:pPr algn="l">
              <a:buNone/>
            </a:pPr>
            <a:r>
              <a:rPr lang="en-US" b="0" i="0" dirty="0">
                <a:solidFill>
                  <a:srgbClr val="5A5A5A"/>
                </a:solidFill>
                <a:effectLst/>
                <a:latin typeface="Inter Tight"/>
              </a:rPr>
              <a:t>Series F (2021)</a:t>
            </a:r>
          </a:p>
          <a:p>
            <a:pPr algn="l">
              <a:buNone/>
            </a:pPr>
            <a:r>
              <a:rPr lang="en-US" b="1" i="0" dirty="0">
                <a:solidFill>
                  <a:srgbClr val="0A0A0A"/>
                </a:solidFill>
                <a:effectLst/>
                <a:latin typeface="JetBrains Mono"/>
              </a:rPr>
              <a:t>2.8×</a:t>
            </a:r>
          </a:p>
          <a:p>
            <a:pPr algn="l">
              <a:buNone/>
            </a:pPr>
            <a:r>
              <a:rPr lang="en-US" b="0" i="0" dirty="0">
                <a:solidFill>
                  <a:srgbClr val="5A5A5A"/>
                </a:solidFill>
                <a:effectLst/>
                <a:latin typeface="Inter Tight"/>
              </a:rPr>
              <a:t>F → G step-up</a:t>
            </a:r>
          </a:p>
        </p:txBody>
      </p:sp>
    </p:spTree>
    <p:extLst>
      <p:ext uri="{BB962C8B-B14F-4D97-AF65-F5344CB8AC3E}">
        <p14:creationId xmlns:p14="http://schemas.microsoft.com/office/powerpoint/2010/main" val="67112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5668625" y="450056"/>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02 / 12</a:t>
            </a:r>
            <a:endParaRPr lang="en-US" sz="1050" dirty="0"/>
          </a:p>
        </p:txBody>
      </p:sp>
      <p:sp>
        <p:nvSpPr>
          <p:cNvPr id="4" name="Text 2"/>
          <p:cNvSpPr/>
          <p:nvPr/>
        </p:nvSpPr>
        <p:spPr>
          <a:xfrm>
            <a:off x="16546041" y="342900"/>
            <a:ext cx="865659"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IDENTITY</a:t>
            </a:r>
            <a:endParaRPr lang="en-US" sz="1050" dirty="0"/>
          </a:p>
        </p:txBody>
      </p:sp>
      <p:sp>
        <p:nvSpPr>
          <p:cNvPr id="6" name="Text 4"/>
          <p:cNvSpPr/>
          <p:nvPr/>
        </p:nvSpPr>
        <p:spPr>
          <a:xfrm>
            <a:off x="952500" y="1409700"/>
            <a:ext cx="16874490" cy="63244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a:t>Business Model + Industry Outlook (</a:t>
            </a:r>
            <a:r>
              <a:rPr lang="en-US" sz="4500">
                <a:hlinkClick r:id="rId3"/>
              </a:rPr>
              <a:t>TAM Expansion</a:t>
            </a:r>
            <a:r>
              <a:rPr lang="en-US" sz="4500"/>
              <a:t>). </a:t>
            </a:r>
            <a:endParaRPr lang="en-US" sz="4500" dirty="0"/>
          </a:p>
        </p:txBody>
      </p:sp>
      <p:sp>
        <p:nvSpPr>
          <p:cNvPr id="7" name="Text 5"/>
          <p:cNvSpPr/>
          <p:nvPr/>
        </p:nvSpPr>
        <p:spPr>
          <a:xfrm>
            <a:off x="952500" y="2137395"/>
            <a:ext cx="14716125" cy="73149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10" dirty="0">
                <a:solidFill>
                  <a:srgbClr val="3A3A3A"/>
                </a:solidFill>
                <a:latin typeface="Space Grotesk" pitchFamily="34" charset="0"/>
                <a:ea typeface="Space Grotesk" pitchFamily="34" charset="-122"/>
                <a:cs typeface="Space Grotesk" pitchFamily="34" charset="-120"/>
              </a:rPr>
              <a:t>WHOOP is simultaneously a hardware OEM, a subscription business, and a health-data platform. The comp set you choose </a:t>
            </a:r>
            <a:r>
              <a:rPr lang="en-US" sz="1950" kern="0" spc="-10" dirty="0">
                <a:solidFill>
                  <a:srgbClr val="FF5A1F"/>
                </a:solidFill>
                <a:latin typeface="Space Grotesk" pitchFamily="34" charset="0"/>
                <a:ea typeface="Space Grotesk" pitchFamily="34" charset="-122"/>
                <a:cs typeface="Space Grotesk" pitchFamily="34" charset="-120"/>
              </a:rPr>
              <a:t>pre-determines </a:t>
            </a:r>
            <a:r>
              <a:rPr lang="en-US" sz="1950" kern="0" spc="-10" dirty="0">
                <a:solidFill>
                  <a:srgbClr val="3A3A3A"/>
                </a:solidFill>
                <a:latin typeface="Space Grotesk" pitchFamily="34" charset="0"/>
                <a:ea typeface="Space Grotesk" pitchFamily="34" charset="-122"/>
                <a:cs typeface="Space Grotesk" pitchFamily="34" charset="-120"/>
              </a:rPr>
              <a:t>your answer.</a:t>
            </a:r>
            <a:endParaRPr lang="en-US" sz="1950" dirty="0"/>
          </a:p>
        </p:txBody>
      </p:sp>
      <p:pic>
        <p:nvPicPr>
          <p:cNvPr id="8" name="Image 0" descr="preencoded.png"/>
          <p:cNvPicPr>
            <a:picLocks noChangeAspect="1"/>
          </p:cNvPicPr>
          <p:nvPr/>
        </p:nvPicPr>
        <p:blipFill>
          <a:blip r:embed="rId4"/>
          <a:stretch>
            <a:fillRect/>
          </a:stretch>
        </p:blipFill>
        <p:spPr>
          <a:xfrm>
            <a:off x="1428750" y="3554685"/>
            <a:ext cx="7429500" cy="3619500"/>
          </a:xfrm>
          <a:prstGeom prst="rect">
            <a:avLst/>
          </a:prstGeom>
        </p:spPr>
      </p:pic>
      <p:sp>
        <p:nvSpPr>
          <p:cNvPr id="9" name="Text 6"/>
          <p:cNvSpPr/>
          <p:nvPr/>
        </p:nvSpPr>
        <p:spPr>
          <a:xfrm>
            <a:off x="3769995" y="3135585"/>
            <a:ext cx="2747010" cy="304800"/>
          </a:xfrm>
          <a:prstGeom prst="rect">
            <a:avLst/>
          </a:prstGeom>
          <a:noFill/>
          <a:ln/>
        </p:spPr>
        <p:txBody>
          <a:bodyPr wrap="square" lIns="25400" tIns="25400" rIns="25400" bIns="25400" rtlCol="0" anchor="t">
            <a:normAutofit/>
          </a:bodyPr>
          <a:lstStyle/>
          <a:p>
            <a:pPr marL="0" indent="0" algn="ctr">
              <a:buNone/>
            </a:pPr>
            <a:r>
              <a:rPr lang="en-US" sz="1650" b="1" kern="0" spc="-8" dirty="0">
                <a:solidFill>
                  <a:srgbClr val="D14B2A"/>
                </a:solidFill>
                <a:latin typeface="Space Grotesk" pitchFamily="34" charset="0"/>
                <a:ea typeface="Space Grotesk" pitchFamily="34" charset="-122"/>
                <a:cs typeface="Space Grotesk" pitchFamily="34" charset="-120"/>
              </a:rPr>
              <a:t>Consumer Hardware</a:t>
            </a:r>
            <a:endParaRPr lang="en-US" sz="1650" dirty="0"/>
          </a:p>
        </p:txBody>
      </p:sp>
      <p:sp>
        <p:nvSpPr>
          <p:cNvPr id="10" name="Text 7"/>
          <p:cNvSpPr/>
          <p:nvPr/>
        </p:nvSpPr>
        <p:spPr>
          <a:xfrm>
            <a:off x="3769995" y="3440385"/>
            <a:ext cx="2747010" cy="214313"/>
          </a:xfrm>
          <a:prstGeom prst="rect">
            <a:avLst/>
          </a:prstGeom>
          <a:noFill/>
          <a:ln/>
        </p:spPr>
        <p:txBody>
          <a:bodyPr wrap="square" lIns="25400" tIns="25400" rIns="25400" bIns="25400" rtlCol="0" anchor="t">
            <a:normAutofit/>
          </a:bodyPr>
          <a:lstStyle/>
          <a:p>
            <a:pPr marL="0" indent="0" algn="ctr">
              <a:buNone/>
            </a:pPr>
            <a:r>
              <a:rPr lang="en-US" sz="1050" kern="0" spc="126" dirty="0">
                <a:solidFill>
                  <a:srgbClr val="D14B2A"/>
                </a:solidFill>
                <a:latin typeface="JetBrains Mono" pitchFamily="34" charset="0"/>
                <a:ea typeface="JetBrains Mono" pitchFamily="34" charset="-122"/>
                <a:cs typeface="JetBrains Mono" pitchFamily="34" charset="-120"/>
              </a:rPr>
              <a:t>GARMIN · FITBIT · GOPRO</a:t>
            </a:r>
            <a:endParaRPr lang="en-US" sz="1050" dirty="0"/>
          </a:p>
        </p:txBody>
      </p:sp>
      <p:sp>
        <p:nvSpPr>
          <p:cNvPr id="11" name="Text 8"/>
          <p:cNvSpPr/>
          <p:nvPr/>
        </p:nvSpPr>
        <p:spPr>
          <a:xfrm>
            <a:off x="642149" y="7463730"/>
            <a:ext cx="2747010" cy="304800"/>
          </a:xfrm>
          <a:prstGeom prst="rect">
            <a:avLst/>
          </a:prstGeom>
          <a:noFill/>
          <a:ln/>
        </p:spPr>
        <p:txBody>
          <a:bodyPr wrap="square" lIns="25400" tIns="25400" rIns="25400" bIns="25400" rtlCol="0" anchor="t">
            <a:normAutofit/>
          </a:bodyPr>
          <a:lstStyle/>
          <a:p>
            <a:pPr marL="0" indent="0" algn="ctr">
              <a:buNone/>
            </a:pPr>
            <a:r>
              <a:rPr lang="en-US" sz="1650" b="1" kern="0" spc="-8" dirty="0">
                <a:solidFill>
                  <a:srgbClr val="1F4FB5"/>
                </a:solidFill>
                <a:latin typeface="Space Grotesk" pitchFamily="34" charset="0"/>
                <a:ea typeface="Space Grotesk" pitchFamily="34" charset="-122"/>
                <a:cs typeface="Space Grotesk" pitchFamily="34" charset="-120"/>
              </a:rPr>
              <a:t>Consumer Subscription</a:t>
            </a:r>
            <a:endParaRPr lang="en-US" sz="1650" dirty="0"/>
          </a:p>
        </p:txBody>
      </p:sp>
      <p:sp>
        <p:nvSpPr>
          <p:cNvPr id="12" name="Text 9"/>
          <p:cNvSpPr/>
          <p:nvPr/>
        </p:nvSpPr>
        <p:spPr>
          <a:xfrm>
            <a:off x="642149" y="7768530"/>
            <a:ext cx="2747010" cy="214313"/>
          </a:xfrm>
          <a:prstGeom prst="rect">
            <a:avLst/>
          </a:prstGeom>
          <a:noFill/>
          <a:ln/>
        </p:spPr>
        <p:txBody>
          <a:bodyPr wrap="square" lIns="25400" tIns="25400" rIns="25400" bIns="25400" rtlCol="0" anchor="t">
            <a:normAutofit/>
          </a:bodyPr>
          <a:lstStyle/>
          <a:p>
            <a:pPr marL="0" indent="0" algn="ctr">
              <a:buNone/>
            </a:pPr>
            <a:r>
              <a:rPr lang="en-US" sz="1050" kern="0" spc="126" dirty="0">
                <a:solidFill>
                  <a:srgbClr val="1F4FB5"/>
                </a:solidFill>
                <a:latin typeface="JetBrains Mono" pitchFamily="34" charset="0"/>
                <a:ea typeface="JetBrains Mono" pitchFamily="34" charset="-122"/>
                <a:cs typeface="JetBrains Mono" pitchFamily="34" charset="-120"/>
              </a:rPr>
              <a:t>PELOTON · SONOS · ROKU</a:t>
            </a:r>
            <a:endParaRPr lang="en-US" sz="1050" dirty="0"/>
          </a:p>
        </p:txBody>
      </p:sp>
      <p:sp>
        <p:nvSpPr>
          <p:cNvPr id="13" name="Text 10"/>
          <p:cNvSpPr/>
          <p:nvPr/>
        </p:nvSpPr>
        <p:spPr>
          <a:xfrm>
            <a:off x="6890325" y="7463730"/>
            <a:ext cx="2747010" cy="304800"/>
          </a:xfrm>
          <a:prstGeom prst="rect">
            <a:avLst/>
          </a:prstGeom>
          <a:noFill/>
          <a:ln/>
        </p:spPr>
        <p:txBody>
          <a:bodyPr wrap="square" lIns="25400" tIns="25400" rIns="25400" bIns="25400" rtlCol="0" anchor="t">
            <a:normAutofit/>
          </a:bodyPr>
          <a:lstStyle/>
          <a:p>
            <a:pPr marL="0" indent="0" algn="ctr">
              <a:buNone/>
            </a:pPr>
            <a:r>
              <a:rPr lang="en-US" sz="1650" b="1" kern="0" spc="-8" dirty="0">
                <a:solidFill>
                  <a:srgbClr val="1F7A3D"/>
                </a:solidFill>
                <a:latin typeface="Space Grotesk" pitchFamily="34" charset="0"/>
                <a:ea typeface="Space Grotesk" pitchFamily="34" charset="-122"/>
                <a:cs typeface="Space Grotesk" pitchFamily="34" charset="-120"/>
              </a:rPr>
              <a:t>Health Data Platform</a:t>
            </a:r>
            <a:endParaRPr lang="en-US" sz="1650" dirty="0"/>
          </a:p>
        </p:txBody>
      </p:sp>
      <p:sp>
        <p:nvSpPr>
          <p:cNvPr id="14" name="Text 11"/>
          <p:cNvSpPr/>
          <p:nvPr/>
        </p:nvSpPr>
        <p:spPr>
          <a:xfrm>
            <a:off x="6890325" y="7768530"/>
            <a:ext cx="2747010" cy="214313"/>
          </a:xfrm>
          <a:prstGeom prst="rect">
            <a:avLst/>
          </a:prstGeom>
          <a:noFill/>
          <a:ln/>
        </p:spPr>
        <p:txBody>
          <a:bodyPr wrap="square" lIns="25400" tIns="25400" rIns="25400" bIns="25400" rtlCol="0" anchor="t">
            <a:normAutofit/>
          </a:bodyPr>
          <a:lstStyle/>
          <a:p>
            <a:pPr marL="0" indent="0" algn="ctr">
              <a:buNone/>
            </a:pPr>
            <a:r>
              <a:rPr lang="en-US" sz="1050" kern="0" spc="126" dirty="0">
                <a:solidFill>
                  <a:srgbClr val="1F7A3D"/>
                </a:solidFill>
                <a:latin typeface="JetBrains Mono" pitchFamily="34" charset="0"/>
                <a:ea typeface="JetBrains Mono" pitchFamily="34" charset="-122"/>
                <a:cs typeface="JetBrains Mono" pitchFamily="34" charset="-120"/>
              </a:rPr>
              <a:t>DEXCOM · MASIMO · IRHYTHM</a:t>
            </a:r>
            <a:endParaRPr lang="en-US" sz="1050" dirty="0"/>
          </a:p>
        </p:txBody>
      </p:sp>
      <p:sp>
        <p:nvSpPr>
          <p:cNvPr id="15" name="Shape 12"/>
          <p:cNvSpPr/>
          <p:nvPr/>
        </p:nvSpPr>
        <p:spPr>
          <a:xfrm>
            <a:off x="3649117" y="5528742"/>
            <a:ext cx="2988766" cy="395288"/>
          </a:xfrm>
          <a:prstGeom prst="roundRect">
            <a:avLst>
              <a:gd name="adj" fmla="val 50000"/>
            </a:avLst>
          </a:prstGeom>
          <a:solidFill>
            <a:srgbClr val="FFFFFF"/>
          </a:solidFill>
          <a:ln w="19050">
            <a:solidFill>
              <a:srgbClr val="FF5A1F"/>
            </a:solidFill>
            <a:prstDash val="solid"/>
          </a:ln>
        </p:spPr>
        <p:txBody>
          <a:bodyPr/>
          <a:lstStyle/>
          <a:p>
            <a:endParaRPr lang="en-US"/>
          </a:p>
        </p:txBody>
      </p:sp>
      <p:sp>
        <p:nvSpPr>
          <p:cNvPr id="16" name="Text 13"/>
          <p:cNvSpPr/>
          <p:nvPr/>
        </p:nvSpPr>
        <p:spPr>
          <a:xfrm>
            <a:off x="3794785" y="5643042"/>
            <a:ext cx="2697429" cy="204788"/>
          </a:xfrm>
          <a:prstGeom prst="rect">
            <a:avLst/>
          </a:prstGeom>
          <a:noFill/>
          <a:ln/>
        </p:spPr>
        <p:txBody>
          <a:bodyPr wrap="square" lIns="25400" tIns="25400" rIns="25400" bIns="25400" rtlCol="0" anchor="t">
            <a:normAutofit/>
          </a:bodyPr>
          <a:lstStyle/>
          <a:p>
            <a:pPr marL="0" indent="0" algn="ctr">
              <a:buNone/>
            </a:pPr>
            <a:r>
              <a:rPr lang="en-US" sz="975" b="1" kern="0" spc="176" dirty="0">
                <a:solidFill>
                  <a:srgbClr val="FF5A1F"/>
                </a:solidFill>
                <a:latin typeface="JetBrains Mono" pitchFamily="34" charset="0"/>
                <a:ea typeface="JetBrains Mono" pitchFamily="34" charset="-122"/>
                <a:cs typeface="JetBrains Mono" pitchFamily="34" charset="-120"/>
              </a:rPr>
              <a:t>WHOOP — AT THE INTERSECTION</a:t>
            </a:r>
            <a:endParaRPr lang="en-US" sz="975" dirty="0"/>
          </a:p>
        </p:txBody>
      </p:sp>
      <p:sp>
        <p:nvSpPr>
          <p:cNvPr id="45" name="Text 42"/>
          <p:cNvSpPr/>
          <p:nvPr/>
        </p:nvSpPr>
        <p:spPr>
          <a:xfrm>
            <a:off x="952500" y="9767888"/>
            <a:ext cx="4878702"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IDENTITY DRIVES THE MULTIPLE. WE TEST ALL THREE.</a:t>
            </a:r>
            <a:endParaRPr lang="en-US" sz="1050" dirty="0"/>
          </a:p>
        </p:txBody>
      </p:sp>
      <p:pic>
        <p:nvPicPr>
          <p:cNvPr id="5" name="Picture 4">
            <a:extLst>
              <a:ext uri="{FF2B5EF4-FFF2-40B4-BE49-F238E27FC236}">
                <a16:creationId xmlns:a16="http://schemas.microsoft.com/office/drawing/2014/main" id="{84803A74-7CF6-C6E1-DB04-3DD7062CEC85}"/>
              </a:ext>
            </a:extLst>
          </p:cNvPr>
          <p:cNvPicPr>
            <a:picLocks noChangeAspect="1"/>
          </p:cNvPicPr>
          <p:nvPr/>
        </p:nvPicPr>
        <p:blipFill>
          <a:blip r:embed="rId5"/>
          <a:srcRect b="2605"/>
          <a:stretch>
            <a:fillRect/>
          </a:stretch>
        </p:blipFill>
        <p:spPr>
          <a:xfrm>
            <a:off x="9707596" y="2964135"/>
            <a:ext cx="8119394" cy="56171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a:solidFill>
                  <a:srgbClr val="0A0A0A"/>
                </a:solidFill>
                <a:latin typeface="JetBrains Mono" pitchFamily="34" charset="0"/>
                <a:ea typeface="JetBrains Mono" pitchFamily="34" charset="-122"/>
                <a:cs typeface="JetBrains Mono" pitchFamily="34" charset="-120"/>
              </a:rPr>
              <a:t>VALUATION</a:t>
            </a:r>
            <a:r>
              <a:rPr lang="en-US" sz="1050" b="1" kern="0" spc="336">
                <a:solidFill>
                  <a:srgbClr val="FF5A1F"/>
                </a:solidFill>
                <a:latin typeface="JetBrains Mono" pitchFamily="34" charset="0"/>
                <a:ea typeface="JetBrains Mono" pitchFamily="34" charset="-122"/>
                <a:cs typeface="JetBrains Mono" pitchFamily="34" charset="-120"/>
              </a:rPr>
              <a:t>.</a:t>
            </a:r>
            <a:endParaRPr lang="en-US" sz="1050"/>
          </a:p>
        </p:txBody>
      </p:sp>
      <p:sp>
        <p:nvSpPr>
          <p:cNvPr id="3" name="Text 1"/>
          <p:cNvSpPr/>
          <p:nvPr/>
        </p:nvSpPr>
        <p:spPr>
          <a:xfrm>
            <a:off x="15824002"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a:solidFill>
                  <a:srgbClr val="7A776E"/>
                </a:solidFill>
                <a:latin typeface="JetBrains Mono" pitchFamily="34" charset="0"/>
                <a:ea typeface="JetBrains Mono" pitchFamily="34" charset="-122"/>
                <a:cs typeface="JetBrains Mono" pitchFamily="34" charset="-120"/>
              </a:rPr>
              <a:t>03 / 12</a:t>
            </a:r>
            <a:endParaRPr lang="en-US" sz="1050"/>
          </a:p>
        </p:txBody>
      </p:sp>
      <p:sp>
        <p:nvSpPr>
          <p:cNvPr id="4" name="Text 2"/>
          <p:cNvSpPr/>
          <p:nvPr/>
        </p:nvSpPr>
        <p:spPr>
          <a:xfrm>
            <a:off x="16743387" y="342900"/>
            <a:ext cx="668313" cy="214313"/>
          </a:xfrm>
          <a:prstGeom prst="rect">
            <a:avLst/>
          </a:prstGeom>
          <a:noFill/>
          <a:ln/>
        </p:spPr>
        <p:txBody>
          <a:bodyPr wrap="square" lIns="25400" tIns="25400" rIns="25400" bIns="25400" rtlCol="0" anchor="t">
            <a:normAutofit/>
          </a:bodyPr>
          <a:lstStyle/>
          <a:p>
            <a:pPr marL="0" indent="0" algn="l">
              <a:buNone/>
            </a:pPr>
            <a:r>
              <a:rPr lang="en-US" sz="1050" kern="0" spc="147">
                <a:solidFill>
                  <a:srgbClr val="7A776E"/>
                </a:solidFill>
                <a:latin typeface="JetBrains Mono" pitchFamily="34" charset="0"/>
                <a:ea typeface="JetBrains Mono" pitchFamily="34" charset="-122"/>
                <a:cs typeface="JetBrains Mono" pitchFamily="34" charset="-120"/>
              </a:rPr>
              <a:t>METHOD</a:t>
            </a:r>
            <a:endParaRPr lang="en-US" sz="1050"/>
          </a:p>
        </p:txBody>
      </p:sp>
      <p:sp>
        <p:nvSpPr>
          <p:cNvPr id="6" name="Text 4"/>
          <p:cNvSpPr/>
          <p:nvPr/>
        </p:nvSpPr>
        <p:spPr>
          <a:xfrm>
            <a:off x="706755" y="855909"/>
            <a:ext cx="16874490" cy="632445"/>
          </a:xfrm>
          <a:prstGeom prst="rect">
            <a:avLst/>
          </a:prstGeom>
          <a:noFill/>
          <a:ln/>
        </p:spPr>
        <p:txBody>
          <a:bodyPr wrap="square" lIns="25400" tIns="25400" rIns="25400" bIns="25400" rtlCol="0" anchor="t">
            <a:normAutofit fontScale="92500" lnSpcReduction="20000"/>
          </a:bodyPr>
          <a:lstStyle/>
          <a:p>
            <a:pPr>
              <a:lnSpc>
                <a:spcPct val="104000"/>
              </a:lnSpc>
            </a:pPr>
            <a:r>
              <a:rPr lang="en-US" sz="4500"/>
              <a:t>Separating consumer subscription economics with healthcare optionality.</a:t>
            </a:r>
          </a:p>
        </p:txBody>
      </p:sp>
      <p:sp>
        <p:nvSpPr>
          <p:cNvPr id="7" name="TextBox 6">
            <a:extLst>
              <a:ext uri="{FF2B5EF4-FFF2-40B4-BE49-F238E27FC236}">
                <a16:creationId xmlns:a16="http://schemas.microsoft.com/office/drawing/2014/main" id="{E3667899-8BF6-FC5F-30E7-BBE7BF5026E7}"/>
              </a:ext>
            </a:extLst>
          </p:cNvPr>
          <p:cNvSpPr txBox="1"/>
          <p:nvPr/>
        </p:nvSpPr>
        <p:spPr>
          <a:xfrm>
            <a:off x="1081825" y="1996224"/>
            <a:ext cx="2614412" cy="369332"/>
          </a:xfrm>
          <a:prstGeom prst="rect">
            <a:avLst/>
          </a:prstGeom>
          <a:noFill/>
        </p:spPr>
        <p:txBody>
          <a:bodyPr wrap="square" rtlCol="0">
            <a:spAutoFit/>
          </a:bodyPr>
          <a:lstStyle/>
          <a:p>
            <a:r>
              <a:rPr lang="en-US"/>
              <a:t>Intrinsic Layer</a:t>
            </a:r>
          </a:p>
        </p:txBody>
      </p:sp>
      <p:graphicFrame>
        <p:nvGraphicFramePr>
          <p:cNvPr id="72" name="Table 71">
            <a:extLst>
              <a:ext uri="{FF2B5EF4-FFF2-40B4-BE49-F238E27FC236}">
                <a16:creationId xmlns:a16="http://schemas.microsoft.com/office/drawing/2014/main" id="{47AF8CDF-F4E9-322B-781A-ACD28D2CC4B1}"/>
              </a:ext>
            </a:extLst>
          </p:cNvPr>
          <p:cNvGraphicFramePr>
            <a:graphicFrameLocks noGrp="1"/>
          </p:cNvGraphicFramePr>
          <p:nvPr>
            <p:extLst>
              <p:ext uri="{D42A27DB-BD31-4B8C-83A1-F6EECF244321}">
                <p14:modId xmlns:p14="http://schemas.microsoft.com/office/powerpoint/2010/main" val="3663230894"/>
              </p:ext>
            </p:extLst>
          </p:nvPr>
        </p:nvGraphicFramePr>
        <p:xfrm>
          <a:off x="9144000" y="1657006"/>
          <a:ext cx="8955645" cy="4206240"/>
        </p:xfrm>
        <a:graphic>
          <a:graphicData uri="http://schemas.openxmlformats.org/drawingml/2006/table">
            <a:tbl>
              <a:tblPr/>
              <a:tblGrid>
                <a:gridCol w="2985215">
                  <a:extLst>
                    <a:ext uri="{9D8B030D-6E8A-4147-A177-3AD203B41FA5}">
                      <a16:colId xmlns:a16="http://schemas.microsoft.com/office/drawing/2014/main" val="2518052512"/>
                    </a:ext>
                  </a:extLst>
                </a:gridCol>
                <a:gridCol w="2985215">
                  <a:extLst>
                    <a:ext uri="{9D8B030D-6E8A-4147-A177-3AD203B41FA5}">
                      <a16:colId xmlns:a16="http://schemas.microsoft.com/office/drawing/2014/main" val="1454875106"/>
                    </a:ext>
                  </a:extLst>
                </a:gridCol>
                <a:gridCol w="2985215">
                  <a:extLst>
                    <a:ext uri="{9D8B030D-6E8A-4147-A177-3AD203B41FA5}">
                      <a16:colId xmlns:a16="http://schemas.microsoft.com/office/drawing/2014/main" val="1214337317"/>
                    </a:ext>
                  </a:extLst>
                </a:gridCol>
              </a:tblGrid>
              <a:tr h="0">
                <a:tc>
                  <a:txBody>
                    <a:bodyPr/>
                    <a:lstStyle/>
                    <a:p>
                      <a:pPr>
                        <a:buNone/>
                      </a:pPr>
                      <a:r>
                        <a:rPr lang="en-US"/>
                        <a:t>Approach</a:t>
                      </a:r>
                    </a:p>
                  </a:txBody>
                  <a:tcPr anchor="ctr">
                    <a:lnL>
                      <a:noFill/>
                    </a:lnL>
                    <a:lnR>
                      <a:noFill/>
                    </a:lnR>
                    <a:lnT>
                      <a:noFill/>
                    </a:lnT>
                    <a:lnB>
                      <a:noFill/>
                    </a:lnB>
                    <a:noFill/>
                  </a:tcPr>
                </a:tc>
                <a:tc>
                  <a:txBody>
                    <a:bodyPr/>
                    <a:lstStyle/>
                    <a:p>
                      <a:pPr>
                        <a:buNone/>
                      </a:pPr>
                      <a:r>
                        <a:rPr lang="en-US"/>
                        <a:t>What it does</a:t>
                      </a:r>
                    </a:p>
                  </a:txBody>
                  <a:tcPr anchor="ctr">
                    <a:lnL>
                      <a:noFill/>
                    </a:lnL>
                    <a:lnR>
                      <a:noFill/>
                    </a:lnR>
                    <a:lnT>
                      <a:noFill/>
                    </a:lnT>
                    <a:lnB>
                      <a:noFill/>
                    </a:lnB>
                    <a:noFill/>
                  </a:tcPr>
                </a:tc>
                <a:tc>
                  <a:txBody>
                    <a:bodyPr/>
                    <a:lstStyle/>
                    <a:p>
                      <a:pPr>
                        <a:buNone/>
                      </a:pPr>
                      <a:r>
                        <a:rPr lang="en-US"/>
                        <a:t>Why we rejected / adopted</a:t>
                      </a:r>
                    </a:p>
                  </a:txBody>
                  <a:tcPr anchor="ctr">
                    <a:lnL>
                      <a:noFill/>
                    </a:lnL>
                    <a:lnR>
                      <a:noFill/>
                    </a:lnR>
                    <a:lnT>
                      <a:noFill/>
                    </a:lnT>
                    <a:lnB>
                      <a:noFill/>
                    </a:lnB>
                    <a:noFill/>
                  </a:tcPr>
                </a:tc>
                <a:extLst>
                  <a:ext uri="{0D108BD9-81ED-4DB2-BD59-A6C34878D82A}">
                    <a16:rowId xmlns:a16="http://schemas.microsoft.com/office/drawing/2014/main" val="3549827059"/>
                  </a:ext>
                </a:extLst>
              </a:tr>
              <a:tr h="130273">
                <a:tc>
                  <a:txBody>
                    <a:bodyPr/>
                    <a:lstStyle/>
                    <a:p>
                      <a:pPr>
                        <a:buNone/>
                      </a:pPr>
                      <a:r>
                        <a:rPr lang="en-US" b="1"/>
                        <a:t>Naive</a:t>
                      </a:r>
                      <a:endParaRPr lang="en-US"/>
                    </a:p>
                  </a:txBody>
                  <a:tcPr anchor="ctr">
                    <a:lnL>
                      <a:noFill/>
                    </a:lnL>
                    <a:lnR>
                      <a:noFill/>
                    </a:lnR>
                    <a:lnT>
                      <a:noFill/>
                    </a:lnT>
                    <a:lnB>
                      <a:noFill/>
                    </a:lnB>
                    <a:noFill/>
                  </a:tcPr>
                </a:tc>
                <a:tc>
                  <a:txBody>
                    <a:bodyPr/>
                    <a:lstStyle/>
                    <a:p>
                      <a:pPr>
                        <a:buNone/>
                      </a:pPr>
                      <a:r>
                        <a:rPr lang="en-US"/>
                        <a:t>Single DCF, blended ARPU including healthcare upside, no scenarios</a:t>
                      </a:r>
                    </a:p>
                  </a:txBody>
                  <a:tcPr anchor="ctr">
                    <a:lnL>
                      <a:noFill/>
                    </a:lnL>
                    <a:lnR>
                      <a:noFill/>
                    </a:lnR>
                    <a:lnT>
                      <a:noFill/>
                    </a:lnT>
                    <a:lnB>
                      <a:noFill/>
                    </a:lnB>
                    <a:noFill/>
                  </a:tcPr>
                </a:tc>
                <a:tc>
                  <a:txBody>
                    <a:bodyPr/>
                    <a:lstStyle/>
                    <a:p>
                      <a:pPr>
                        <a:buNone/>
                      </a:pPr>
                      <a:r>
                        <a:rPr lang="en-US"/>
                        <a:t>Conflates two uncertainty types; assumes 100% probability on optionality; no analytical separation</a:t>
                      </a:r>
                    </a:p>
                  </a:txBody>
                  <a:tcPr anchor="ctr">
                    <a:lnL>
                      <a:noFill/>
                    </a:lnL>
                    <a:lnR>
                      <a:noFill/>
                    </a:lnR>
                    <a:lnT>
                      <a:noFill/>
                    </a:lnT>
                    <a:lnB>
                      <a:noFill/>
                    </a:lnB>
                    <a:noFill/>
                  </a:tcPr>
                </a:tc>
                <a:extLst>
                  <a:ext uri="{0D108BD9-81ED-4DB2-BD59-A6C34878D82A}">
                    <a16:rowId xmlns:a16="http://schemas.microsoft.com/office/drawing/2014/main" val="3591249243"/>
                  </a:ext>
                </a:extLst>
              </a:tr>
              <a:tr h="186104">
                <a:tc>
                  <a:txBody>
                    <a:bodyPr/>
                    <a:lstStyle/>
                    <a:p>
                      <a:pPr>
                        <a:buNone/>
                      </a:pPr>
                      <a:r>
                        <a:rPr lang="en-US" b="1"/>
                        <a:t>Common practitioner</a:t>
                      </a:r>
                      <a:endParaRPr lang="en-US"/>
                    </a:p>
                  </a:txBody>
                  <a:tcPr anchor="ctr">
                    <a:lnL>
                      <a:noFill/>
                    </a:lnL>
                    <a:lnR>
                      <a:noFill/>
                    </a:lnR>
                    <a:lnT>
                      <a:noFill/>
                    </a:lnT>
                    <a:lnB>
                      <a:noFill/>
                    </a:lnB>
                    <a:noFill/>
                  </a:tcPr>
                </a:tc>
                <a:tc>
                  <a:txBody>
                    <a:bodyPr/>
                    <a:lstStyle/>
                    <a:p>
                      <a:pPr>
                        <a:buNone/>
                      </a:pPr>
                      <a:r>
                        <a:rPr lang="en-US"/>
                        <a:t>Bear/Base/Bull DCF, no real options; healthcare baked into Bull case</a:t>
                      </a:r>
                    </a:p>
                  </a:txBody>
                  <a:tcPr anchor="ctr">
                    <a:lnL>
                      <a:noFill/>
                    </a:lnL>
                    <a:lnR>
                      <a:noFill/>
                    </a:lnR>
                    <a:lnT>
                      <a:noFill/>
                    </a:lnT>
                    <a:lnB>
                      <a:noFill/>
                    </a:lnB>
                    <a:noFill/>
                  </a:tcPr>
                </a:tc>
                <a:tc>
                  <a:txBody>
                    <a:bodyPr/>
                    <a:lstStyle/>
                    <a:p>
                      <a:pPr>
                        <a:buNone/>
                      </a:pPr>
                      <a:r>
                        <a:rPr lang="en-US"/>
                        <a:t>Healthcare optionality dilutes Bull thesis; probability of healthcare success isn't separable from member growth</a:t>
                      </a:r>
                    </a:p>
                  </a:txBody>
                  <a:tcPr anchor="ctr">
                    <a:lnL>
                      <a:noFill/>
                    </a:lnL>
                    <a:lnR>
                      <a:noFill/>
                    </a:lnR>
                    <a:lnT>
                      <a:noFill/>
                    </a:lnT>
                    <a:lnB>
                      <a:noFill/>
                    </a:lnB>
                    <a:noFill/>
                  </a:tcPr>
                </a:tc>
                <a:extLst>
                  <a:ext uri="{0D108BD9-81ED-4DB2-BD59-A6C34878D82A}">
                    <a16:rowId xmlns:a16="http://schemas.microsoft.com/office/drawing/2014/main" val="2875420067"/>
                  </a:ext>
                </a:extLst>
              </a:tr>
              <a:tr h="130273">
                <a:tc>
                  <a:txBody>
                    <a:bodyPr/>
                    <a:lstStyle/>
                    <a:p>
                      <a:pPr>
                        <a:buNone/>
                      </a:pPr>
                      <a:r>
                        <a:rPr lang="en-US" b="1"/>
                        <a:t>Ours</a:t>
                      </a:r>
                      <a:endParaRPr lang="en-US"/>
                    </a:p>
                  </a:txBody>
                  <a:tcPr anchor="ctr">
                    <a:lnL>
                      <a:noFill/>
                    </a:lnL>
                    <a:lnR>
                      <a:noFill/>
                    </a:lnR>
                    <a:lnT>
                      <a:noFill/>
                    </a:lnT>
                    <a:lnB>
                      <a:noFill/>
                    </a:lnB>
                    <a:noFill/>
                  </a:tcPr>
                </a:tc>
                <a:tc>
                  <a:txBody>
                    <a:bodyPr/>
                    <a:lstStyle/>
                    <a:p>
                      <a:pPr>
                        <a:buNone/>
                      </a:pPr>
                      <a:r>
                        <a:rPr lang="en-US"/>
                        <a:t>Disciplined two-driver DCF + separate real option layer + probability weighting</a:t>
                      </a:r>
                    </a:p>
                  </a:txBody>
                  <a:tcPr anchor="ctr">
                    <a:lnL>
                      <a:noFill/>
                    </a:lnL>
                    <a:lnR>
                      <a:noFill/>
                    </a:lnR>
                    <a:lnT>
                      <a:noFill/>
                    </a:lnT>
                    <a:lnB>
                      <a:noFill/>
                    </a:lnB>
                    <a:noFill/>
                  </a:tcPr>
                </a:tc>
                <a:tc>
                  <a:txBody>
                    <a:bodyPr/>
                    <a:lstStyle/>
                    <a:p>
                      <a:pPr>
                        <a:buNone/>
                      </a:pPr>
                      <a:r>
                        <a:rPr lang="en-US"/>
                        <a:t>Each uncertainty type modeled with appropriate framework: continuous (DCF) vs discrete-binary (DTA)</a:t>
                      </a:r>
                    </a:p>
                  </a:txBody>
                  <a:tcPr anchor="ctr">
                    <a:lnL>
                      <a:noFill/>
                    </a:lnL>
                    <a:lnR>
                      <a:noFill/>
                    </a:lnR>
                    <a:lnT>
                      <a:noFill/>
                    </a:lnT>
                    <a:lnB>
                      <a:noFill/>
                    </a:lnB>
                    <a:noFill/>
                  </a:tcPr>
                </a:tc>
                <a:extLst>
                  <a:ext uri="{0D108BD9-81ED-4DB2-BD59-A6C34878D82A}">
                    <a16:rowId xmlns:a16="http://schemas.microsoft.com/office/drawing/2014/main" val="209128532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5330636"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04 / 12</a:t>
            </a:r>
            <a:endParaRPr lang="en-US" sz="1050" dirty="0"/>
          </a:p>
        </p:txBody>
      </p:sp>
      <p:sp>
        <p:nvSpPr>
          <p:cNvPr id="4" name="Text 2"/>
          <p:cNvSpPr/>
          <p:nvPr/>
        </p:nvSpPr>
        <p:spPr>
          <a:xfrm>
            <a:off x="16250022" y="342900"/>
            <a:ext cx="1161678"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DCF · BUILD</a:t>
            </a:r>
            <a:endParaRPr lang="en-US" sz="1050" dirty="0"/>
          </a:p>
        </p:txBody>
      </p:sp>
      <p:sp>
        <p:nvSpPr>
          <p:cNvPr id="6" name="Text 4"/>
          <p:cNvSpPr/>
          <p:nvPr/>
        </p:nvSpPr>
        <p:spPr>
          <a:xfrm>
            <a:off x="952500" y="884859"/>
            <a:ext cx="16874490" cy="63244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a:t>Revenue = Members X ARPU</a:t>
            </a:r>
            <a:endParaRPr lang="en-US" sz="4500" dirty="0"/>
          </a:p>
        </p:txBody>
      </p:sp>
      <p:sp>
        <p:nvSpPr>
          <p:cNvPr id="7" name="Text 5"/>
          <p:cNvSpPr/>
          <p:nvPr/>
        </p:nvSpPr>
        <p:spPr>
          <a:xfrm>
            <a:off x="952500" y="2137395"/>
            <a:ext cx="14716125" cy="38479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kern="0" spc="-10" dirty="0">
                <a:solidFill>
                  <a:srgbClr val="3A3A3A"/>
                </a:solidFill>
                <a:latin typeface="Space Grotesk" pitchFamily="34" charset="0"/>
                <a:ea typeface="Space Grotesk" pitchFamily="34" charset="-122"/>
                <a:cs typeface="Space Grotesk" pitchFamily="34" charset="-120"/>
              </a:rPr>
              <a:t>WHOOP isn't one business across the forecast — it's a hypergrowth story that has to land.</a:t>
            </a:r>
            <a:endParaRPr lang="en-US" sz="1950" dirty="0"/>
          </a:p>
        </p:txBody>
      </p:sp>
      <p:sp>
        <p:nvSpPr>
          <p:cNvPr id="8" name="Shape 6"/>
          <p:cNvSpPr/>
          <p:nvPr/>
        </p:nvSpPr>
        <p:spPr>
          <a:xfrm>
            <a:off x="952500" y="2788890"/>
            <a:ext cx="9470529" cy="4572000"/>
          </a:xfrm>
          <a:prstGeom prst="rect">
            <a:avLst/>
          </a:prstGeom>
          <a:ln w="9525">
            <a:solidFill>
              <a:srgbClr val="E2DFD8"/>
            </a:solidFill>
            <a:prstDash val="solid"/>
          </a:ln>
        </p:spPr>
        <p:txBody>
          <a:bodyPr/>
          <a:lstStyle/>
          <a:p>
            <a:endParaRPr lang="en-US"/>
          </a:p>
        </p:txBody>
      </p:sp>
      <p:sp>
        <p:nvSpPr>
          <p:cNvPr id="9" name="Shape 7"/>
          <p:cNvSpPr/>
          <p:nvPr/>
        </p:nvSpPr>
        <p:spPr>
          <a:xfrm>
            <a:off x="7837810" y="6460778"/>
            <a:ext cx="2442344" cy="280988"/>
          </a:xfrm>
          <a:prstGeom prst="rect">
            <a:avLst/>
          </a:prstGeom>
          <a:solidFill>
            <a:srgbClr val="FFFFFF">
              <a:alpha val="95000"/>
            </a:srgbClr>
          </a:solidFill>
          <a:ln w="9525">
            <a:solidFill>
              <a:srgbClr val="E2DFD8"/>
            </a:solidFill>
            <a:prstDash val="solid"/>
          </a:ln>
        </p:spPr>
        <p:txBody>
          <a:bodyPr/>
          <a:lstStyle/>
          <a:p>
            <a:endParaRPr lang="en-US"/>
          </a:p>
        </p:txBody>
      </p:sp>
      <p:sp>
        <p:nvSpPr>
          <p:cNvPr id="10" name="Shape 8"/>
          <p:cNvSpPr/>
          <p:nvPr/>
        </p:nvSpPr>
        <p:spPr>
          <a:xfrm>
            <a:off x="7942585" y="6586984"/>
            <a:ext cx="171450" cy="28575"/>
          </a:xfrm>
          <a:prstGeom prst="rect">
            <a:avLst/>
          </a:prstGeom>
          <a:solidFill>
            <a:srgbClr val="0A0A0A"/>
          </a:solidFill>
          <a:ln/>
        </p:spPr>
        <p:txBody>
          <a:bodyPr/>
          <a:lstStyle/>
          <a:p>
            <a:endParaRPr lang="en-US"/>
          </a:p>
        </p:txBody>
      </p:sp>
      <p:sp>
        <p:nvSpPr>
          <p:cNvPr id="11" name="Text 9"/>
          <p:cNvSpPr/>
          <p:nvPr/>
        </p:nvSpPr>
        <p:spPr>
          <a:xfrm>
            <a:off x="8171185" y="6527453"/>
            <a:ext cx="636315" cy="185738"/>
          </a:xfrm>
          <a:prstGeom prst="rect">
            <a:avLst/>
          </a:prstGeom>
          <a:noFill/>
          <a:ln/>
        </p:spPr>
        <p:txBody>
          <a:bodyPr wrap="square" lIns="0" tIns="0" rIns="0" bIns="0" rtlCol="0" anchor="t">
            <a:normAutofit/>
          </a:bodyPr>
          <a:lstStyle/>
          <a:p>
            <a:pPr marL="0" indent="0" algn="l">
              <a:buNone/>
            </a:pPr>
            <a:r>
              <a:rPr lang="en-US" sz="900" kern="0" spc="90" dirty="0">
                <a:solidFill>
                  <a:srgbClr val="0A0A0A"/>
                </a:solidFill>
                <a:latin typeface="JetBrains Mono" pitchFamily="34" charset="0"/>
                <a:ea typeface="JetBrains Mono" pitchFamily="34" charset="-122"/>
                <a:cs typeface="JetBrains Mono" pitchFamily="34" charset="-120"/>
              </a:rPr>
              <a:t>REVENUE</a:t>
            </a:r>
            <a:endParaRPr lang="en-US" sz="900" dirty="0"/>
          </a:p>
        </p:txBody>
      </p:sp>
      <p:sp>
        <p:nvSpPr>
          <p:cNvPr id="12" name="Shape 10"/>
          <p:cNvSpPr/>
          <p:nvPr/>
        </p:nvSpPr>
        <p:spPr>
          <a:xfrm>
            <a:off x="8864650" y="6586984"/>
            <a:ext cx="171450" cy="28575"/>
          </a:xfrm>
          <a:prstGeom prst="rect">
            <a:avLst/>
          </a:prstGeom>
          <a:solidFill>
            <a:srgbClr val="1F4FB5"/>
          </a:solidFill>
          <a:ln/>
        </p:spPr>
        <p:txBody>
          <a:bodyPr/>
          <a:lstStyle/>
          <a:p>
            <a:endParaRPr lang="en-US"/>
          </a:p>
        </p:txBody>
      </p:sp>
      <p:sp>
        <p:nvSpPr>
          <p:cNvPr id="13" name="Text 11"/>
          <p:cNvSpPr/>
          <p:nvPr/>
        </p:nvSpPr>
        <p:spPr>
          <a:xfrm>
            <a:off x="9093250" y="6527453"/>
            <a:ext cx="556320" cy="185738"/>
          </a:xfrm>
          <a:prstGeom prst="rect">
            <a:avLst/>
          </a:prstGeom>
          <a:noFill/>
          <a:ln/>
        </p:spPr>
        <p:txBody>
          <a:bodyPr wrap="square" lIns="0" tIns="0" rIns="0" bIns="0" rtlCol="0" anchor="t">
            <a:normAutofit/>
          </a:bodyPr>
          <a:lstStyle/>
          <a:p>
            <a:pPr marL="0" indent="0" algn="l">
              <a:buNone/>
            </a:pPr>
            <a:r>
              <a:rPr lang="en-US" sz="900" kern="0" spc="90" dirty="0">
                <a:solidFill>
                  <a:srgbClr val="0A0A0A"/>
                </a:solidFill>
                <a:latin typeface="JetBrains Mono" pitchFamily="34" charset="0"/>
                <a:ea typeface="JetBrains Mono" pitchFamily="34" charset="-122"/>
                <a:cs typeface="JetBrains Mono" pitchFamily="34" charset="-120"/>
              </a:rPr>
              <a:t>EBITDA</a:t>
            </a:r>
            <a:endParaRPr lang="en-US" sz="900" dirty="0"/>
          </a:p>
        </p:txBody>
      </p:sp>
      <p:sp>
        <p:nvSpPr>
          <p:cNvPr id="14" name="Shape 12"/>
          <p:cNvSpPr/>
          <p:nvPr/>
        </p:nvSpPr>
        <p:spPr>
          <a:xfrm>
            <a:off x="9706719" y="6586984"/>
            <a:ext cx="171450" cy="28575"/>
          </a:xfrm>
          <a:prstGeom prst="rect">
            <a:avLst/>
          </a:prstGeom>
          <a:solidFill>
            <a:srgbClr val="FF5A1F"/>
          </a:solidFill>
          <a:ln/>
        </p:spPr>
        <p:txBody>
          <a:bodyPr/>
          <a:lstStyle/>
          <a:p>
            <a:endParaRPr lang="en-US"/>
          </a:p>
        </p:txBody>
      </p:sp>
      <p:sp>
        <p:nvSpPr>
          <p:cNvPr id="15" name="Text 13"/>
          <p:cNvSpPr/>
          <p:nvPr/>
        </p:nvSpPr>
        <p:spPr>
          <a:xfrm>
            <a:off x="9935319" y="6527453"/>
            <a:ext cx="316260" cy="185738"/>
          </a:xfrm>
          <a:prstGeom prst="rect">
            <a:avLst/>
          </a:prstGeom>
          <a:noFill/>
          <a:ln/>
        </p:spPr>
        <p:txBody>
          <a:bodyPr wrap="square" lIns="0" tIns="0" rIns="0" bIns="0" rtlCol="0" anchor="t">
            <a:normAutofit/>
          </a:bodyPr>
          <a:lstStyle/>
          <a:p>
            <a:pPr marL="0" indent="0" algn="l">
              <a:buNone/>
            </a:pPr>
            <a:r>
              <a:rPr lang="en-US" sz="900" kern="0" spc="90" dirty="0">
                <a:solidFill>
                  <a:srgbClr val="0A0A0A"/>
                </a:solidFill>
                <a:latin typeface="JetBrains Mono" pitchFamily="34" charset="0"/>
                <a:ea typeface="JetBrains Mono" pitchFamily="34" charset="-122"/>
                <a:cs typeface="JetBrains Mono" pitchFamily="34" charset="-120"/>
              </a:rPr>
              <a:t>FCF</a:t>
            </a:r>
            <a:endParaRPr lang="en-US" sz="900" dirty="0"/>
          </a:p>
        </p:txBody>
      </p:sp>
      <p:sp>
        <p:nvSpPr>
          <p:cNvPr id="16" name="Text 14"/>
          <p:cNvSpPr/>
          <p:nvPr/>
        </p:nvSpPr>
        <p:spPr>
          <a:xfrm>
            <a:off x="1403970" y="2798415"/>
            <a:ext cx="28195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$3B</a:t>
            </a:r>
            <a:endParaRPr lang="en-US" sz="900" dirty="0"/>
          </a:p>
        </p:txBody>
      </p:sp>
      <p:sp>
        <p:nvSpPr>
          <p:cNvPr id="17" name="Text 15"/>
          <p:cNvSpPr/>
          <p:nvPr/>
        </p:nvSpPr>
        <p:spPr>
          <a:xfrm>
            <a:off x="1403970" y="3766393"/>
            <a:ext cx="28195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$2B</a:t>
            </a:r>
            <a:endParaRPr lang="en-US" sz="900" dirty="0"/>
          </a:p>
        </p:txBody>
      </p:sp>
      <p:sp>
        <p:nvSpPr>
          <p:cNvPr id="18" name="Text 16"/>
          <p:cNvSpPr/>
          <p:nvPr/>
        </p:nvSpPr>
        <p:spPr>
          <a:xfrm>
            <a:off x="1403970" y="4734371"/>
            <a:ext cx="28195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$1B</a:t>
            </a:r>
            <a:endParaRPr lang="en-US" sz="900" dirty="0"/>
          </a:p>
        </p:txBody>
      </p:sp>
      <p:sp>
        <p:nvSpPr>
          <p:cNvPr id="19" name="Text 17"/>
          <p:cNvSpPr/>
          <p:nvPr/>
        </p:nvSpPr>
        <p:spPr>
          <a:xfrm>
            <a:off x="1472505" y="5702350"/>
            <a:ext cx="213420"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$0</a:t>
            </a:r>
            <a:endParaRPr lang="en-US" sz="900" dirty="0"/>
          </a:p>
        </p:txBody>
      </p:sp>
      <p:sp>
        <p:nvSpPr>
          <p:cNvPr id="20" name="Text 18"/>
          <p:cNvSpPr/>
          <p:nvPr/>
        </p:nvSpPr>
        <p:spPr>
          <a:xfrm>
            <a:off x="1198215" y="6670328"/>
            <a:ext cx="487710"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−$0.5B</a:t>
            </a:r>
            <a:endParaRPr lang="en-US" sz="900" dirty="0"/>
          </a:p>
        </p:txBody>
      </p:sp>
      <p:sp>
        <p:nvSpPr>
          <p:cNvPr id="21" name="Shape 19"/>
          <p:cNvSpPr/>
          <p:nvPr/>
        </p:nvSpPr>
        <p:spPr>
          <a:xfrm>
            <a:off x="1724025" y="2798415"/>
            <a:ext cx="8689479" cy="9525"/>
          </a:xfrm>
          <a:prstGeom prst="rect">
            <a:avLst/>
          </a:prstGeom>
          <a:solidFill>
            <a:srgbClr val="E2DFD8"/>
          </a:solidFill>
          <a:ln/>
        </p:spPr>
        <p:txBody>
          <a:bodyPr/>
          <a:lstStyle/>
          <a:p>
            <a:endParaRPr lang="en-US"/>
          </a:p>
        </p:txBody>
      </p:sp>
      <p:sp>
        <p:nvSpPr>
          <p:cNvPr id="22" name="Shape 20"/>
          <p:cNvSpPr/>
          <p:nvPr/>
        </p:nvSpPr>
        <p:spPr>
          <a:xfrm>
            <a:off x="1724025" y="3803303"/>
            <a:ext cx="8689479" cy="9525"/>
          </a:xfrm>
          <a:prstGeom prst="rect">
            <a:avLst/>
          </a:prstGeom>
          <a:solidFill>
            <a:srgbClr val="E2DFD8"/>
          </a:solidFill>
          <a:ln/>
        </p:spPr>
        <p:txBody>
          <a:bodyPr/>
          <a:lstStyle/>
          <a:p>
            <a:endParaRPr lang="en-US"/>
          </a:p>
        </p:txBody>
      </p:sp>
      <p:sp>
        <p:nvSpPr>
          <p:cNvPr id="23" name="Shape 21"/>
          <p:cNvSpPr/>
          <p:nvPr/>
        </p:nvSpPr>
        <p:spPr>
          <a:xfrm>
            <a:off x="1724025" y="4808190"/>
            <a:ext cx="8689479" cy="9525"/>
          </a:xfrm>
          <a:prstGeom prst="rect">
            <a:avLst/>
          </a:prstGeom>
          <a:solidFill>
            <a:srgbClr val="E2DFD8"/>
          </a:solidFill>
          <a:ln/>
        </p:spPr>
        <p:txBody>
          <a:bodyPr/>
          <a:lstStyle/>
          <a:p>
            <a:endParaRPr lang="en-US"/>
          </a:p>
        </p:txBody>
      </p:sp>
      <p:sp>
        <p:nvSpPr>
          <p:cNvPr id="24" name="Shape 22"/>
          <p:cNvSpPr/>
          <p:nvPr/>
        </p:nvSpPr>
        <p:spPr>
          <a:xfrm>
            <a:off x="1724025" y="5813078"/>
            <a:ext cx="8689479" cy="9525"/>
          </a:xfrm>
          <a:prstGeom prst="rect">
            <a:avLst/>
          </a:prstGeom>
          <a:solidFill>
            <a:srgbClr val="7A776E"/>
          </a:solidFill>
          <a:ln/>
        </p:spPr>
        <p:txBody>
          <a:bodyPr/>
          <a:lstStyle/>
          <a:p>
            <a:endParaRPr lang="en-US"/>
          </a:p>
        </p:txBody>
      </p:sp>
      <p:sp>
        <p:nvSpPr>
          <p:cNvPr id="25" name="Shape 23"/>
          <p:cNvSpPr/>
          <p:nvPr/>
        </p:nvSpPr>
        <p:spPr>
          <a:xfrm>
            <a:off x="1724025" y="6817965"/>
            <a:ext cx="8689479" cy="9525"/>
          </a:xfrm>
          <a:prstGeom prst="rect">
            <a:avLst/>
          </a:prstGeom>
          <a:solidFill>
            <a:srgbClr val="E2DFD8"/>
          </a:solidFill>
          <a:ln/>
        </p:spPr>
        <p:txBody>
          <a:bodyPr/>
          <a:lstStyle/>
          <a:p>
            <a:endParaRPr lang="en-US"/>
          </a:p>
        </p:txBody>
      </p:sp>
      <p:sp>
        <p:nvSpPr>
          <p:cNvPr id="26" name="Shape 24"/>
          <p:cNvSpPr/>
          <p:nvPr/>
        </p:nvSpPr>
        <p:spPr>
          <a:xfrm>
            <a:off x="1724025" y="2798415"/>
            <a:ext cx="3723382" cy="4019550"/>
          </a:xfrm>
          <a:prstGeom prst="rect">
            <a:avLst/>
          </a:prstGeom>
          <a:solidFill>
            <a:srgbClr val="FF5A1F">
              <a:alpha val="6000"/>
            </a:srgbClr>
          </a:solidFill>
          <a:ln/>
        </p:spPr>
        <p:txBody>
          <a:bodyPr/>
          <a:lstStyle/>
          <a:p>
            <a:endParaRPr lang="en-US"/>
          </a:p>
        </p:txBody>
      </p:sp>
      <p:sp>
        <p:nvSpPr>
          <p:cNvPr id="27" name="Shape 25"/>
          <p:cNvSpPr/>
          <p:nvPr/>
        </p:nvSpPr>
        <p:spPr>
          <a:xfrm>
            <a:off x="5437882" y="2798415"/>
            <a:ext cx="9525" cy="4019550"/>
          </a:xfrm>
          <a:prstGeom prst="rect">
            <a:avLst/>
          </a:prstGeom>
          <a:solidFill>
            <a:srgbClr val="C8C4BA"/>
          </a:solidFill>
          <a:ln/>
        </p:spPr>
        <p:txBody>
          <a:bodyPr/>
          <a:lstStyle/>
          <a:p>
            <a:endParaRPr lang="en-US"/>
          </a:p>
        </p:txBody>
      </p:sp>
      <p:sp>
        <p:nvSpPr>
          <p:cNvPr id="28" name="Text 26"/>
          <p:cNvSpPr/>
          <p:nvPr/>
        </p:nvSpPr>
        <p:spPr>
          <a:xfrm>
            <a:off x="1838325" y="2912715"/>
            <a:ext cx="668313" cy="185738"/>
          </a:xfrm>
          <a:prstGeom prst="rect">
            <a:avLst/>
          </a:prstGeom>
          <a:noFill/>
          <a:ln/>
        </p:spPr>
        <p:txBody>
          <a:bodyPr wrap="square" lIns="0" tIns="0" rIns="0" bIns="0" rtlCol="0" anchor="t">
            <a:normAutofit/>
          </a:bodyPr>
          <a:lstStyle/>
          <a:p>
            <a:pPr marL="0" indent="0" algn="l">
              <a:buNone/>
            </a:pPr>
            <a:r>
              <a:rPr lang="en-US" sz="900" kern="0" spc="126" dirty="0">
                <a:solidFill>
                  <a:srgbClr val="3A3A3A"/>
                </a:solidFill>
                <a:latin typeface="JetBrains Mono" pitchFamily="34" charset="0"/>
                <a:ea typeface="JetBrains Mono" pitchFamily="34" charset="-122"/>
                <a:cs typeface="JetBrains Mono" pitchFamily="34" charset="-120"/>
              </a:rPr>
              <a:t>PHASE 1</a:t>
            </a:r>
            <a:endParaRPr lang="en-US" sz="900" dirty="0"/>
          </a:p>
        </p:txBody>
      </p:sp>
      <p:sp>
        <p:nvSpPr>
          <p:cNvPr id="29" name="Text 27"/>
          <p:cNvSpPr/>
          <p:nvPr/>
        </p:nvSpPr>
        <p:spPr>
          <a:xfrm>
            <a:off x="1838325" y="3079403"/>
            <a:ext cx="2359968" cy="185738"/>
          </a:xfrm>
          <a:prstGeom prst="rect">
            <a:avLst/>
          </a:prstGeom>
          <a:noFill/>
          <a:ln/>
        </p:spPr>
        <p:txBody>
          <a:bodyPr wrap="square" lIns="25400" tIns="25400" rIns="25400" bIns="25400" rtlCol="0" anchor="t">
            <a:normAutofit lnSpcReduction="10000"/>
          </a:bodyPr>
          <a:lstStyle/>
          <a:p>
            <a:pPr marL="0" indent="0" algn="l">
              <a:buNone/>
            </a:pPr>
            <a:r>
              <a:rPr lang="en-US" sz="900" kern="0" spc="126" dirty="0">
                <a:solidFill>
                  <a:srgbClr val="7A776E"/>
                </a:solidFill>
                <a:latin typeface="JetBrains Mono" pitchFamily="34" charset="0"/>
                <a:ea typeface="JetBrains Mono" pitchFamily="34" charset="-122"/>
                <a:cs typeface="JetBrains Mono" pitchFamily="34" charset="-120"/>
              </a:rPr>
              <a:t>Y1–Y3 · PRE-IPO HYPERGROWTH</a:t>
            </a:r>
            <a:endParaRPr lang="en-US" sz="900" dirty="0"/>
          </a:p>
        </p:txBody>
      </p:sp>
      <p:sp>
        <p:nvSpPr>
          <p:cNvPr id="30" name="Shape 28"/>
          <p:cNvSpPr/>
          <p:nvPr/>
        </p:nvSpPr>
        <p:spPr>
          <a:xfrm>
            <a:off x="5447407" y="2798415"/>
            <a:ext cx="2482528" cy="4019550"/>
          </a:xfrm>
          <a:prstGeom prst="rect">
            <a:avLst/>
          </a:prstGeom>
          <a:solidFill>
            <a:srgbClr val="1F4FB5">
              <a:alpha val="6000"/>
            </a:srgbClr>
          </a:solidFill>
          <a:ln/>
        </p:spPr>
        <p:txBody>
          <a:bodyPr/>
          <a:lstStyle/>
          <a:p>
            <a:endParaRPr lang="en-US"/>
          </a:p>
        </p:txBody>
      </p:sp>
      <p:sp>
        <p:nvSpPr>
          <p:cNvPr id="31" name="Shape 29"/>
          <p:cNvSpPr/>
          <p:nvPr/>
        </p:nvSpPr>
        <p:spPr>
          <a:xfrm>
            <a:off x="7920410" y="2798415"/>
            <a:ext cx="9525" cy="4019550"/>
          </a:xfrm>
          <a:prstGeom prst="rect">
            <a:avLst/>
          </a:prstGeom>
          <a:solidFill>
            <a:srgbClr val="C8C4BA"/>
          </a:solidFill>
          <a:ln/>
        </p:spPr>
        <p:txBody>
          <a:bodyPr/>
          <a:lstStyle/>
          <a:p>
            <a:endParaRPr lang="en-US"/>
          </a:p>
        </p:txBody>
      </p:sp>
      <p:sp>
        <p:nvSpPr>
          <p:cNvPr id="32" name="Text 30"/>
          <p:cNvSpPr/>
          <p:nvPr/>
        </p:nvSpPr>
        <p:spPr>
          <a:xfrm>
            <a:off x="5561707" y="2912715"/>
            <a:ext cx="668313" cy="185738"/>
          </a:xfrm>
          <a:prstGeom prst="rect">
            <a:avLst/>
          </a:prstGeom>
          <a:noFill/>
          <a:ln/>
        </p:spPr>
        <p:txBody>
          <a:bodyPr wrap="square" lIns="0" tIns="0" rIns="0" bIns="0" rtlCol="0" anchor="t">
            <a:normAutofit/>
          </a:bodyPr>
          <a:lstStyle/>
          <a:p>
            <a:pPr marL="0" indent="0" algn="l">
              <a:buNone/>
            </a:pPr>
            <a:r>
              <a:rPr lang="en-US" sz="900" kern="0" spc="126" dirty="0">
                <a:solidFill>
                  <a:srgbClr val="3A3A3A"/>
                </a:solidFill>
                <a:latin typeface="JetBrains Mono" pitchFamily="34" charset="0"/>
                <a:ea typeface="JetBrains Mono" pitchFamily="34" charset="-122"/>
                <a:cs typeface="JetBrains Mono" pitchFamily="34" charset="-120"/>
              </a:rPr>
              <a:t>PHASE 2</a:t>
            </a:r>
            <a:endParaRPr lang="en-US" sz="900" dirty="0"/>
          </a:p>
        </p:txBody>
      </p:sp>
      <p:sp>
        <p:nvSpPr>
          <p:cNvPr id="33" name="Text 31"/>
          <p:cNvSpPr/>
          <p:nvPr/>
        </p:nvSpPr>
        <p:spPr>
          <a:xfrm>
            <a:off x="5561707" y="3079403"/>
            <a:ext cx="2190750" cy="185738"/>
          </a:xfrm>
          <a:prstGeom prst="rect">
            <a:avLst/>
          </a:prstGeom>
          <a:noFill/>
          <a:ln/>
        </p:spPr>
        <p:txBody>
          <a:bodyPr wrap="square" lIns="25400" tIns="25400" rIns="25400" bIns="25400" rtlCol="0" anchor="t">
            <a:normAutofit lnSpcReduction="10000"/>
          </a:bodyPr>
          <a:lstStyle/>
          <a:p>
            <a:pPr marL="0" indent="0" algn="l">
              <a:buNone/>
            </a:pPr>
            <a:r>
              <a:rPr lang="en-US" sz="900" kern="0" spc="126" dirty="0">
                <a:solidFill>
                  <a:srgbClr val="7A776E"/>
                </a:solidFill>
                <a:latin typeface="JetBrains Mono" pitchFamily="34" charset="0"/>
                <a:ea typeface="JetBrains Mono" pitchFamily="34" charset="-122"/>
                <a:cs typeface="JetBrains Mono" pitchFamily="34" charset="-120"/>
              </a:rPr>
              <a:t>Y4–Y5 · MARGIN INFLECTION</a:t>
            </a:r>
            <a:endParaRPr lang="en-US" sz="900" dirty="0"/>
          </a:p>
        </p:txBody>
      </p:sp>
      <p:sp>
        <p:nvSpPr>
          <p:cNvPr id="34" name="Shape 32"/>
          <p:cNvSpPr/>
          <p:nvPr/>
        </p:nvSpPr>
        <p:spPr>
          <a:xfrm>
            <a:off x="7929935" y="2798415"/>
            <a:ext cx="2482528" cy="4019550"/>
          </a:xfrm>
          <a:prstGeom prst="rect">
            <a:avLst/>
          </a:prstGeom>
          <a:solidFill>
            <a:srgbClr val="1F7A3D">
              <a:alpha val="6000"/>
            </a:srgbClr>
          </a:solidFill>
          <a:ln/>
        </p:spPr>
        <p:txBody>
          <a:bodyPr/>
          <a:lstStyle/>
          <a:p>
            <a:endParaRPr lang="en-US"/>
          </a:p>
        </p:txBody>
      </p:sp>
      <p:sp>
        <p:nvSpPr>
          <p:cNvPr id="35" name="Text 33"/>
          <p:cNvSpPr/>
          <p:nvPr/>
        </p:nvSpPr>
        <p:spPr>
          <a:xfrm>
            <a:off x="8044235" y="2912715"/>
            <a:ext cx="668313" cy="185738"/>
          </a:xfrm>
          <a:prstGeom prst="rect">
            <a:avLst/>
          </a:prstGeom>
          <a:noFill/>
          <a:ln/>
        </p:spPr>
        <p:txBody>
          <a:bodyPr wrap="square" lIns="0" tIns="0" rIns="0" bIns="0" rtlCol="0" anchor="t">
            <a:normAutofit/>
          </a:bodyPr>
          <a:lstStyle/>
          <a:p>
            <a:pPr marL="0" indent="0" algn="l">
              <a:buNone/>
            </a:pPr>
            <a:r>
              <a:rPr lang="en-US" sz="900" kern="0" spc="126" dirty="0">
                <a:solidFill>
                  <a:srgbClr val="3A3A3A"/>
                </a:solidFill>
                <a:latin typeface="JetBrains Mono" pitchFamily="34" charset="0"/>
                <a:ea typeface="JetBrains Mono" pitchFamily="34" charset="-122"/>
                <a:cs typeface="JetBrains Mono" pitchFamily="34" charset="-120"/>
              </a:rPr>
              <a:t>PHASE 3</a:t>
            </a:r>
            <a:endParaRPr lang="en-US" sz="900" dirty="0"/>
          </a:p>
        </p:txBody>
      </p:sp>
      <p:sp>
        <p:nvSpPr>
          <p:cNvPr id="36" name="Text 34"/>
          <p:cNvSpPr/>
          <p:nvPr/>
        </p:nvSpPr>
        <p:spPr>
          <a:xfrm>
            <a:off x="8044235" y="3079403"/>
            <a:ext cx="2275359" cy="185738"/>
          </a:xfrm>
          <a:prstGeom prst="rect">
            <a:avLst/>
          </a:prstGeom>
          <a:noFill/>
          <a:ln/>
        </p:spPr>
        <p:txBody>
          <a:bodyPr wrap="square" lIns="25400" tIns="25400" rIns="25400" bIns="25400" rtlCol="0" anchor="t">
            <a:normAutofit lnSpcReduction="10000"/>
          </a:bodyPr>
          <a:lstStyle/>
          <a:p>
            <a:pPr marL="0" indent="0" algn="l">
              <a:buNone/>
            </a:pPr>
            <a:r>
              <a:rPr lang="en-US" sz="900" kern="0" spc="126" dirty="0">
                <a:solidFill>
                  <a:srgbClr val="7A776E"/>
                </a:solidFill>
                <a:latin typeface="JetBrains Mono" pitchFamily="34" charset="0"/>
                <a:ea typeface="JetBrains Mono" pitchFamily="34" charset="-122"/>
                <a:cs typeface="JetBrains Mono" pitchFamily="34" charset="-120"/>
              </a:rPr>
              <a:t>Y6–Y7 · TERMINAL ECONOMICS</a:t>
            </a:r>
            <a:endParaRPr lang="en-US" sz="900" dirty="0"/>
          </a:p>
        </p:txBody>
      </p:sp>
      <p:pic>
        <p:nvPicPr>
          <p:cNvPr id="37" name="Image 0" descr="preencoded.png"/>
          <p:cNvPicPr>
            <a:picLocks noChangeAspect="1"/>
          </p:cNvPicPr>
          <p:nvPr/>
        </p:nvPicPr>
        <p:blipFill>
          <a:blip r:embed="rId3"/>
          <a:stretch>
            <a:fillRect/>
          </a:stretch>
        </p:blipFill>
        <p:spPr>
          <a:xfrm>
            <a:off x="1685925" y="2780791"/>
            <a:ext cx="8727579" cy="4037174"/>
          </a:xfrm>
          <a:prstGeom prst="rect">
            <a:avLst/>
          </a:prstGeom>
        </p:spPr>
      </p:pic>
      <p:sp>
        <p:nvSpPr>
          <p:cNvPr id="38" name="Text 35"/>
          <p:cNvSpPr/>
          <p:nvPr/>
        </p:nvSpPr>
        <p:spPr>
          <a:xfrm>
            <a:off x="2276029" y="6951315"/>
            <a:ext cx="213420" cy="438150"/>
          </a:xfrm>
          <a:prstGeom prst="rect">
            <a:avLst/>
          </a:prstGeom>
          <a:noFill/>
          <a:ln/>
        </p:spPr>
        <p:txBody>
          <a:bodyPr wrap="square" lIns="25400" tIns="25400" rIns="25400" bIns="25400" rtlCol="0" anchor="t">
            <a:normAutofit/>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Y1</a:t>
            </a:r>
            <a:endParaRPr lang="en-US" sz="900" dirty="0"/>
          </a:p>
        </p:txBody>
      </p:sp>
      <p:sp>
        <p:nvSpPr>
          <p:cNvPr id="39" name="Text 36"/>
          <p:cNvSpPr/>
          <p:nvPr/>
        </p:nvSpPr>
        <p:spPr>
          <a:xfrm>
            <a:off x="3517404" y="6951315"/>
            <a:ext cx="213420" cy="438150"/>
          </a:xfrm>
          <a:prstGeom prst="rect">
            <a:avLst/>
          </a:prstGeom>
          <a:noFill/>
          <a:ln/>
        </p:spPr>
        <p:txBody>
          <a:bodyPr wrap="square" lIns="25400" tIns="25400" rIns="25400" bIns="25400" rtlCol="0" anchor="t">
            <a:normAutofit/>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Y2</a:t>
            </a:r>
            <a:endParaRPr lang="en-US" sz="900" dirty="0"/>
          </a:p>
        </p:txBody>
      </p:sp>
      <p:sp>
        <p:nvSpPr>
          <p:cNvPr id="40" name="Text 37"/>
          <p:cNvSpPr/>
          <p:nvPr/>
        </p:nvSpPr>
        <p:spPr>
          <a:xfrm>
            <a:off x="4758705" y="6951315"/>
            <a:ext cx="213420" cy="438150"/>
          </a:xfrm>
          <a:prstGeom prst="rect">
            <a:avLst/>
          </a:prstGeom>
          <a:noFill/>
          <a:ln/>
        </p:spPr>
        <p:txBody>
          <a:bodyPr wrap="square" lIns="25400" tIns="25400" rIns="25400" bIns="25400" rtlCol="0" anchor="t">
            <a:normAutofit/>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Y3</a:t>
            </a:r>
            <a:endParaRPr lang="en-US" sz="900" dirty="0"/>
          </a:p>
        </p:txBody>
      </p:sp>
      <p:sp>
        <p:nvSpPr>
          <p:cNvPr id="41" name="Text 38"/>
          <p:cNvSpPr/>
          <p:nvPr/>
        </p:nvSpPr>
        <p:spPr>
          <a:xfrm>
            <a:off x="6000080" y="6951315"/>
            <a:ext cx="213420" cy="438150"/>
          </a:xfrm>
          <a:prstGeom prst="rect">
            <a:avLst/>
          </a:prstGeom>
          <a:noFill/>
          <a:ln/>
        </p:spPr>
        <p:txBody>
          <a:bodyPr wrap="square" lIns="25400" tIns="25400" rIns="25400" bIns="25400" rtlCol="0" anchor="t">
            <a:normAutofit/>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Y4</a:t>
            </a:r>
            <a:endParaRPr lang="en-US" sz="900" dirty="0"/>
          </a:p>
        </p:txBody>
      </p:sp>
      <p:sp>
        <p:nvSpPr>
          <p:cNvPr id="42" name="Text 39"/>
          <p:cNvSpPr/>
          <p:nvPr/>
        </p:nvSpPr>
        <p:spPr>
          <a:xfrm>
            <a:off x="7241456" y="6951315"/>
            <a:ext cx="213420" cy="438150"/>
          </a:xfrm>
          <a:prstGeom prst="rect">
            <a:avLst/>
          </a:prstGeom>
          <a:noFill/>
          <a:ln/>
        </p:spPr>
        <p:txBody>
          <a:bodyPr wrap="square" lIns="25400" tIns="25400" rIns="25400" bIns="25400" rtlCol="0" anchor="t">
            <a:normAutofit/>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Y5</a:t>
            </a:r>
            <a:endParaRPr lang="en-US" sz="900" dirty="0"/>
          </a:p>
        </p:txBody>
      </p:sp>
      <p:sp>
        <p:nvSpPr>
          <p:cNvPr id="43" name="Text 40"/>
          <p:cNvSpPr/>
          <p:nvPr/>
        </p:nvSpPr>
        <p:spPr>
          <a:xfrm>
            <a:off x="8482831" y="6951315"/>
            <a:ext cx="213420" cy="438150"/>
          </a:xfrm>
          <a:prstGeom prst="rect">
            <a:avLst/>
          </a:prstGeom>
          <a:noFill/>
          <a:ln/>
        </p:spPr>
        <p:txBody>
          <a:bodyPr wrap="square" lIns="25400" tIns="25400" rIns="25400" bIns="25400" rtlCol="0" anchor="t">
            <a:normAutofit/>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Y6</a:t>
            </a:r>
            <a:endParaRPr lang="en-US" sz="900" dirty="0"/>
          </a:p>
        </p:txBody>
      </p:sp>
      <p:sp>
        <p:nvSpPr>
          <p:cNvPr id="44" name="Text 41"/>
          <p:cNvSpPr/>
          <p:nvPr/>
        </p:nvSpPr>
        <p:spPr>
          <a:xfrm>
            <a:off x="9724132" y="6951315"/>
            <a:ext cx="213420" cy="438150"/>
          </a:xfrm>
          <a:prstGeom prst="rect">
            <a:avLst/>
          </a:prstGeom>
          <a:noFill/>
          <a:ln/>
        </p:spPr>
        <p:txBody>
          <a:bodyPr wrap="square" lIns="25400" tIns="25400" rIns="25400" bIns="25400" rtlCol="0" anchor="t">
            <a:normAutofit/>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Y7</a:t>
            </a:r>
            <a:endParaRPr lang="en-US" sz="900" dirty="0"/>
          </a:p>
        </p:txBody>
      </p:sp>
      <p:sp>
        <p:nvSpPr>
          <p:cNvPr id="45" name="Shape 42"/>
          <p:cNvSpPr/>
          <p:nvPr/>
        </p:nvSpPr>
        <p:spPr>
          <a:xfrm>
            <a:off x="10804029" y="2788890"/>
            <a:ext cx="6531471" cy="5915025"/>
          </a:xfrm>
          <a:prstGeom prst="rect">
            <a:avLst/>
          </a:prstGeom>
          <a:ln w="9525">
            <a:solidFill>
              <a:srgbClr val="E2DFD8"/>
            </a:solidFill>
            <a:prstDash val="solid"/>
          </a:ln>
        </p:spPr>
        <p:txBody>
          <a:bodyPr/>
          <a:lstStyle/>
          <a:p>
            <a:endParaRPr lang="en-US"/>
          </a:p>
        </p:txBody>
      </p:sp>
      <p:sp>
        <p:nvSpPr>
          <p:cNvPr id="46" name="Shape 43"/>
          <p:cNvSpPr/>
          <p:nvPr/>
        </p:nvSpPr>
        <p:spPr>
          <a:xfrm>
            <a:off x="10813554" y="2798415"/>
            <a:ext cx="6512421" cy="433388"/>
          </a:xfrm>
          <a:prstGeom prst="rect">
            <a:avLst/>
          </a:prstGeom>
          <a:solidFill>
            <a:srgbClr val="0A0A0A"/>
          </a:solidFill>
          <a:ln/>
        </p:spPr>
        <p:txBody>
          <a:bodyPr/>
          <a:lstStyle/>
          <a:p>
            <a:endParaRPr lang="en-US"/>
          </a:p>
        </p:txBody>
      </p:sp>
      <p:sp>
        <p:nvSpPr>
          <p:cNvPr id="47" name="Text 44"/>
          <p:cNvSpPr/>
          <p:nvPr/>
        </p:nvSpPr>
        <p:spPr>
          <a:xfrm>
            <a:off x="11004054" y="2931765"/>
            <a:ext cx="6326794" cy="204787"/>
          </a:xfrm>
          <a:prstGeom prst="rect">
            <a:avLst/>
          </a:prstGeom>
          <a:noFill/>
          <a:ln/>
        </p:spPr>
        <p:txBody>
          <a:bodyPr wrap="square" lIns="25400" tIns="25400" rIns="25400" bIns="25400" rtlCol="0" anchor="t">
            <a:normAutofit/>
          </a:bodyPr>
          <a:lstStyle/>
          <a:p>
            <a:pPr marL="0" indent="0" algn="l">
              <a:buNone/>
            </a:pPr>
            <a:r>
              <a:rPr lang="en-US" sz="975" kern="0" spc="156" dirty="0">
                <a:solidFill>
                  <a:srgbClr val="FFFFFF"/>
                </a:solidFill>
                <a:latin typeface="JetBrains Mono" pitchFamily="34" charset="0"/>
                <a:ea typeface="JetBrains Mono" pitchFamily="34" charset="-122"/>
                <a:cs typeface="JetBrains Mono" pitchFamily="34" charset="-120"/>
              </a:rPr>
              <a:t>KEY ASSUMPTIONS</a:t>
            </a:r>
            <a:endParaRPr lang="en-US" sz="975" dirty="0"/>
          </a:p>
        </p:txBody>
      </p:sp>
      <p:sp>
        <p:nvSpPr>
          <p:cNvPr id="48" name="Shape 45"/>
          <p:cNvSpPr/>
          <p:nvPr/>
        </p:nvSpPr>
        <p:spPr>
          <a:xfrm>
            <a:off x="10813554" y="3231803"/>
            <a:ext cx="6512421" cy="309563"/>
          </a:xfrm>
          <a:prstGeom prst="rect">
            <a:avLst/>
          </a:prstGeom>
          <a:solidFill>
            <a:srgbClr val="F6F5F2"/>
          </a:solidFill>
          <a:ln/>
        </p:spPr>
        <p:txBody>
          <a:bodyPr/>
          <a:lstStyle/>
          <a:p>
            <a:endParaRPr lang="en-US"/>
          </a:p>
        </p:txBody>
      </p:sp>
      <p:sp>
        <p:nvSpPr>
          <p:cNvPr id="49" name="Shape 46"/>
          <p:cNvSpPr/>
          <p:nvPr/>
        </p:nvSpPr>
        <p:spPr>
          <a:xfrm>
            <a:off x="10813554" y="3531840"/>
            <a:ext cx="6512421" cy="9525"/>
          </a:xfrm>
          <a:prstGeom prst="rect">
            <a:avLst/>
          </a:prstGeom>
          <a:solidFill>
            <a:srgbClr val="E2DFD8"/>
          </a:solidFill>
          <a:ln/>
        </p:spPr>
        <p:txBody>
          <a:bodyPr/>
          <a:lstStyle/>
          <a:p>
            <a:endParaRPr lang="en-US"/>
          </a:p>
        </p:txBody>
      </p:sp>
      <p:sp>
        <p:nvSpPr>
          <p:cNvPr id="50" name="Text 47"/>
          <p:cNvSpPr/>
          <p:nvPr/>
        </p:nvSpPr>
        <p:spPr>
          <a:xfrm>
            <a:off x="11004054" y="3308003"/>
            <a:ext cx="6326794" cy="185738"/>
          </a:xfrm>
          <a:prstGeom prst="rect">
            <a:avLst/>
          </a:prstGeom>
          <a:noFill/>
          <a:ln/>
        </p:spPr>
        <p:txBody>
          <a:bodyPr wrap="square" lIns="25400" tIns="25400" rIns="25400" bIns="25400" rtlCol="0" anchor="t">
            <a:normAutofit lnSpcReduction="10000"/>
          </a:bodyPr>
          <a:lstStyle/>
          <a:p>
            <a:pPr marL="0" indent="0" algn="l">
              <a:buNone/>
            </a:pPr>
            <a:r>
              <a:rPr lang="en-US" sz="900" kern="0" spc="144" dirty="0">
                <a:solidFill>
                  <a:srgbClr val="7A776E"/>
                </a:solidFill>
                <a:latin typeface="JetBrains Mono" pitchFamily="34" charset="0"/>
                <a:ea typeface="JetBrains Mono" pitchFamily="34" charset="-122"/>
                <a:cs typeface="JetBrains Mono" pitchFamily="34" charset="-120"/>
              </a:rPr>
              <a:t>TOP-LINE</a:t>
            </a:r>
            <a:endParaRPr lang="en-US" sz="900" dirty="0"/>
          </a:p>
        </p:txBody>
      </p:sp>
      <p:sp>
        <p:nvSpPr>
          <p:cNvPr id="51" name="Shape 48"/>
          <p:cNvSpPr/>
          <p:nvPr/>
        </p:nvSpPr>
        <p:spPr>
          <a:xfrm>
            <a:off x="10813554" y="4036665"/>
            <a:ext cx="6512421" cy="9525"/>
          </a:xfrm>
          <a:prstGeom prst="rect">
            <a:avLst/>
          </a:prstGeom>
          <a:solidFill>
            <a:srgbClr val="E2DFD8"/>
          </a:solidFill>
          <a:ln/>
        </p:spPr>
        <p:txBody>
          <a:bodyPr/>
          <a:lstStyle/>
          <a:p>
            <a:endParaRPr lang="en-US"/>
          </a:p>
        </p:txBody>
      </p:sp>
      <p:sp>
        <p:nvSpPr>
          <p:cNvPr id="52" name="Text 49"/>
          <p:cNvSpPr/>
          <p:nvPr/>
        </p:nvSpPr>
        <p:spPr>
          <a:xfrm>
            <a:off x="11004054" y="3684240"/>
            <a:ext cx="4886520"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Subscriber growth Y1 → Y7</a:t>
            </a:r>
            <a:endParaRPr lang="en-US" sz="1350" dirty="0"/>
          </a:p>
        </p:txBody>
      </p:sp>
      <p:sp>
        <p:nvSpPr>
          <p:cNvPr id="53" name="Text 50"/>
          <p:cNvSpPr/>
          <p:nvPr/>
        </p:nvSpPr>
        <p:spPr>
          <a:xfrm>
            <a:off x="15900648" y="3674715"/>
            <a:ext cx="1311027"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2.5M → </a:t>
            </a:r>
            <a:r>
              <a:rPr lang="en-US" sz="1350" b="1" dirty="0">
                <a:solidFill>
                  <a:srgbClr val="FF5A1F"/>
                </a:solidFill>
                <a:latin typeface="JetBrains Mono" pitchFamily="34" charset="0"/>
                <a:ea typeface="JetBrains Mono" pitchFamily="34" charset="-122"/>
                <a:cs typeface="JetBrains Mono" pitchFamily="34" charset="-120"/>
              </a:rPr>
              <a:t>11.4M</a:t>
            </a:r>
            <a:endParaRPr lang="en-US" sz="1350" dirty="0"/>
          </a:p>
        </p:txBody>
      </p:sp>
      <p:sp>
        <p:nvSpPr>
          <p:cNvPr id="54" name="Shape 51"/>
          <p:cNvSpPr/>
          <p:nvPr/>
        </p:nvSpPr>
        <p:spPr>
          <a:xfrm>
            <a:off x="10813554" y="4541490"/>
            <a:ext cx="6512421" cy="9525"/>
          </a:xfrm>
          <a:prstGeom prst="rect">
            <a:avLst/>
          </a:prstGeom>
          <a:solidFill>
            <a:srgbClr val="E2DFD8"/>
          </a:solidFill>
          <a:ln/>
        </p:spPr>
        <p:txBody>
          <a:bodyPr/>
          <a:lstStyle/>
          <a:p>
            <a:endParaRPr lang="en-US"/>
          </a:p>
        </p:txBody>
      </p:sp>
      <p:sp>
        <p:nvSpPr>
          <p:cNvPr id="55" name="Text 52"/>
          <p:cNvSpPr/>
          <p:nvPr/>
        </p:nvSpPr>
        <p:spPr>
          <a:xfrm>
            <a:off x="11004054" y="4189065"/>
            <a:ext cx="5734537"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Subscriber CAGR</a:t>
            </a:r>
            <a:endParaRPr lang="en-US" sz="1350" dirty="0"/>
          </a:p>
        </p:txBody>
      </p:sp>
      <p:sp>
        <p:nvSpPr>
          <p:cNvPr id="56" name="Text 53"/>
          <p:cNvSpPr/>
          <p:nvPr/>
        </p:nvSpPr>
        <p:spPr>
          <a:xfrm>
            <a:off x="16723965" y="4179540"/>
            <a:ext cx="48771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+24%</a:t>
            </a:r>
            <a:endParaRPr lang="en-US" sz="1350" dirty="0"/>
          </a:p>
        </p:txBody>
      </p:sp>
      <p:sp>
        <p:nvSpPr>
          <p:cNvPr id="57" name="Shape 54"/>
          <p:cNvSpPr/>
          <p:nvPr/>
        </p:nvSpPr>
        <p:spPr>
          <a:xfrm>
            <a:off x="10813554" y="5046315"/>
            <a:ext cx="6512421" cy="9525"/>
          </a:xfrm>
          <a:prstGeom prst="rect">
            <a:avLst/>
          </a:prstGeom>
          <a:solidFill>
            <a:srgbClr val="E2DFD8"/>
          </a:solidFill>
          <a:ln/>
        </p:spPr>
        <p:txBody>
          <a:bodyPr/>
          <a:lstStyle/>
          <a:p>
            <a:endParaRPr lang="en-US"/>
          </a:p>
        </p:txBody>
      </p:sp>
      <p:sp>
        <p:nvSpPr>
          <p:cNvPr id="58" name="Text 55"/>
          <p:cNvSpPr/>
          <p:nvPr/>
        </p:nvSpPr>
        <p:spPr>
          <a:xfrm>
            <a:off x="11004054" y="4693890"/>
            <a:ext cx="4992522"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ARPU trajectory</a:t>
            </a:r>
            <a:endParaRPr lang="en-US" sz="1350" dirty="0"/>
          </a:p>
        </p:txBody>
      </p:sp>
      <p:sp>
        <p:nvSpPr>
          <p:cNvPr id="59" name="Text 56"/>
          <p:cNvSpPr/>
          <p:nvPr/>
        </p:nvSpPr>
        <p:spPr>
          <a:xfrm>
            <a:off x="16003563" y="4684365"/>
            <a:ext cx="1208112"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$324 → $396</a:t>
            </a:r>
            <a:endParaRPr lang="en-US" sz="1350" dirty="0"/>
          </a:p>
        </p:txBody>
      </p:sp>
      <p:sp>
        <p:nvSpPr>
          <p:cNvPr id="60" name="Shape 57"/>
          <p:cNvSpPr/>
          <p:nvPr/>
        </p:nvSpPr>
        <p:spPr>
          <a:xfrm>
            <a:off x="10813554" y="5055840"/>
            <a:ext cx="6512421" cy="309563"/>
          </a:xfrm>
          <a:prstGeom prst="rect">
            <a:avLst/>
          </a:prstGeom>
          <a:solidFill>
            <a:srgbClr val="F6F5F2"/>
          </a:solidFill>
          <a:ln/>
        </p:spPr>
        <p:txBody>
          <a:bodyPr/>
          <a:lstStyle/>
          <a:p>
            <a:endParaRPr lang="en-US"/>
          </a:p>
        </p:txBody>
      </p:sp>
      <p:sp>
        <p:nvSpPr>
          <p:cNvPr id="61" name="Shape 58"/>
          <p:cNvSpPr/>
          <p:nvPr/>
        </p:nvSpPr>
        <p:spPr>
          <a:xfrm>
            <a:off x="10813554" y="5355878"/>
            <a:ext cx="6512421" cy="9525"/>
          </a:xfrm>
          <a:prstGeom prst="rect">
            <a:avLst/>
          </a:prstGeom>
          <a:solidFill>
            <a:srgbClr val="E2DFD8"/>
          </a:solidFill>
          <a:ln/>
        </p:spPr>
        <p:txBody>
          <a:bodyPr/>
          <a:lstStyle/>
          <a:p>
            <a:endParaRPr lang="en-US"/>
          </a:p>
        </p:txBody>
      </p:sp>
      <p:sp>
        <p:nvSpPr>
          <p:cNvPr id="62" name="Text 59"/>
          <p:cNvSpPr/>
          <p:nvPr/>
        </p:nvSpPr>
        <p:spPr>
          <a:xfrm>
            <a:off x="11004054" y="5132040"/>
            <a:ext cx="6326794" cy="185738"/>
          </a:xfrm>
          <a:prstGeom prst="rect">
            <a:avLst/>
          </a:prstGeom>
          <a:noFill/>
          <a:ln/>
        </p:spPr>
        <p:txBody>
          <a:bodyPr wrap="square" lIns="25400" tIns="25400" rIns="25400" bIns="25400" rtlCol="0" anchor="t">
            <a:normAutofit lnSpcReduction="10000"/>
          </a:bodyPr>
          <a:lstStyle/>
          <a:p>
            <a:pPr marL="0" indent="0" algn="l">
              <a:buNone/>
            </a:pPr>
            <a:r>
              <a:rPr lang="en-US" sz="900" kern="0" spc="144" dirty="0">
                <a:solidFill>
                  <a:srgbClr val="7A776E"/>
                </a:solidFill>
                <a:latin typeface="JetBrains Mono" pitchFamily="34" charset="0"/>
                <a:ea typeface="JetBrains Mono" pitchFamily="34" charset="-122"/>
                <a:cs typeface="JetBrains Mono" pitchFamily="34" charset="-120"/>
              </a:rPr>
              <a:t>RETENTION</a:t>
            </a:r>
            <a:endParaRPr lang="en-US" sz="900" dirty="0"/>
          </a:p>
        </p:txBody>
      </p:sp>
      <p:sp>
        <p:nvSpPr>
          <p:cNvPr id="63" name="Shape 60"/>
          <p:cNvSpPr/>
          <p:nvPr/>
        </p:nvSpPr>
        <p:spPr>
          <a:xfrm>
            <a:off x="10813554" y="5860703"/>
            <a:ext cx="6512421" cy="9525"/>
          </a:xfrm>
          <a:prstGeom prst="rect">
            <a:avLst/>
          </a:prstGeom>
          <a:solidFill>
            <a:srgbClr val="E2DFD8"/>
          </a:solidFill>
          <a:ln/>
        </p:spPr>
        <p:txBody>
          <a:bodyPr/>
          <a:lstStyle/>
          <a:p>
            <a:endParaRPr lang="en-US"/>
          </a:p>
        </p:txBody>
      </p:sp>
      <p:sp>
        <p:nvSpPr>
          <p:cNvPr id="64" name="Text 61"/>
          <p:cNvSpPr/>
          <p:nvPr/>
        </p:nvSpPr>
        <p:spPr>
          <a:xfrm>
            <a:off x="11004054" y="5508278"/>
            <a:ext cx="5840462"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Entering churn</a:t>
            </a:r>
            <a:endParaRPr lang="en-US" sz="1350" dirty="0"/>
          </a:p>
        </p:txBody>
      </p:sp>
      <p:sp>
        <p:nvSpPr>
          <p:cNvPr id="65" name="Text 62"/>
          <p:cNvSpPr/>
          <p:nvPr/>
        </p:nvSpPr>
        <p:spPr>
          <a:xfrm>
            <a:off x="16826805" y="5498753"/>
            <a:ext cx="38487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21%</a:t>
            </a:r>
            <a:endParaRPr lang="en-US" sz="1350" dirty="0"/>
          </a:p>
        </p:txBody>
      </p:sp>
      <p:sp>
        <p:nvSpPr>
          <p:cNvPr id="66" name="Shape 63"/>
          <p:cNvSpPr/>
          <p:nvPr/>
        </p:nvSpPr>
        <p:spPr>
          <a:xfrm>
            <a:off x="10813554" y="6365528"/>
            <a:ext cx="6512421" cy="9525"/>
          </a:xfrm>
          <a:prstGeom prst="rect">
            <a:avLst/>
          </a:prstGeom>
          <a:solidFill>
            <a:srgbClr val="E2DFD8"/>
          </a:solidFill>
          <a:ln/>
        </p:spPr>
        <p:txBody>
          <a:bodyPr/>
          <a:lstStyle/>
          <a:p>
            <a:endParaRPr lang="en-US"/>
          </a:p>
        </p:txBody>
      </p:sp>
      <p:sp>
        <p:nvSpPr>
          <p:cNvPr id="67" name="Text 64"/>
          <p:cNvSpPr/>
          <p:nvPr/>
        </p:nvSpPr>
        <p:spPr>
          <a:xfrm>
            <a:off x="11004054" y="6013103"/>
            <a:ext cx="5840462"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Terminal churn</a:t>
            </a:r>
            <a:endParaRPr lang="en-US" sz="1350" dirty="0"/>
          </a:p>
        </p:txBody>
      </p:sp>
      <p:sp>
        <p:nvSpPr>
          <p:cNvPr id="68" name="Text 65"/>
          <p:cNvSpPr/>
          <p:nvPr/>
        </p:nvSpPr>
        <p:spPr>
          <a:xfrm>
            <a:off x="16826805" y="6003578"/>
            <a:ext cx="38487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14%</a:t>
            </a:r>
            <a:endParaRPr lang="en-US" sz="1350" dirty="0"/>
          </a:p>
        </p:txBody>
      </p:sp>
      <p:sp>
        <p:nvSpPr>
          <p:cNvPr id="69" name="Shape 66"/>
          <p:cNvSpPr/>
          <p:nvPr/>
        </p:nvSpPr>
        <p:spPr>
          <a:xfrm>
            <a:off x="10813554" y="6375053"/>
            <a:ext cx="6512421" cy="309563"/>
          </a:xfrm>
          <a:prstGeom prst="rect">
            <a:avLst/>
          </a:prstGeom>
          <a:solidFill>
            <a:srgbClr val="F6F5F2"/>
          </a:solidFill>
          <a:ln/>
        </p:spPr>
        <p:txBody>
          <a:bodyPr/>
          <a:lstStyle/>
          <a:p>
            <a:endParaRPr lang="en-US"/>
          </a:p>
        </p:txBody>
      </p:sp>
      <p:sp>
        <p:nvSpPr>
          <p:cNvPr id="70" name="Shape 67"/>
          <p:cNvSpPr/>
          <p:nvPr/>
        </p:nvSpPr>
        <p:spPr>
          <a:xfrm>
            <a:off x="10813554" y="6675090"/>
            <a:ext cx="6512421" cy="9525"/>
          </a:xfrm>
          <a:prstGeom prst="rect">
            <a:avLst/>
          </a:prstGeom>
          <a:solidFill>
            <a:srgbClr val="E2DFD8"/>
          </a:solidFill>
          <a:ln/>
        </p:spPr>
        <p:txBody>
          <a:bodyPr/>
          <a:lstStyle/>
          <a:p>
            <a:endParaRPr lang="en-US"/>
          </a:p>
        </p:txBody>
      </p:sp>
      <p:sp>
        <p:nvSpPr>
          <p:cNvPr id="71" name="Text 68"/>
          <p:cNvSpPr/>
          <p:nvPr/>
        </p:nvSpPr>
        <p:spPr>
          <a:xfrm>
            <a:off x="11004054" y="6451253"/>
            <a:ext cx="6326794" cy="185738"/>
          </a:xfrm>
          <a:prstGeom prst="rect">
            <a:avLst/>
          </a:prstGeom>
          <a:noFill/>
          <a:ln/>
        </p:spPr>
        <p:txBody>
          <a:bodyPr wrap="square" lIns="25400" tIns="25400" rIns="25400" bIns="25400" rtlCol="0" anchor="t">
            <a:normAutofit lnSpcReduction="10000"/>
          </a:bodyPr>
          <a:lstStyle/>
          <a:p>
            <a:pPr marL="0" indent="0" algn="l">
              <a:buNone/>
            </a:pPr>
            <a:r>
              <a:rPr lang="en-US" sz="900" kern="0" spc="144" dirty="0">
                <a:solidFill>
                  <a:srgbClr val="7A776E"/>
                </a:solidFill>
                <a:latin typeface="JetBrains Mono" pitchFamily="34" charset="0"/>
                <a:ea typeface="JetBrains Mono" pitchFamily="34" charset="-122"/>
                <a:cs typeface="JetBrains Mono" pitchFamily="34" charset="-120"/>
              </a:rPr>
              <a:t>MARGIN &amp; DISCOUNT</a:t>
            </a:r>
            <a:endParaRPr lang="en-US" sz="900" dirty="0"/>
          </a:p>
        </p:txBody>
      </p:sp>
      <p:sp>
        <p:nvSpPr>
          <p:cNvPr id="72" name="Shape 69"/>
          <p:cNvSpPr/>
          <p:nvPr/>
        </p:nvSpPr>
        <p:spPr>
          <a:xfrm>
            <a:off x="10813554" y="7179915"/>
            <a:ext cx="6512421" cy="9525"/>
          </a:xfrm>
          <a:prstGeom prst="rect">
            <a:avLst/>
          </a:prstGeom>
          <a:solidFill>
            <a:srgbClr val="E2DFD8"/>
          </a:solidFill>
          <a:ln/>
        </p:spPr>
        <p:txBody>
          <a:bodyPr/>
          <a:lstStyle/>
          <a:p>
            <a:endParaRPr lang="en-US"/>
          </a:p>
        </p:txBody>
      </p:sp>
      <p:sp>
        <p:nvSpPr>
          <p:cNvPr id="73" name="Text 70"/>
          <p:cNvSpPr/>
          <p:nvPr/>
        </p:nvSpPr>
        <p:spPr>
          <a:xfrm>
            <a:off x="11004054" y="6827490"/>
            <a:ext cx="5840462"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Terminal EBITDA margin</a:t>
            </a:r>
            <a:endParaRPr lang="en-US" sz="1350" dirty="0"/>
          </a:p>
        </p:txBody>
      </p:sp>
      <p:sp>
        <p:nvSpPr>
          <p:cNvPr id="74" name="Text 71"/>
          <p:cNvSpPr/>
          <p:nvPr/>
        </p:nvSpPr>
        <p:spPr>
          <a:xfrm>
            <a:off x="16826805" y="6817965"/>
            <a:ext cx="384870" cy="266700"/>
          </a:xfrm>
          <a:prstGeom prst="rect">
            <a:avLst/>
          </a:prstGeom>
          <a:noFill/>
          <a:ln/>
        </p:spPr>
        <p:txBody>
          <a:bodyPr wrap="square" lIns="25400" tIns="25400" rIns="25400" bIns="25400" rtlCol="0" anchor="t">
            <a:normAutofit/>
          </a:bodyPr>
          <a:lstStyle/>
          <a:p>
            <a:pPr marL="0" indent="0" algn="l">
              <a:buNone/>
            </a:pPr>
            <a:r>
              <a:rPr lang="en-US" sz="1350" b="1" dirty="0">
                <a:solidFill>
                  <a:srgbClr val="FF5A1F"/>
                </a:solidFill>
                <a:latin typeface="JetBrains Mono" pitchFamily="34" charset="0"/>
                <a:ea typeface="JetBrains Mono" pitchFamily="34" charset="-122"/>
                <a:cs typeface="JetBrains Mono" pitchFamily="34" charset="-120"/>
              </a:rPr>
              <a:t>26%</a:t>
            </a:r>
            <a:endParaRPr lang="en-US" sz="1350" dirty="0"/>
          </a:p>
        </p:txBody>
      </p:sp>
      <p:sp>
        <p:nvSpPr>
          <p:cNvPr id="75" name="Shape 72"/>
          <p:cNvSpPr/>
          <p:nvPr/>
        </p:nvSpPr>
        <p:spPr>
          <a:xfrm>
            <a:off x="10813554" y="7684740"/>
            <a:ext cx="6512421" cy="9525"/>
          </a:xfrm>
          <a:prstGeom prst="rect">
            <a:avLst/>
          </a:prstGeom>
          <a:solidFill>
            <a:srgbClr val="E2DFD8"/>
          </a:solidFill>
          <a:ln/>
        </p:spPr>
        <p:txBody>
          <a:bodyPr/>
          <a:lstStyle/>
          <a:p>
            <a:endParaRPr lang="en-US"/>
          </a:p>
        </p:txBody>
      </p:sp>
      <p:sp>
        <p:nvSpPr>
          <p:cNvPr id="76" name="Text 73"/>
          <p:cNvSpPr/>
          <p:nvPr/>
        </p:nvSpPr>
        <p:spPr>
          <a:xfrm>
            <a:off x="11004054" y="7332315"/>
            <a:ext cx="5734537"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Terminal growth (g)</a:t>
            </a:r>
            <a:endParaRPr lang="en-US" sz="1350" dirty="0"/>
          </a:p>
        </p:txBody>
      </p:sp>
      <p:sp>
        <p:nvSpPr>
          <p:cNvPr id="77" name="Text 74"/>
          <p:cNvSpPr/>
          <p:nvPr/>
        </p:nvSpPr>
        <p:spPr>
          <a:xfrm>
            <a:off x="16723965" y="7322790"/>
            <a:ext cx="487710"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3.0%</a:t>
            </a:r>
            <a:endParaRPr lang="en-US" sz="1350" dirty="0"/>
          </a:p>
        </p:txBody>
      </p:sp>
      <p:sp>
        <p:nvSpPr>
          <p:cNvPr id="78" name="Shape 75"/>
          <p:cNvSpPr/>
          <p:nvPr/>
        </p:nvSpPr>
        <p:spPr>
          <a:xfrm>
            <a:off x="10813554" y="8189565"/>
            <a:ext cx="6512421" cy="9525"/>
          </a:xfrm>
          <a:prstGeom prst="rect">
            <a:avLst/>
          </a:prstGeom>
          <a:solidFill>
            <a:srgbClr val="E2DFD8"/>
          </a:solidFill>
          <a:ln/>
        </p:spPr>
        <p:txBody>
          <a:bodyPr/>
          <a:lstStyle/>
          <a:p>
            <a:endParaRPr lang="en-US"/>
          </a:p>
        </p:txBody>
      </p:sp>
      <p:sp>
        <p:nvSpPr>
          <p:cNvPr id="79" name="Text 76"/>
          <p:cNvSpPr/>
          <p:nvPr/>
        </p:nvSpPr>
        <p:spPr>
          <a:xfrm>
            <a:off x="11004054" y="7837140"/>
            <a:ext cx="5628611"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WACC (base)</a:t>
            </a:r>
            <a:endParaRPr lang="en-US" sz="1350" dirty="0"/>
          </a:p>
        </p:txBody>
      </p:sp>
      <p:sp>
        <p:nvSpPr>
          <p:cNvPr id="80" name="Text 77"/>
          <p:cNvSpPr/>
          <p:nvPr/>
        </p:nvSpPr>
        <p:spPr>
          <a:xfrm>
            <a:off x="16621125" y="7827615"/>
            <a:ext cx="590550" cy="266700"/>
          </a:xfrm>
          <a:prstGeom prst="rect">
            <a:avLst/>
          </a:prstGeom>
          <a:noFill/>
          <a:ln/>
        </p:spPr>
        <p:txBody>
          <a:bodyPr wrap="square" lIns="25400" tIns="25400" rIns="25400" bIns="25400" rtlCol="0" anchor="t">
            <a:normAutofit/>
          </a:bodyPr>
          <a:lstStyle/>
          <a:p>
            <a:pPr marL="0" indent="0" algn="l">
              <a:buNone/>
            </a:pPr>
            <a:r>
              <a:rPr lang="en-US" sz="1350" b="1" dirty="0">
                <a:solidFill>
                  <a:srgbClr val="FF5A1F"/>
                </a:solidFill>
                <a:latin typeface="JetBrains Mono" pitchFamily="34" charset="0"/>
                <a:ea typeface="JetBrains Mono" pitchFamily="34" charset="-122"/>
                <a:cs typeface="JetBrains Mono" pitchFamily="34" charset="-120"/>
              </a:rPr>
              <a:t>10.5%</a:t>
            </a:r>
            <a:endParaRPr lang="en-US" sz="1350" dirty="0"/>
          </a:p>
        </p:txBody>
      </p:sp>
      <p:sp>
        <p:nvSpPr>
          <p:cNvPr id="81" name="Text 78"/>
          <p:cNvSpPr/>
          <p:nvPr/>
        </p:nvSpPr>
        <p:spPr>
          <a:xfrm>
            <a:off x="11004054" y="8341965"/>
            <a:ext cx="4463048"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Comp-set beta</a:t>
            </a:r>
            <a:endParaRPr lang="en-US" sz="1350" dirty="0"/>
          </a:p>
        </p:txBody>
      </p:sp>
      <p:sp>
        <p:nvSpPr>
          <p:cNvPr id="82" name="Text 79"/>
          <p:cNvSpPr/>
          <p:nvPr/>
        </p:nvSpPr>
        <p:spPr>
          <a:xfrm>
            <a:off x="15489510" y="8332440"/>
            <a:ext cx="1722165"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1.32 (relevered)</a:t>
            </a:r>
            <a:endParaRPr lang="en-US" sz="1350" dirty="0"/>
          </a:p>
        </p:txBody>
      </p:sp>
      <p:sp>
        <p:nvSpPr>
          <p:cNvPr id="83" name="Text 80"/>
          <p:cNvSpPr/>
          <p:nvPr/>
        </p:nvSpPr>
        <p:spPr>
          <a:xfrm>
            <a:off x="952500" y="9767888"/>
            <a:ext cx="8029639"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WACC BUILT VIA CAPM (LECTURE 1B). COMP BETAS RELEVERED VIA </a:t>
            </a:r>
            <a:r>
              <a:rPr lang="en-US" sz="1050" kern="0" spc="147" dirty="0">
                <a:solidFill>
                  <a:srgbClr val="FF5A1F"/>
                </a:solidFill>
                <a:latin typeface="JetBrains Mono" pitchFamily="34" charset="0"/>
                <a:ea typeface="JetBrains Mono" pitchFamily="34" charset="-122"/>
                <a:cs typeface="JetBrains Mono" pitchFamily="34" charset="-120"/>
              </a:rPr>
              <a:t>HAMADA </a:t>
            </a:r>
            <a:r>
              <a:rPr lang="en-US" sz="1050" kern="0" spc="147" dirty="0">
                <a:solidFill>
                  <a:srgbClr val="7A776E"/>
                </a:solidFill>
                <a:latin typeface="JetBrains Mono" pitchFamily="34" charset="0"/>
                <a:ea typeface="JetBrains Mono" pitchFamily="34" charset="-122"/>
                <a:cs typeface="JetBrains Mono" pitchFamily="34" charset="-120"/>
              </a:rPr>
              <a:t>(LECTURE 2B).</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678F9E-7F61-A34E-EE30-613BDF2D4803}"/>
              </a:ext>
            </a:extLst>
          </p:cNvPr>
          <p:cNvSpPr txBox="1"/>
          <p:nvPr/>
        </p:nvSpPr>
        <p:spPr>
          <a:xfrm>
            <a:off x="1005840" y="1018902"/>
            <a:ext cx="16694331" cy="5355312"/>
          </a:xfrm>
          <a:prstGeom prst="rect">
            <a:avLst/>
          </a:prstGeom>
          <a:noFill/>
        </p:spPr>
        <p:txBody>
          <a:bodyPr wrap="square" rtlCol="0">
            <a:spAutoFit/>
          </a:bodyPr>
          <a:lstStyle/>
          <a:p>
            <a:r>
              <a:rPr lang="en-US"/>
              <a:t>DCF logic: </a:t>
            </a:r>
          </a:p>
          <a:p>
            <a:endParaRPr lang="en-US"/>
          </a:p>
          <a:p>
            <a:endParaRPr lang="en-US"/>
          </a:p>
          <a:p>
            <a:r>
              <a:rPr lang="en-US"/>
              <a:t>We have base/bear/bull cases across major assumptions – that gets use </a:t>
            </a:r>
            <a:r>
              <a:rPr lang="en-US" err="1"/>
              <a:t>ragne</a:t>
            </a:r>
            <a:r>
              <a:rPr lang="en-US"/>
              <a:t> from 3B – 19B </a:t>
            </a:r>
          </a:p>
          <a:p>
            <a:r>
              <a:rPr lang="en-US"/>
              <a:t>however these strong bear and bull exist because inputs/assumptions correlate and compound on each other; they are convex </a:t>
            </a:r>
          </a:p>
          <a:p>
            <a:endParaRPr lang="en-US"/>
          </a:p>
          <a:p>
            <a:r>
              <a:rPr lang="en-US"/>
              <a:t>So we </a:t>
            </a:r>
            <a:r>
              <a:rPr lang="en-US" err="1"/>
              <a:t>dervive</a:t>
            </a:r>
            <a:r>
              <a:rPr lang="en-US"/>
              <a:t> </a:t>
            </a:r>
            <a:r>
              <a:rPr lang="en-US" err="1"/>
              <a:t>secarios</a:t>
            </a:r>
            <a:r>
              <a:rPr lang="en-US"/>
              <a:t> of bull/bear/base cases and </a:t>
            </a:r>
            <a:r>
              <a:rPr lang="en-US" err="1"/>
              <a:t>attatch</a:t>
            </a:r>
            <a:r>
              <a:rPr lang="en-US"/>
              <a:t> them with probabilities themselves to get an EV of outcomes -- we use the outcomes of comparables companies loosely to</a:t>
            </a:r>
          </a:p>
          <a:p>
            <a:r>
              <a:rPr lang="en-US"/>
              <a:t>treat base case as 50% likely bear 20% / bull 30% to get a scenario based DCF landing at around 10B ; we then do input driven DCF and land at 8B. This gap is the Jensen principle. </a:t>
            </a:r>
          </a:p>
          <a:p>
            <a:r>
              <a:rPr lang="en-US"/>
              <a:t>This exists because of it … . The insight is without any </a:t>
            </a:r>
            <a:r>
              <a:rPr lang="en-US" b="1"/>
              <a:t>healthcare reimbursement </a:t>
            </a:r>
            <a:r>
              <a:rPr lang="en-US"/>
              <a:t>upside baked into DCF (expanding ARPU and members); we treat bull case as enough members com</a:t>
            </a:r>
          </a:p>
          <a:p>
            <a:endParaRPr lang="en-US"/>
          </a:p>
          <a:p>
            <a:endParaRPr lang="en-US"/>
          </a:p>
          <a:p>
            <a:r>
              <a:rPr lang="en-US"/>
              <a:t>We then present the football field showing our different valuation inputs; we have the base case DCF with no healthcare upside * the scenario that captures the upside </a:t>
            </a:r>
          </a:p>
          <a:p>
            <a:r>
              <a:rPr lang="en-US"/>
              <a:t>Our comps are shown to give us an anchor or floor for the company. What the comps are showing is that no other company besides maybe OURA is going after the consumer/biometric/healthcare</a:t>
            </a:r>
          </a:p>
          <a:p>
            <a:r>
              <a:rPr lang="en-US"/>
              <a:t>Thesis. Series G </a:t>
            </a:r>
            <a:r>
              <a:rPr lang="en-US" err="1"/>
              <a:t>explicility</a:t>
            </a:r>
            <a:r>
              <a:rPr lang="en-US"/>
              <a:t> prices this in. Our position is more bullish/bearish or what? </a:t>
            </a:r>
          </a:p>
          <a:p>
            <a:endParaRPr lang="en-US"/>
          </a:p>
          <a:p>
            <a:endParaRPr lang="en-US"/>
          </a:p>
        </p:txBody>
      </p:sp>
    </p:spTree>
    <p:extLst>
      <p:ext uri="{BB962C8B-B14F-4D97-AF65-F5344CB8AC3E}">
        <p14:creationId xmlns:p14="http://schemas.microsoft.com/office/powerpoint/2010/main" val="1167882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Shape 32">
            <a:extLst>
              <a:ext uri="{FF2B5EF4-FFF2-40B4-BE49-F238E27FC236}">
                <a16:creationId xmlns:a16="http://schemas.microsoft.com/office/drawing/2014/main" id="{E69791A8-03DB-B3F1-29C1-62C968A69F4F}"/>
              </a:ext>
            </a:extLst>
          </p:cNvPr>
          <p:cNvSpPr/>
          <p:nvPr/>
        </p:nvSpPr>
        <p:spPr>
          <a:xfrm>
            <a:off x="7774134" y="3405942"/>
            <a:ext cx="3636863" cy="3241252"/>
          </a:xfrm>
          <a:prstGeom prst="rect">
            <a:avLst/>
          </a:prstGeom>
          <a:solidFill>
            <a:srgbClr val="1F7A3D">
              <a:alpha val="6000"/>
            </a:srgbClr>
          </a:solidFill>
          <a:ln/>
        </p:spPr>
        <p:txBody>
          <a:bodyPr/>
          <a:lstStyle/>
          <a:p>
            <a:endParaRPr lang="en-US"/>
          </a:p>
        </p:txBody>
      </p:sp>
      <p:sp>
        <p:nvSpPr>
          <p:cNvPr id="118" name="Shape 24">
            <a:extLst>
              <a:ext uri="{FF2B5EF4-FFF2-40B4-BE49-F238E27FC236}">
                <a16:creationId xmlns:a16="http://schemas.microsoft.com/office/drawing/2014/main" id="{7532A419-B03A-C601-B9FE-E9A64BA20898}"/>
              </a:ext>
            </a:extLst>
          </p:cNvPr>
          <p:cNvSpPr/>
          <p:nvPr/>
        </p:nvSpPr>
        <p:spPr>
          <a:xfrm>
            <a:off x="1724025" y="3400939"/>
            <a:ext cx="2414885" cy="3251514"/>
          </a:xfrm>
          <a:prstGeom prst="rect">
            <a:avLst/>
          </a:prstGeom>
          <a:solidFill>
            <a:srgbClr val="FF5A1F">
              <a:alpha val="6000"/>
            </a:srgbClr>
          </a:solidFill>
          <a:ln/>
        </p:spPr>
        <p:txBody>
          <a:bodyPr/>
          <a:lstStyle/>
          <a:p>
            <a:endParaRPr lang="en-US" dirty="0"/>
          </a:p>
        </p:txBody>
      </p:sp>
      <p:sp>
        <p:nvSpPr>
          <p:cNvPr id="2" name="Shape 0"/>
          <p:cNvSpPr/>
          <p:nvPr/>
        </p:nvSpPr>
        <p:spPr>
          <a:xfrm>
            <a:off x="914384" y="429700"/>
            <a:ext cx="66642" cy="66642"/>
          </a:xfrm>
          <a:prstGeom prst="ellipse">
            <a:avLst/>
          </a:prstGeom>
          <a:solidFill>
            <a:srgbClr val="E63425"/>
          </a:solidFill>
          <a:ln/>
        </p:spPr>
        <p:txBody>
          <a:bodyPr/>
          <a:lstStyle/>
          <a:p>
            <a:endParaRPr lang="en-US"/>
          </a:p>
        </p:txBody>
      </p:sp>
      <p:sp>
        <p:nvSpPr>
          <p:cNvPr id="3" name="Text 1"/>
          <p:cNvSpPr/>
          <p:nvPr/>
        </p:nvSpPr>
        <p:spPr>
          <a:xfrm>
            <a:off x="1057176" y="381000"/>
            <a:ext cx="2097038" cy="202142"/>
          </a:xfrm>
          <a:prstGeom prst="rect">
            <a:avLst/>
          </a:prstGeom>
          <a:noFill/>
          <a:ln/>
        </p:spPr>
        <p:txBody>
          <a:bodyPr wrap="square" lIns="0" tIns="0" rIns="0" bIns="0" rtlCol="0" anchor="t">
            <a:normAutofit/>
          </a:bodyPr>
          <a:lstStyle/>
          <a:p>
            <a:pPr marL="0" indent="0" algn="l">
              <a:buNone/>
            </a:pPr>
            <a:r>
              <a:rPr lang="en-US" sz="975" b="1" kern="0" spc="351" dirty="0">
                <a:solidFill>
                  <a:srgbClr val="0A0A0A"/>
                </a:solidFill>
                <a:latin typeface="JetBrains Mono" pitchFamily="34" charset="0"/>
                <a:ea typeface="JetBrains Mono" pitchFamily="34" charset="-122"/>
                <a:cs typeface="JetBrains Mono" pitchFamily="34" charset="-120"/>
              </a:rPr>
              <a:t>WHOOP / VALUATION</a:t>
            </a:r>
            <a:endParaRPr lang="en-US" sz="975" dirty="0"/>
          </a:p>
        </p:txBody>
      </p:sp>
      <p:sp>
        <p:nvSpPr>
          <p:cNvPr id="4" name="Text 2"/>
          <p:cNvSpPr/>
          <p:nvPr/>
        </p:nvSpPr>
        <p:spPr>
          <a:xfrm>
            <a:off x="15005100" y="381000"/>
            <a:ext cx="752293" cy="202142"/>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5A5A5A"/>
                </a:solidFill>
                <a:latin typeface="JetBrains Mono" pitchFamily="34" charset="0"/>
                <a:ea typeface="JetBrains Mono" pitchFamily="34" charset="-122"/>
                <a:cs typeface="JetBrains Mono" pitchFamily="34" charset="-120"/>
              </a:rPr>
              <a:t>05 / 12</a:t>
            </a:r>
            <a:endParaRPr lang="en-US" sz="975" dirty="0"/>
          </a:p>
        </p:txBody>
      </p:sp>
      <p:sp>
        <p:nvSpPr>
          <p:cNvPr id="5" name="Text 3"/>
          <p:cNvSpPr/>
          <p:nvPr/>
        </p:nvSpPr>
        <p:spPr>
          <a:xfrm>
            <a:off x="15947844" y="381000"/>
            <a:ext cx="172856" cy="202142"/>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9A968D"/>
                </a:solidFill>
                <a:latin typeface="JetBrains Mono" pitchFamily="34" charset="0"/>
                <a:ea typeface="JetBrains Mono" pitchFamily="34" charset="-122"/>
                <a:cs typeface="JetBrains Mono" pitchFamily="34" charset="-120"/>
              </a:rPr>
              <a:t>·</a:t>
            </a:r>
            <a:endParaRPr lang="en-US" sz="975" dirty="0"/>
          </a:p>
        </p:txBody>
      </p:sp>
      <p:sp>
        <p:nvSpPr>
          <p:cNvPr id="6" name="Text 4"/>
          <p:cNvSpPr/>
          <p:nvPr/>
        </p:nvSpPr>
        <p:spPr>
          <a:xfrm>
            <a:off x="16311150" y="381000"/>
            <a:ext cx="1138667" cy="202142"/>
          </a:xfrm>
          <a:prstGeom prst="rect">
            <a:avLst/>
          </a:prstGeom>
          <a:noFill/>
          <a:ln/>
        </p:spPr>
        <p:txBody>
          <a:bodyPr wrap="square" lIns="25400" tIns="25400" rIns="25400" bIns="25400" rtlCol="0" anchor="t">
            <a:normAutofit/>
          </a:bodyPr>
          <a:lstStyle/>
          <a:p>
            <a:pPr marL="0" indent="0" algn="l">
              <a:buNone/>
            </a:pPr>
            <a:r>
              <a:rPr lang="en-US" sz="975" kern="0" spc="176" dirty="0">
                <a:solidFill>
                  <a:srgbClr val="5A5A5A"/>
                </a:solidFill>
                <a:latin typeface="JetBrains Mono" pitchFamily="34" charset="0"/>
                <a:ea typeface="JetBrains Mono" pitchFamily="34" charset="-122"/>
                <a:cs typeface="JetBrains Mono" pitchFamily="34" charset="-120"/>
              </a:rPr>
              <a:t>DCF · BUILD</a:t>
            </a:r>
            <a:endParaRPr lang="en-US" sz="975" dirty="0"/>
          </a:p>
        </p:txBody>
      </p:sp>
      <p:sp>
        <p:nvSpPr>
          <p:cNvPr id="10" name="Text 8"/>
          <p:cNvSpPr/>
          <p:nvPr/>
        </p:nvSpPr>
        <p:spPr>
          <a:xfrm>
            <a:off x="914384" y="978602"/>
            <a:ext cx="16953011" cy="647717"/>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kern="0" spc="-120" dirty="0">
                <a:solidFill>
                  <a:srgbClr val="0A0A0A"/>
                </a:solidFill>
                <a:latin typeface="Inter Tight" pitchFamily="34" charset="0"/>
                <a:ea typeface="Inter Tight" pitchFamily="34" charset="-122"/>
                <a:cs typeface="Inter Tight" pitchFamily="34" charset="-120"/>
              </a:rPr>
              <a:t>Three phases. </a:t>
            </a:r>
            <a:r>
              <a:rPr lang="en-US" sz="4800" b="1" kern="0" spc="-120" dirty="0">
                <a:solidFill>
                  <a:srgbClr val="E63425"/>
                </a:solidFill>
                <a:latin typeface="Inter Tight" pitchFamily="34" charset="0"/>
                <a:ea typeface="Inter Tight" pitchFamily="34" charset="-122"/>
                <a:cs typeface="Inter Tight" pitchFamily="34" charset="-120"/>
              </a:rPr>
              <a:t>Seven years.</a:t>
            </a:r>
            <a:endParaRPr lang="en-US" sz="4800" dirty="0"/>
          </a:p>
        </p:txBody>
      </p:sp>
      <p:sp>
        <p:nvSpPr>
          <p:cNvPr id="11" name="Text 9"/>
          <p:cNvSpPr/>
          <p:nvPr/>
        </p:nvSpPr>
        <p:spPr>
          <a:xfrm>
            <a:off x="914384" y="1689174"/>
            <a:ext cx="14716126" cy="369573"/>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kern="0" spc="-9" dirty="0">
                <a:solidFill>
                  <a:srgbClr val="2A2A2A"/>
                </a:solidFill>
                <a:latin typeface="Inter Tight" pitchFamily="34" charset="0"/>
                <a:ea typeface="Inter Tight" pitchFamily="34" charset="-122"/>
                <a:cs typeface="Inter Tight" pitchFamily="34" charset="-120"/>
              </a:rPr>
              <a:t>WHOOP isn't one business across the forecast — three phases, each a distinct operating thesis stitched together via unit economics.</a:t>
            </a:r>
            <a:endParaRPr lang="en-US" sz="1800" dirty="0"/>
          </a:p>
        </p:txBody>
      </p:sp>
      <p:sp>
        <p:nvSpPr>
          <p:cNvPr id="12" name="Shape 10"/>
          <p:cNvSpPr/>
          <p:nvPr/>
        </p:nvSpPr>
        <p:spPr>
          <a:xfrm>
            <a:off x="914384" y="7185836"/>
            <a:ext cx="10498502" cy="9525"/>
          </a:xfrm>
          <a:prstGeom prst="rect">
            <a:avLst/>
          </a:prstGeom>
          <a:solidFill>
            <a:srgbClr val="0A0A0A"/>
          </a:solidFill>
          <a:ln/>
        </p:spPr>
        <p:txBody>
          <a:bodyPr/>
          <a:lstStyle/>
          <a:p>
            <a:endParaRPr lang="en-US"/>
          </a:p>
        </p:txBody>
      </p:sp>
      <p:sp>
        <p:nvSpPr>
          <p:cNvPr id="14" name="Text 12"/>
          <p:cNvSpPr/>
          <p:nvPr/>
        </p:nvSpPr>
        <p:spPr>
          <a:xfrm>
            <a:off x="1266941" y="3405436"/>
            <a:ext cx="390393" cy="175683"/>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5A5A5A"/>
                </a:solidFill>
                <a:latin typeface="JetBrains Mono" pitchFamily="34" charset="0"/>
                <a:ea typeface="JetBrains Mono" pitchFamily="34" charset="-122"/>
                <a:cs typeface="JetBrains Mono" pitchFamily="34" charset="-120"/>
              </a:rPr>
              <a:t>$3.5B</a:t>
            </a:r>
            <a:endParaRPr lang="en-US" sz="825" dirty="0"/>
          </a:p>
        </p:txBody>
      </p:sp>
      <p:sp>
        <p:nvSpPr>
          <p:cNvPr id="15" name="Text 13"/>
          <p:cNvSpPr/>
          <p:nvPr/>
        </p:nvSpPr>
        <p:spPr>
          <a:xfrm>
            <a:off x="1266941" y="4182815"/>
            <a:ext cx="390393" cy="175683"/>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5A5A5A"/>
                </a:solidFill>
                <a:latin typeface="JetBrains Mono" pitchFamily="34" charset="0"/>
                <a:ea typeface="JetBrains Mono" pitchFamily="34" charset="-122"/>
                <a:cs typeface="JetBrains Mono" pitchFamily="34" charset="-120"/>
              </a:rPr>
              <a:t>$2.6B</a:t>
            </a:r>
            <a:endParaRPr lang="en-US" sz="825" dirty="0"/>
          </a:p>
        </p:txBody>
      </p:sp>
      <p:sp>
        <p:nvSpPr>
          <p:cNvPr id="16" name="Text 14"/>
          <p:cNvSpPr/>
          <p:nvPr/>
        </p:nvSpPr>
        <p:spPr>
          <a:xfrm>
            <a:off x="1204102" y="4960194"/>
            <a:ext cx="453231" cy="175683"/>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5A5A5A"/>
                </a:solidFill>
                <a:latin typeface="JetBrains Mono" pitchFamily="34" charset="0"/>
                <a:ea typeface="JetBrains Mono" pitchFamily="34" charset="-122"/>
                <a:cs typeface="JetBrains Mono" pitchFamily="34" charset="-120"/>
              </a:rPr>
              <a:t>$1.75B</a:t>
            </a:r>
            <a:endParaRPr lang="en-US" sz="825" dirty="0"/>
          </a:p>
        </p:txBody>
      </p:sp>
      <p:sp>
        <p:nvSpPr>
          <p:cNvPr id="17" name="Text 15"/>
          <p:cNvSpPr/>
          <p:nvPr/>
        </p:nvSpPr>
        <p:spPr>
          <a:xfrm>
            <a:off x="1266941" y="5737490"/>
            <a:ext cx="390393" cy="175683"/>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5A5A5A"/>
                </a:solidFill>
                <a:latin typeface="JetBrains Mono" pitchFamily="34" charset="0"/>
                <a:ea typeface="JetBrains Mono" pitchFamily="34" charset="-122"/>
                <a:cs typeface="JetBrains Mono" pitchFamily="34" charset="-120"/>
              </a:rPr>
              <a:t>$0.9B</a:t>
            </a:r>
            <a:endParaRPr lang="en-US" sz="825" dirty="0"/>
          </a:p>
        </p:txBody>
      </p:sp>
      <p:sp>
        <p:nvSpPr>
          <p:cNvPr id="18" name="Text 16"/>
          <p:cNvSpPr/>
          <p:nvPr/>
        </p:nvSpPr>
        <p:spPr>
          <a:xfrm>
            <a:off x="1455457" y="6514869"/>
            <a:ext cx="201877" cy="175683"/>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5A5A5A"/>
                </a:solidFill>
                <a:latin typeface="JetBrains Mono" pitchFamily="34" charset="0"/>
                <a:ea typeface="JetBrains Mono" pitchFamily="34" charset="-122"/>
                <a:cs typeface="JetBrains Mono" pitchFamily="34" charset="-120"/>
              </a:rPr>
              <a:t>$0</a:t>
            </a:r>
            <a:endParaRPr lang="en-US" sz="825" dirty="0"/>
          </a:p>
        </p:txBody>
      </p:sp>
      <p:sp>
        <p:nvSpPr>
          <p:cNvPr id="19" name="Shape 17"/>
          <p:cNvSpPr/>
          <p:nvPr/>
        </p:nvSpPr>
        <p:spPr>
          <a:xfrm>
            <a:off x="1714417" y="3405436"/>
            <a:ext cx="9698468" cy="9525"/>
          </a:xfrm>
          <a:prstGeom prst="rect">
            <a:avLst/>
          </a:prstGeom>
          <a:solidFill>
            <a:srgbClr val="0A0A0A">
              <a:alpha val="10000"/>
            </a:srgbClr>
          </a:solidFill>
          <a:ln/>
        </p:spPr>
        <p:txBody>
          <a:bodyPr/>
          <a:lstStyle/>
          <a:p>
            <a:endParaRPr lang="en-US"/>
          </a:p>
        </p:txBody>
      </p:sp>
      <p:sp>
        <p:nvSpPr>
          <p:cNvPr id="20" name="Shape 18"/>
          <p:cNvSpPr/>
          <p:nvPr/>
        </p:nvSpPr>
        <p:spPr>
          <a:xfrm>
            <a:off x="1714417" y="4217128"/>
            <a:ext cx="9698468" cy="9525"/>
          </a:xfrm>
          <a:prstGeom prst="rect">
            <a:avLst/>
          </a:prstGeom>
          <a:solidFill>
            <a:srgbClr val="0A0A0A">
              <a:alpha val="10000"/>
            </a:srgbClr>
          </a:solidFill>
          <a:ln/>
        </p:spPr>
        <p:txBody>
          <a:bodyPr/>
          <a:lstStyle/>
          <a:p>
            <a:endParaRPr lang="en-US"/>
          </a:p>
        </p:txBody>
      </p:sp>
      <p:sp>
        <p:nvSpPr>
          <p:cNvPr id="21" name="Shape 19"/>
          <p:cNvSpPr/>
          <p:nvPr/>
        </p:nvSpPr>
        <p:spPr>
          <a:xfrm>
            <a:off x="1714417" y="5028902"/>
            <a:ext cx="9698468" cy="9525"/>
          </a:xfrm>
          <a:prstGeom prst="rect">
            <a:avLst/>
          </a:prstGeom>
          <a:solidFill>
            <a:srgbClr val="0A0A0A">
              <a:alpha val="10000"/>
            </a:srgbClr>
          </a:solidFill>
          <a:ln/>
        </p:spPr>
        <p:txBody>
          <a:bodyPr/>
          <a:lstStyle/>
          <a:p>
            <a:endParaRPr lang="en-US"/>
          </a:p>
        </p:txBody>
      </p:sp>
      <p:sp>
        <p:nvSpPr>
          <p:cNvPr id="22" name="Shape 20"/>
          <p:cNvSpPr/>
          <p:nvPr/>
        </p:nvSpPr>
        <p:spPr>
          <a:xfrm>
            <a:off x="1714417" y="5840677"/>
            <a:ext cx="9698468" cy="9525"/>
          </a:xfrm>
          <a:prstGeom prst="rect">
            <a:avLst/>
          </a:prstGeom>
          <a:solidFill>
            <a:srgbClr val="0A0A0A">
              <a:alpha val="10000"/>
            </a:srgbClr>
          </a:solidFill>
          <a:ln/>
        </p:spPr>
        <p:txBody>
          <a:bodyPr/>
          <a:lstStyle/>
          <a:p>
            <a:endParaRPr lang="en-US"/>
          </a:p>
        </p:txBody>
      </p:sp>
      <p:sp>
        <p:nvSpPr>
          <p:cNvPr id="23" name="Shape 21"/>
          <p:cNvSpPr/>
          <p:nvPr/>
        </p:nvSpPr>
        <p:spPr>
          <a:xfrm>
            <a:off x="1714417" y="6652452"/>
            <a:ext cx="9698468" cy="9525"/>
          </a:xfrm>
          <a:prstGeom prst="rect">
            <a:avLst/>
          </a:prstGeom>
          <a:solidFill>
            <a:srgbClr val="0A0A0A"/>
          </a:solidFill>
          <a:ln/>
        </p:spPr>
        <p:txBody>
          <a:bodyPr/>
          <a:lstStyle/>
          <a:p>
            <a:endParaRPr lang="en-US"/>
          </a:p>
        </p:txBody>
      </p:sp>
      <p:sp>
        <p:nvSpPr>
          <p:cNvPr id="25" name="Text 23"/>
          <p:cNvSpPr/>
          <p:nvPr/>
        </p:nvSpPr>
        <p:spPr>
          <a:xfrm>
            <a:off x="1809667" y="3481586"/>
            <a:ext cx="1465014" cy="313267"/>
          </a:xfrm>
          <a:prstGeom prst="rect">
            <a:avLst/>
          </a:prstGeom>
          <a:noFill/>
          <a:ln/>
        </p:spPr>
        <p:txBody>
          <a:bodyPr wrap="square" lIns="0" tIns="0" rIns="0" bIns="0" rtlCol="0" anchor="t">
            <a:normAutofit/>
          </a:bodyPr>
          <a:lstStyle/>
          <a:p>
            <a:pPr marL="0" indent="0" algn="l">
              <a:buNone/>
            </a:pPr>
            <a:r>
              <a:rPr lang="en-US" sz="825" b="1" kern="0" spc="149" dirty="0">
                <a:solidFill>
                  <a:srgbClr val="2A2A2A"/>
                </a:solidFill>
                <a:latin typeface="JetBrains Mono" pitchFamily="34" charset="0"/>
                <a:ea typeface="JetBrains Mono" pitchFamily="34" charset="-122"/>
                <a:cs typeface="JetBrains Mono" pitchFamily="34" charset="-120"/>
              </a:rPr>
              <a:t>PHASE 1 · PRE-IPO HYPERGROWTH</a:t>
            </a:r>
            <a:endParaRPr lang="en-US" sz="825" dirty="0"/>
          </a:p>
        </p:txBody>
      </p:sp>
      <p:sp>
        <p:nvSpPr>
          <p:cNvPr id="26" name="Text 24"/>
          <p:cNvSpPr/>
          <p:nvPr/>
        </p:nvSpPr>
        <p:spPr>
          <a:xfrm>
            <a:off x="1809667" y="3766261"/>
            <a:ext cx="2405526" cy="313267"/>
          </a:xfrm>
          <a:prstGeom prst="rect">
            <a:avLst/>
          </a:prstGeom>
          <a:noFill/>
          <a:ln/>
        </p:spPr>
        <p:txBody>
          <a:bodyPr wrap="square" lIns="25400" tIns="25400" rIns="25400" bIns="25400" rtlCol="0" anchor="t">
            <a:normAutofit/>
          </a:bodyPr>
          <a:lstStyle/>
          <a:p>
            <a:pPr marL="0" indent="0" algn="l">
              <a:buNone/>
            </a:pPr>
            <a:r>
              <a:rPr lang="en-US" sz="825" kern="0" spc="149" dirty="0">
                <a:solidFill>
                  <a:srgbClr val="5A5A5A"/>
                </a:solidFill>
                <a:latin typeface="JetBrains Mono" pitchFamily="34" charset="0"/>
                <a:ea typeface="JetBrains Mono" pitchFamily="34" charset="-122"/>
                <a:cs typeface="JetBrains Mono" pitchFamily="34" charset="-120"/>
              </a:rPr>
              <a:t>2026 – 2027 · MEMBER GROWTH +50%</a:t>
            </a:r>
            <a:endParaRPr lang="en-US" sz="825" dirty="0"/>
          </a:p>
        </p:txBody>
      </p:sp>
      <p:sp>
        <p:nvSpPr>
          <p:cNvPr id="27" name="Shape 25"/>
          <p:cNvSpPr/>
          <p:nvPr/>
        </p:nvSpPr>
        <p:spPr>
          <a:xfrm>
            <a:off x="4138993" y="3405436"/>
            <a:ext cx="3636863" cy="3247016"/>
          </a:xfrm>
          <a:prstGeom prst="rect">
            <a:avLst/>
          </a:prstGeom>
          <a:solidFill>
            <a:srgbClr val="0A0A0A">
              <a:alpha val="5000"/>
            </a:srgbClr>
          </a:solidFill>
          <a:ln/>
        </p:spPr>
        <p:txBody>
          <a:bodyPr/>
          <a:lstStyle/>
          <a:p>
            <a:endParaRPr lang="en-US"/>
          </a:p>
        </p:txBody>
      </p:sp>
      <p:sp>
        <p:nvSpPr>
          <p:cNvPr id="28" name="Text 26"/>
          <p:cNvSpPr/>
          <p:nvPr/>
        </p:nvSpPr>
        <p:spPr>
          <a:xfrm>
            <a:off x="4234243" y="3481586"/>
            <a:ext cx="2281916" cy="175683"/>
          </a:xfrm>
          <a:prstGeom prst="rect">
            <a:avLst/>
          </a:prstGeom>
          <a:noFill/>
          <a:ln/>
        </p:spPr>
        <p:txBody>
          <a:bodyPr wrap="square" lIns="0" tIns="0" rIns="0" bIns="0" rtlCol="0" anchor="t">
            <a:normAutofit/>
          </a:bodyPr>
          <a:lstStyle/>
          <a:p>
            <a:pPr marL="0" indent="0" algn="l">
              <a:buNone/>
            </a:pPr>
            <a:r>
              <a:rPr lang="en-US" sz="825" b="1" kern="0" spc="149" dirty="0">
                <a:solidFill>
                  <a:srgbClr val="2A2A2A"/>
                </a:solidFill>
                <a:latin typeface="JetBrains Mono" pitchFamily="34" charset="0"/>
                <a:ea typeface="JetBrains Mono" pitchFamily="34" charset="-122"/>
                <a:cs typeface="JetBrains Mono" pitchFamily="34" charset="-120"/>
              </a:rPr>
              <a:t>PHASE 2 · MARGIN INFLECTION</a:t>
            </a:r>
            <a:endParaRPr lang="en-US" sz="825" dirty="0"/>
          </a:p>
        </p:txBody>
      </p:sp>
      <p:sp>
        <p:nvSpPr>
          <p:cNvPr id="29" name="Text 27"/>
          <p:cNvSpPr/>
          <p:nvPr/>
        </p:nvSpPr>
        <p:spPr>
          <a:xfrm>
            <a:off x="4234243" y="3628678"/>
            <a:ext cx="2527234" cy="175683"/>
          </a:xfrm>
          <a:prstGeom prst="rect">
            <a:avLst/>
          </a:prstGeom>
          <a:noFill/>
          <a:ln/>
        </p:spPr>
        <p:txBody>
          <a:bodyPr wrap="square" lIns="25400" tIns="25400" rIns="25400" bIns="25400" rtlCol="0" anchor="t">
            <a:normAutofit lnSpcReduction="10000"/>
          </a:bodyPr>
          <a:lstStyle/>
          <a:p>
            <a:pPr marL="0" indent="0" algn="l">
              <a:buNone/>
            </a:pPr>
            <a:r>
              <a:rPr lang="en-US" sz="825" kern="0" spc="149" dirty="0">
                <a:solidFill>
                  <a:srgbClr val="5A5A5A"/>
                </a:solidFill>
                <a:latin typeface="JetBrains Mono" pitchFamily="34" charset="0"/>
                <a:ea typeface="JetBrains Mono" pitchFamily="34" charset="-122"/>
                <a:cs typeface="JetBrains Mono" pitchFamily="34" charset="-120"/>
              </a:rPr>
              <a:t>2028 – 2030 · EBITDA 18% → 28%</a:t>
            </a:r>
            <a:endParaRPr lang="en-US" sz="825" dirty="0"/>
          </a:p>
        </p:txBody>
      </p:sp>
      <p:sp>
        <p:nvSpPr>
          <p:cNvPr id="30" name="Shape 28"/>
          <p:cNvSpPr/>
          <p:nvPr/>
        </p:nvSpPr>
        <p:spPr>
          <a:xfrm>
            <a:off x="7775939" y="3405436"/>
            <a:ext cx="3636863" cy="3247016"/>
          </a:xfrm>
          <a:prstGeom prst="rect">
            <a:avLst/>
          </a:prstGeom>
          <a:solidFill>
            <a:srgbClr val="0A0A0A">
              <a:alpha val="7000"/>
            </a:srgbClr>
          </a:solidFill>
          <a:ln/>
        </p:spPr>
        <p:txBody>
          <a:bodyPr/>
          <a:lstStyle/>
          <a:p>
            <a:endParaRPr lang="en-US"/>
          </a:p>
        </p:txBody>
      </p:sp>
      <p:sp>
        <p:nvSpPr>
          <p:cNvPr id="31" name="Text 29"/>
          <p:cNvSpPr/>
          <p:nvPr/>
        </p:nvSpPr>
        <p:spPr>
          <a:xfrm>
            <a:off x="7871189" y="3481586"/>
            <a:ext cx="2363606" cy="175683"/>
          </a:xfrm>
          <a:prstGeom prst="rect">
            <a:avLst/>
          </a:prstGeom>
          <a:noFill/>
          <a:ln/>
        </p:spPr>
        <p:txBody>
          <a:bodyPr wrap="square" lIns="0" tIns="0" rIns="0" bIns="0" rtlCol="0" anchor="t">
            <a:normAutofit/>
          </a:bodyPr>
          <a:lstStyle/>
          <a:p>
            <a:pPr marL="0" indent="0" algn="l">
              <a:buNone/>
            </a:pPr>
            <a:r>
              <a:rPr lang="en-US" sz="825" b="1" kern="0" spc="149" dirty="0">
                <a:solidFill>
                  <a:srgbClr val="2A2A2A"/>
                </a:solidFill>
                <a:latin typeface="JetBrains Mono" pitchFamily="34" charset="0"/>
                <a:ea typeface="JetBrains Mono" pitchFamily="34" charset="-122"/>
                <a:cs typeface="JetBrains Mono" pitchFamily="34" charset="-120"/>
              </a:rPr>
              <a:t>PHASE 3 · TERMINAL ECONOMICS</a:t>
            </a:r>
            <a:endParaRPr lang="en-US" sz="825" dirty="0"/>
          </a:p>
        </p:txBody>
      </p:sp>
      <p:sp>
        <p:nvSpPr>
          <p:cNvPr id="32" name="Text 30"/>
          <p:cNvSpPr/>
          <p:nvPr/>
        </p:nvSpPr>
        <p:spPr>
          <a:xfrm>
            <a:off x="7871189" y="3628678"/>
            <a:ext cx="2445544" cy="175683"/>
          </a:xfrm>
          <a:prstGeom prst="rect">
            <a:avLst/>
          </a:prstGeom>
          <a:noFill/>
          <a:ln/>
        </p:spPr>
        <p:txBody>
          <a:bodyPr wrap="square" lIns="25400" tIns="25400" rIns="25400" bIns="25400" rtlCol="0" anchor="t">
            <a:normAutofit lnSpcReduction="10000"/>
          </a:bodyPr>
          <a:lstStyle/>
          <a:p>
            <a:pPr marL="0" indent="0" algn="l">
              <a:buNone/>
            </a:pPr>
            <a:r>
              <a:rPr lang="en-US" sz="825" kern="0" spc="149" dirty="0">
                <a:solidFill>
                  <a:srgbClr val="5A5A5A"/>
                </a:solidFill>
                <a:latin typeface="JetBrains Mono" pitchFamily="34" charset="0"/>
                <a:ea typeface="JetBrains Mono" pitchFamily="34" charset="-122"/>
                <a:cs typeface="JetBrains Mono" pitchFamily="34" charset="-120"/>
              </a:rPr>
              <a:t>2031 – 2033 · RULE OF 40 ≈ 50</a:t>
            </a:r>
            <a:endParaRPr lang="en-US" sz="825" dirty="0"/>
          </a:p>
        </p:txBody>
      </p:sp>
      <p:pic>
        <p:nvPicPr>
          <p:cNvPr id="33" name="Image 0" descr="preencoded.png"/>
          <p:cNvPicPr>
            <a:picLocks noChangeAspect="1"/>
          </p:cNvPicPr>
          <p:nvPr/>
        </p:nvPicPr>
        <p:blipFill>
          <a:blip r:embed="rId3"/>
          <a:stretch>
            <a:fillRect/>
          </a:stretch>
        </p:blipFill>
        <p:spPr>
          <a:xfrm>
            <a:off x="1724025" y="3430247"/>
            <a:ext cx="9698468" cy="3247016"/>
          </a:xfrm>
          <a:prstGeom prst="rect">
            <a:avLst/>
          </a:prstGeom>
        </p:spPr>
      </p:pic>
      <p:sp>
        <p:nvSpPr>
          <p:cNvPr id="34" name="Text 31"/>
          <p:cNvSpPr/>
          <p:nvPr/>
        </p:nvSpPr>
        <p:spPr>
          <a:xfrm>
            <a:off x="1676317" y="6766719"/>
            <a:ext cx="1288488" cy="457217"/>
          </a:xfrm>
          <a:prstGeom prst="rect">
            <a:avLst/>
          </a:prstGeom>
          <a:noFill/>
          <a:ln/>
        </p:spPr>
        <p:txBody>
          <a:bodyPr wrap="square" lIns="25400" tIns="25400" rIns="25400" bIns="25400" rtlCol="0" anchor="t">
            <a:normAutofit/>
          </a:bodyPr>
          <a:lstStyle/>
          <a:p>
            <a:pPr marL="0" indent="0" algn="ctr">
              <a:buNone/>
            </a:pPr>
            <a:r>
              <a:rPr lang="en-US" sz="825" dirty="0">
                <a:solidFill>
                  <a:srgbClr val="5A5A5A"/>
                </a:solidFill>
                <a:latin typeface="JetBrains Mono" pitchFamily="34" charset="0"/>
                <a:ea typeface="JetBrains Mono" pitchFamily="34" charset="-122"/>
                <a:cs typeface="JetBrains Mono" pitchFamily="34" charset="-120"/>
              </a:rPr>
              <a:t>2026</a:t>
            </a:r>
            <a:endParaRPr lang="en-US" sz="825" dirty="0"/>
          </a:p>
        </p:txBody>
      </p:sp>
      <p:sp>
        <p:nvSpPr>
          <p:cNvPr id="35" name="Text 32"/>
          <p:cNvSpPr/>
          <p:nvPr/>
        </p:nvSpPr>
        <p:spPr>
          <a:xfrm>
            <a:off x="2888605" y="6766719"/>
            <a:ext cx="1288570" cy="457217"/>
          </a:xfrm>
          <a:prstGeom prst="rect">
            <a:avLst/>
          </a:prstGeom>
          <a:noFill/>
          <a:ln/>
        </p:spPr>
        <p:txBody>
          <a:bodyPr wrap="square" lIns="25400" tIns="25400" rIns="25400" bIns="25400" rtlCol="0" anchor="t">
            <a:normAutofit/>
          </a:bodyPr>
          <a:lstStyle/>
          <a:p>
            <a:pPr marL="0" indent="0" algn="ctr">
              <a:buNone/>
            </a:pPr>
            <a:r>
              <a:rPr lang="en-US" sz="825" dirty="0">
                <a:solidFill>
                  <a:srgbClr val="5A5A5A"/>
                </a:solidFill>
                <a:latin typeface="JetBrains Mono" pitchFamily="34" charset="0"/>
                <a:ea typeface="JetBrains Mono" pitchFamily="34" charset="-122"/>
                <a:cs typeface="JetBrains Mono" pitchFamily="34" charset="-120"/>
              </a:rPr>
              <a:t>2027</a:t>
            </a:r>
            <a:endParaRPr lang="en-US" sz="825" dirty="0"/>
          </a:p>
        </p:txBody>
      </p:sp>
      <p:sp>
        <p:nvSpPr>
          <p:cNvPr id="36" name="Text 33"/>
          <p:cNvSpPr/>
          <p:nvPr/>
        </p:nvSpPr>
        <p:spPr>
          <a:xfrm>
            <a:off x="4100976" y="6766719"/>
            <a:ext cx="1288488" cy="457217"/>
          </a:xfrm>
          <a:prstGeom prst="rect">
            <a:avLst/>
          </a:prstGeom>
          <a:noFill/>
          <a:ln/>
        </p:spPr>
        <p:txBody>
          <a:bodyPr wrap="square" lIns="25400" tIns="25400" rIns="25400" bIns="25400" rtlCol="0" anchor="t">
            <a:normAutofit/>
          </a:bodyPr>
          <a:lstStyle/>
          <a:p>
            <a:pPr marL="0" indent="0" algn="ctr">
              <a:buNone/>
            </a:pPr>
            <a:r>
              <a:rPr lang="en-US" sz="825" dirty="0">
                <a:solidFill>
                  <a:srgbClr val="5A5A5A"/>
                </a:solidFill>
                <a:latin typeface="JetBrains Mono" pitchFamily="34" charset="0"/>
                <a:ea typeface="JetBrains Mono" pitchFamily="34" charset="-122"/>
                <a:cs typeface="JetBrains Mono" pitchFamily="34" charset="-120"/>
              </a:rPr>
              <a:t>2028</a:t>
            </a:r>
            <a:endParaRPr lang="en-US" sz="825" dirty="0"/>
          </a:p>
        </p:txBody>
      </p:sp>
      <p:sp>
        <p:nvSpPr>
          <p:cNvPr id="37" name="Text 34"/>
          <p:cNvSpPr/>
          <p:nvPr/>
        </p:nvSpPr>
        <p:spPr>
          <a:xfrm>
            <a:off x="5313263" y="6766719"/>
            <a:ext cx="1288570" cy="457217"/>
          </a:xfrm>
          <a:prstGeom prst="rect">
            <a:avLst/>
          </a:prstGeom>
          <a:noFill/>
          <a:ln/>
        </p:spPr>
        <p:txBody>
          <a:bodyPr wrap="square" lIns="25400" tIns="25400" rIns="25400" bIns="25400" rtlCol="0" anchor="t">
            <a:normAutofit/>
          </a:bodyPr>
          <a:lstStyle/>
          <a:p>
            <a:pPr marL="0" indent="0" algn="ctr">
              <a:buNone/>
            </a:pPr>
            <a:r>
              <a:rPr lang="en-US" sz="825" dirty="0">
                <a:solidFill>
                  <a:srgbClr val="5A5A5A"/>
                </a:solidFill>
                <a:latin typeface="JetBrains Mono" pitchFamily="34" charset="0"/>
                <a:ea typeface="JetBrains Mono" pitchFamily="34" charset="-122"/>
                <a:cs typeface="JetBrains Mono" pitchFamily="34" charset="-120"/>
              </a:rPr>
              <a:t>2029</a:t>
            </a:r>
            <a:endParaRPr lang="en-US" sz="825" dirty="0"/>
          </a:p>
        </p:txBody>
      </p:sp>
      <p:sp>
        <p:nvSpPr>
          <p:cNvPr id="38" name="Text 35"/>
          <p:cNvSpPr/>
          <p:nvPr/>
        </p:nvSpPr>
        <p:spPr>
          <a:xfrm>
            <a:off x="6525634" y="6766719"/>
            <a:ext cx="1288488" cy="457217"/>
          </a:xfrm>
          <a:prstGeom prst="rect">
            <a:avLst/>
          </a:prstGeom>
          <a:noFill/>
          <a:ln/>
        </p:spPr>
        <p:txBody>
          <a:bodyPr wrap="square" lIns="25400" tIns="25400" rIns="25400" bIns="25400" rtlCol="0" anchor="t">
            <a:normAutofit/>
          </a:bodyPr>
          <a:lstStyle/>
          <a:p>
            <a:pPr marL="0" indent="0" algn="ctr">
              <a:buNone/>
            </a:pPr>
            <a:r>
              <a:rPr lang="en-US" sz="825" dirty="0">
                <a:solidFill>
                  <a:srgbClr val="5A5A5A"/>
                </a:solidFill>
                <a:latin typeface="JetBrains Mono" pitchFamily="34" charset="0"/>
                <a:ea typeface="JetBrains Mono" pitchFamily="34" charset="-122"/>
                <a:cs typeface="JetBrains Mono" pitchFamily="34" charset="-120"/>
              </a:rPr>
              <a:t>2030</a:t>
            </a:r>
            <a:endParaRPr lang="en-US" sz="825" dirty="0"/>
          </a:p>
        </p:txBody>
      </p:sp>
      <p:sp>
        <p:nvSpPr>
          <p:cNvPr id="39" name="Text 36"/>
          <p:cNvSpPr/>
          <p:nvPr/>
        </p:nvSpPr>
        <p:spPr>
          <a:xfrm>
            <a:off x="7737922" y="6766719"/>
            <a:ext cx="1288488" cy="457217"/>
          </a:xfrm>
          <a:prstGeom prst="rect">
            <a:avLst/>
          </a:prstGeom>
          <a:noFill/>
          <a:ln/>
        </p:spPr>
        <p:txBody>
          <a:bodyPr wrap="square" lIns="25400" tIns="25400" rIns="25400" bIns="25400" rtlCol="0" anchor="t">
            <a:normAutofit/>
          </a:bodyPr>
          <a:lstStyle/>
          <a:p>
            <a:pPr marL="0" indent="0" algn="ctr">
              <a:buNone/>
            </a:pPr>
            <a:r>
              <a:rPr lang="en-US" sz="825" dirty="0">
                <a:solidFill>
                  <a:srgbClr val="5A5A5A"/>
                </a:solidFill>
                <a:latin typeface="JetBrains Mono" pitchFamily="34" charset="0"/>
                <a:ea typeface="JetBrains Mono" pitchFamily="34" charset="-122"/>
                <a:cs typeface="JetBrains Mono" pitchFamily="34" charset="-120"/>
              </a:rPr>
              <a:t>2031</a:t>
            </a:r>
            <a:endParaRPr lang="en-US" sz="825" dirty="0"/>
          </a:p>
        </p:txBody>
      </p:sp>
      <p:sp>
        <p:nvSpPr>
          <p:cNvPr id="40" name="Text 37"/>
          <p:cNvSpPr/>
          <p:nvPr/>
        </p:nvSpPr>
        <p:spPr>
          <a:xfrm>
            <a:off x="8950210" y="6766719"/>
            <a:ext cx="1288488" cy="457217"/>
          </a:xfrm>
          <a:prstGeom prst="rect">
            <a:avLst/>
          </a:prstGeom>
          <a:noFill/>
          <a:ln/>
        </p:spPr>
        <p:txBody>
          <a:bodyPr wrap="square" lIns="25400" tIns="25400" rIns="25400" bIns="25400" rtlCol="0" anchor="t">
            <a:normAutofit/>
          </a:bodyPr>
          <a:lstStyle/>
          <a:p>
            <a:pPr marL="0" indent="0" algn="ctr">
              <a:buNone/>
            </a:pPr>
            <a:r>
              <a:rPr lang="en-US" sz="825" dirty="0">
                <a:solidFill>
                  <a:srgbClr val="5A5A5A"/>
                </a:solidFill>
                <a:latin typeface="JetBrains Mono" pitchFamily="34" charset="0"/>
                <a:ea typeface="JetBrains Mono" pitchFamily="34" charset="-122"/>
                <a:cs typeface="JetBrains Mono" pitchFamily="34" charset="-120"/>
              </a:rPr>
              <a:t>2032</a:t>
            </a:r>
            <a:endParaRPr lang="en-US" sz="825" dirty="0"/>
          </a:p>
        </p:txBody>
      </p:sp>
      <p:sp>
        <p:nvSpPr>
          <p:cNvPr id="41" name="Text 38"/>
          <p:cNvSpPr/>
          <p:nvPr/>
        </p:nvSpPr>
        <p:spPr>
          <a:xfrm>
            <a:off x="10162497" y="6766719"/>
            <a:ext cx="1288488" cy="457217"/>
          </a:xfrm>
          <a:prstGeom prst="rect">
            <a:avLst/>
          </a:prstGeom>
          <a:noFill/>
          <a:ln/>
        </p:spPr>
        <p:txBody>
          <a:bodyPr wrap="square" lIns="25400" tIns="25400" rIns="25400" bIns="25400" rtlCol="0" anchor="t">
            <a:normAutofit/>
          </a:bodyPr>
          <a:lstStyle/>
          <a:p>
            <a:pPr marL="0" indent="0" algn="ctr">
              <a:buNone/>
            </a:pPr>
            <a:r>
              <a:rPr lang="en-US" sz="825" dirty="0">
                <a:solidFill>
                  <a:srgbClr val="5A5A5A"/>
                </a:solidFill>
                <a:latin typeface="JetBrains Mono" pitchFamily="34" charset="0"/>
                <a:ea typeface="JetBrains Mono" pitchFamily="34" charset="-122"/>
                <a:cs typeface="JetBrains Mono" pitchFamily="34" charset="-120"/>
              </a:rPr>
              <a:t>2033</a:t>
            </a:r>
            <a:endParaRPr lang="en-US" sz="825" dirty="0"/>
          </a:p>
        </p:txBody>
      </p:sp>
      <p:sp>
        <p:nvSpPr>
          <p:cNvPr id="42" name="Shape 39"/>
          <p:cNvSpPr/>
          <p:nvPr/>
        </p:nvSpPr>
        <p:spPr>
          <a:xfrm>
            <a:off x="9972227" y="3208581"/>
            <a:ext cx="1542356" cy="689901"/>
          </a:xfrm>
          <a:prstGeom prst="rect">
            <a:avLst/>
          </a:prstGeom>
          <a:solidFill>
            <a:srgbClr val="FAFAF7">
              <a:alpha val="92000"/>
            </a:srgbClr>
          </a:solidFill>
          <a:ln w="5292">
            <a:solidFill>
              <a:srgbClr val="0A0A0A">
                <a:alpha val="20000"/>
              </a:srgbClr>
            </a:solidFill>
            <a:prstDash val="solid"/>
          </a:ln>
        </p:spPr>
        <p:txBody>
          <a:bodyPr/>
          <a:lstStyle/>
          <a:p>
            <a:endParaRPr lang="en-US"/>
          </a:p>
        </p:txBody>
      </p:sp>
      <p:sp>
        <p:nvSpPr>
          <p:cNvPr id="43" name="Shape 40"/>
          <p:cNvSpPr/>
          <p:nvPr/>
        </p:nvSpPr>
        <p:spPr>
          <a:xfrm>
            <a:off x="10091785" y="3349306"/>
            <a:ext cx="171400" cy="19017"/>
          </a:xfrm>
          <a:prstGeom prst="rect">
            <a:avLst/>
          </a:prstGeom>
          <a:solidFill>
            <a:srgbClr val="0A0A0A"/>
          </a:solidFill>
          <a:ln/>
        </p:spPr>
        <p:txBody>
          <a:bodyPr/>
          <a:lstStyle/>
          <a:p>
            <a:endParaRPr lang="en-US"/>
          </a:p>
        </p:txBody>
      </p:sp>
      <p:sp>
        <p:nvSpPr>
          <p:cNvPr id="44" name="Text 41"/>
          <p:cNvSpPr/>
          <p:nvPr/>
        </p:nvSpPr>
        <p:spPr>
          <a:xfrm>
            <a:off x="10339336" y="3290023"/>
            <a:ext cx="604043" cy="175683"/>
          </a:xfrm>
          <a:prstGeom prst="rect">
            <a:avLst/>
          </a:prstGeom>
          <a:noFill/>
          <a:ln/>
        </p:spPr>
        <p:txBody>
          <a:bodyPr wrap="square" lIns="0" tIns="0" rIns="0" bIns="0" rtlCol="0" anchor="t">
            <a:normAutofit/>
          </a:bodyPr>
          <a:lstStyle/>
          <a:p>
            <a:pPr marL="0" indent="0" algn="l">
              <a:buNone/>
            </a:pPr>
            <a:r>
              <a:rPr lang="en-US" sz="825" kern="0" spc="99" dirty="0">
                <a:solidFill>
                  <a:srgbClr val="0A0A0A"/>
                </a:solidFill>
                <a:latin typeface="JetBrains Mono" pitchFamily="34" charset="0"/>
                <a:ea typeface="JetBrains Mono" pitchFamily="34" charset="-122"/>
                <a:cs typeface="JetBrains Mono" pitchFamily="34" charset="-120"/>
              </a:rPr>
              <a:t>REVENUE</a:t>
            </a:r>
            <a:endParaRPr lang="en-US" sz="825" dirty="0"/>
          </a:p>
        </p:txBody>
      </p:sp>
      <p:sp>
        <p:nvSpPr>
          <p:cNvPr id="45" name="Shape 42"/>
          <p:cNvSpPr/>
          <p:nvPr/>
        </p:nvSpPr>
        <p:spPr>
          <a:xfrm>
            <a:off x="10091785" y="3544023"/>
            <a:ext cx="171400" cy="19017"/>
          </a:xfrm>
          <a:prstGeom prst="rect">
            <a:avLst/>
          </a:prstGeom>
          <a:solidFill>
            <a:srgbClr val="0A0A0A">
              <a:alpha val="55000"/>
            </a:srgbClr>
          </a:solidFill>
          <a:ln/>
        </p:spPr>
        <p:txBody>
          <a:bodyPr/>
          <a:lstStyle/>
          <a:p>
            <a:endParaRPr lang="en-US"/>
          </a:p>
        </p:txBody>
      </p:sp>
      <p:sp>
        <p:nvSpPr>
          <p:cNvPr id="46" name="Text 43"/>
          <p:cNvSpPr/>
          <p:nvPr/>
        </p:nvSpPr>
        <p:spPr>
          <a:xfrm>
            <a:off x="10339336" y="3484740"/>
            <a:ext cx="528638" cy="175683"/>
          </a:xfrm>
          <a:prstGeom prst="rect">
            <a:avLst/>
          </a:prstGeom>
          <a:noFill/>
          <a:ln/>
        </p:spPr>
        <p:txBody>
          <a:bodyPr wrap="square" lIns="0" tIns="0" rIns="0" bIns="0" rtlCol="0" anchor="t">
            <a:normAutofit/>
          </a:bodyPr>
          <a:lstStyle/>
          <a:p>
            <a:pPr marL="0" indent="0" algn="l">
              <a:buNone/>
            </a:pPr>
            <a:r>
              <a:rPr lang="en-US" sz="825" kern="0" spc="99" dirty="0">
                <a:solidFill>
                  <a:srgbClr val="0A0A0A"/>
                </a:solidFill>
                <a:latin typeface="JetBrains Mono" pitchFamily="34" charset="0"/>
                <a:ea typeface="JetBrains Mono" pitchFamily="34" charset="-122"/>
                <a:cs typeface="JetBrains Mono" pitchFamily="34" charset="-120"/>
              </a:rPr>
              <a:t>EBITDA</a:t>
            </a:r>
            <a:endParaRPr lang="en-US" sz="825" dirty="0"/>
          </a:p>
        </p:txBody>
      </p:sp>
      <p:sp>
        <p:nvSpPr>
          <p:cNvPr id="47" name="Shape 44"/>
          <p:cNvSpPr/>
          <p:nvPr/>
        </p:nvSpPr>
        <p:spPr>
          <a:xfrm>
            <a:off x="10091785" y="3738740"/>
            <a:ext cx="171400" cy="19017"/>
          </a:xfrm>
          <a:prstGeom prst="rect">
            <a:avLst/>
          </a:prstGeom>
          <a:solidFill>
            <a:srgbClr val="E63425"/>
          </a:solidFill>
          <a:ln/>
        </p:spPr>
        <p:txBody>
          <a:bodyPr/>
          <a:lstStyle/>
          <a:p>
            <a:endParaRPr lang="en-US"/>
          </a:p>
        </p:txBody>
      </p:sp>
      <p:sp>
        <p:nvSpPr>
          <p:cNvPr id="48" name="Text 45"/>
          <p:cNvSpPr/>
          <p:nvPr/>
        </p:nvSpPr>
        <p:spPr>
          <a:xfrm>
            <a:off x="10339336" y="3679457"/>
            <a:ext cx="1131888" cy="175683"/>
          </a:xfrm>
          <a:prstGeom prst="rect">
            <a:avLst/>
          </a:prstGeom>
          <a:noFill/>
          <a:ln/>
        </p:spPr>
        <p:txBody>
          <a:bodyPr wrap="square" lIns="0" tIns="0" rIns="0" bIns="0" rtlCol="0" anchor="t">
            <a:normAutofit/>
          </a:bodyPr>
          <a:lstStyle/>
          <a:p>
            <a:pPr marL="0" indent="0" algn="l">
              <a:buNone/>
            </a:pPr>
            <a:r>
              <a:rPr lang="en-US" sz="825" kern="0" spc="99" dirty="0">
                <a:solidFill>
                  <a:srgbClr val="0A0A0A"/>
                </a:solidFill>
                <a:latin typeface="JetBrains Mono" pitchFamily="34" charset="0"/>
                <a:ea typeface="JetBrains Mono" pitchFamily="34" charset="-122"/>
                <a:cs typeface="JetBrains Mono" pitchFamily="34" charset="-120"/>
              </a:rPr>
              <a:t>FREE CASH FLOW</a:t>
            </a:r>
            <a:endParaRPr lang="en-US" sz="825" dirty="0"/>
          </a:p>
        </p:txBody>
      </p:sp>
      <p:sp>
        <p:nvSpPr>
          <p:cNvPr id="49" name="Text 46"/>
          <p:cNvSpPr/>
          <p:nvPr/>
        </p:nvSpPr>
        <p:spPr>
          <a:xfrm>
            <a:off x="914384" y="7324411"/>
            <a:ext cx="10813457" cy="154500"/>
          </a:xfrm>
          <a:prstGeom prst="rect">
            <a:avLst/>
          </a:prstGeom>
          <a:noFill/>
          <a:ln/>
        </p:spPr>
        <p:txBody>
          <a:bodyPr wrap="square" lIns="25400" tIns="25400" rIns="25400" bIns="25400" rtlCol="0" anchor="t">
            <a:normAutofit lnSpcReduction="10000"/>
          </a:bodyPr>
          <a:lstStyle/>
          <a:p>
            <a:pPr marL="0" indent="0" algn="l">
              <a:buNone/>
            </a:pPr>
            <a:r>
              <a:rPr lang="en-US" sz="713" kern="0" spc="157" dirty="0">
                <a:solidFill>
                  <a:srgbClr val="5A5A5A"/>
                </a:solidFill>
                <a:latin typeface="JetBrains Mono" pitchFamily="34" charset="0"/>
                <a:ea typeface="JetBrains Mono" pitchFamily="34" charset="-122"/>
                <a:cs typeface="JetBrains Mono" pitchFamily="34" charset="-120"/>
              </a:rPr>
              <a:t>UNIT ECONOMICS CHAIN · Y1 → Y7</a:t>
            </a:r>
            <a:endParaRPr lang="en-US" sz="713" dirty="0"/>
          </a:p>
        </p:txBody>
      </p:sp>
      <p:sp>
        <p:nvSpPr>
          <p:cNvPr id="50" name="Shape 47"/>
          <p:cNvSpPr/>
          <p:nvPr/>
        </p:nvSpPr>
        <p:spPr>
          <a:xfrm>
            <a:off x="914384" y="7497962"/>
            <a:ext cx="2524621" cy="622680"/>
          </a:xfrm>
          <a:prstGeom prst="rect">
            <a:avLst/>
          </a:prstGeom>
          <a:solidFill>
            <a:srgbClr val="FAFAF7"/>
          </a:solidFill>
          <a:ln w="5292">
            <a:solidFill>
              <a:srgbClr val="0A0A0A">
                <a:alpha val="20000"/>
              </a:srgbClr>
            </a:solidFill>
            <a:prstDash val="solid"/>
          </a:ln>
        </p:spPr>
        <p:txBody>
          <a:bodyPr/>
          <a:lstStyle/>
          <a:p>
            <a:endParaRPr lang="en-US"/>
          </a:p>
        </p:txBody>
      </p:sp>
      <p:sp>
        <p:nvSpPr>
          <p:cNvPr id="51" name="Text 48"/>
          <p:cNvSpPr/>
          <p:nvPr/>
        </p:nvSpPr>
        <p:spPr>
          <a:xfrm>
            <a:off x="1033942" y="7579404"/>
            <a:ext cx="2361704" cy="154517"/>
          </a:xfrm>
          <a:prstGeom prst="rect">
            <a:avLst/>
          </a:prstGeom>
          <a:noFill/>
          <a:ln/>
        </p:spPr>
        <p:txBody>
          <a:bodyPr wrap="square" lIns="25400" tIns="25400" rIns="25400" bIns="25400" rtlCol="0" anchor="t">
            <a:normAutofit/>
          </a:bodyPr>
          <a:lstStyle/>
          <a:p>
            <a:pPr marL="0" indent="0" algn="l">
              <a:buNone/>
            </a:pPr>
            <a:r>
              <a:rPr lang="en-US" sz="675" kern="0" spc="149" dirty="0">
                <a:solidFill>
                  <a:srgbClr val="5A5A5A"/>
                </a:solidFill>
                <a:latin typeface="JetBrains Mono" pitchFamily="34" charset="0"/>
                <a:ea typeface="JetBrains Mono" pitchFamily="34" charset="-122"/>
                <a:cs typeface="JetBrains Mono" pitchFamily="34" charset="-120"/>
              </a:rPr>
              <a:t>MEMBERS</a:t>
            </a:r>
            <a:endParaRPr lang="en-US" sz="675" dirty="0"/>
          </a:p>
        </p:txBody>
      </p:sp>
      <p:sp>
        <p:nvSpPr>
          <p:cNvPr id="52" name="Text 49"/>
          <p:cNvSpPr/>
          <p:nvPr/>
        </p:nvSpPr>
        <p:spPr>
          <a:xfrm>
            <a:off x="1033942" y="7724345"/>
            <a:ext cx="2361704" cy="20801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1275" b="1" kern="0" spc="-25" dirty="0">
                <a:solidFill>
                  <a:srgbClr val="0A0A0A"/>
                </a:solidFill>
                <a:latin typeface="Inter Tight" pitchFamily="34" charset="0"/>
                <a:ea typeface="Inter Tight" pitchFamily="34" charset="-122"/>
                <a:cs typeface="Inter Tight" pitchFamily="34" charset="-120"/>
              </a:rPr>
              <a:t>2.5M → 8.4M</a:t>
            </a:r>
            <a:endParaRPr lang="en-US" sz="1275" dirty="0"/>
          </a:p>
        </p:txBody>
      </p:sp>
      <p:sp>
        <p:nvSpPr>
          <p:cNvPr id="53" name="Text 50"/>
          <p:cNvSpPr/>
          <p:nvPr/>
        </p:nvSpPr>
        <p:spPr>
          <a:xfrm>
            <a:off x="1033942" y="7922783"/>
            <a:ext cx="2361704" cy="154517"/>
          </a:xfrm>
          <a:prstGeom prst="rect">
            <a:avLst/>
          </a:prstGeom>
          <a:noFill/>
          <a:ln/>
        </p:spPr>
        <p:txBody>
          <a:bodyPr wrap="square" lIns="25400" tIns="25400" rIns="25400" bIns="25400" rtlCol="0" anchor="t">
            <a:normAutofit/>
          </a:bodyPr>
          <a:lstStyle/>
          <a:p>
            <a:pPr marL="0" indent="0" algn="l">
              <a:buNone/>
            </a:pPr>
            <a:r>
              <a:rPr lang="en-US" sz="675" kern="0" spc="41" dirty="0">
                <a:solidFill>
                  <a:srgbClr val="5A5A5A"/>
                </a:solidFill>
                <a:latin typeface="JetBrains Mono" pitchFamily="34" charset="0"/>
                <a:ea typeface="JetBrains Mono" pitchFamily="34" charset="-122"/>
                <a:cs typeface="JetBrains Mono" pitchFamily="34" charset="-120"/>
              </a:rPr>
              <a:t>18% CAGR</a:t>
            </a:r>
            <a:endParaRPr lang="en-US" sz="675" dirty="0"/>
          </a:p>
        </p:txBody>
      </p:sp>
      <p:sp>
        <p:nvSpPr>
          <p:cNvPr id="54" name="Text 51"/>
          <p:cNvSpPr/>
          <p:nvPr/>
        </p:nvSpPr>
        <p:spPr>
          <a:xfrm>
            <a:off x="3400905" y="7497962"/>
            <a:ext cx="209484" cy="660780"/>
          </a:xfrm>
          <a:prstGeom prst="rect">
            <a:avLst/>
          </a:prstGeom>
          <a:noFill/>
          <a:ln/>
        </p:spPr>
        <p:txBody>
          <a:bodyPr wrap="square" lIns="25400" tIns="25400" rIns="25400" bIns="25400" rtlCol="0" anchor="ctr">
            <a:normAutofit/>
          </a:bodyPr>
          <a:lstStyle/>
          <a:p>
            <a:pPr marL="0" indent="0" algn="ctr">
              <a:buNone/>
            </a:pPr>
            <a:r>
              <a:rPr lang="en-US" sz="1200" dirty="0">
                <a:solidFill>
                  <a:srgbClr val="5A5A5A"/>
                </a:solidFill>
                <a:latin typeface="Inter Tight" pitchFamily="34" charset="0"/>
                <a:ea typeface="Inter Tight" pitchFamily="34" charset="-122"/>
                <a:cs typeface="Inter Tight" pitchFamily="34" charset="-120"/>
              </a:rPr>
              <a:t>×</a:t>
            </a:r>
            <a:endParaRPr lang="en-US" sz="1200" dirty="0"/>
          </a:p>
        </p:txBody>
      </p:sp>
      <p:sp>
        <p:nvSpPr>
          <p:cNvPr id="55" name="Shape 52"/>
          <p:cNvSpPr/>
          <p:nvPr/>
        </p:nvSpPr>
        <p:spPr>
          <a:xfrm>
            <a:off x="3572289" y="7497962"/>
            <a:ext cx="2524704" cy="622680"/>
          </a:xfrm>
          <a:prstGeom prst="rect">
            <a:avLst/>
          </a:prstGeom>
          <a:solidFill>
            <a:srgbClr val="FAFAF7"/>
          </a:solidFill>
          <a:ln w="5292">
            <a:solidFill>
              <a:srgbClr val="0A0A0A">
                <a:alpha val="20000"/>
              </a:srgbClr>
            </a:solidFill>
            <a:prstDash val="solid"/>
          </a:ln>
        </p:spPr>
        <p:txBody>
          <a:bodyPr/>
          <a:lstStyle/>
          <a:p>
            <a:endParaRPr lang="en-US"/>
          </a:p>
        </p:txBody>
      </p:sp>
      <p:sp>
        <p:nvSpPr>
          <p:cNvPr id="56" name="Text 53"/>
          <p:cNvSpPr/>
          <p:nvPr/>
        </p:nvSpPr>
        <p:spPr>
          <a:xfrm>
            <a:off x="3691847" y="7579404"/>
            <a:ext cx="2361787" cy="154517"/>
          </a:xfrm>
          <a:prstGeom prst="rect">
            <a:avLst/>
          </a:prstGeom>
          <a:noFill/>
          <a:ln/>
        </p:spPr>
        <p:txBody>
          <a:bodyPr wrap="square" lIns="25400" tIns="25400" rIns="25400" bIns="25400" rtlCol="0" anchor="t">
            <a:normAutofit/>
          </a:bodyPr>
          <a:lstStyle/>
          <a:p>
            <a:pPr marL="0" indent="0" algn="l">
              <a:buNone/>
            </a:pPr>
            <a:r>
              <a:rPr lang="en-US" sz="675" kern="0" spc="149" dirty="0">
                <a:solidFill>
                  <a:srgbClr val="5A5A5A"/>
                </a:solidFill>
                <a:latin typeface="JetBrains Mono" pitchFamily="34" charset="0"/>
                <a:ea typeface="JetBrains Mono" pitchFamily="34" charset="-122"/>
                <a:cs typeface="JetBrains Mono" pitchFamily="34" charset="-120"/>
              </a:rPr>
              <a:t>BLENDED ARPU</a:t>
            </a:r>
            <a:endParaRPr lang="en-US" sz="675" dirty="0"/>
          </a:p>
        </p:txBody>
      </p:sp>
      <p:sp>
        <p:nvSpPr>
          <p:cNvPr id="57" name="Text 54"/>
          <p:cNvSpPr/>
          <p:nvPr/>
        </p:nvSpPr>
        <p:spPr>
          <a:xfrm>
            <a:off x="3691847" y="7724345"/>
            <a:ext cx="2361787" cy="20801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1275" b="1" kern="0" spc="-25" dirty="0">
                <a:solidFill>
                  <a:srgbClr val="0A0A0A"/>
                </a:solidFill>
                <a:latin typeface="Inter Tight" pitchFamily="34" charset="0"/>
                <a:ea typeface="Inter Tight" pitchFamily="34" charset="-122"/>
                <a:cs typeface="Inter Tight" pitchFamily="34" charset="-120"/>
              </a:rPr>
              <a:t>$305 → $417</a:t>
            </a:r>
            <a:endParaRPr lang="en-US" sz="1275" dirty="0"/>
          </a:p>
        </p:txBody>
      </p:sp>
      <p:sp>
        <p:nvSpPr>
          <p:cNvPr id="58" name="Text 55"/>
          <p:cNvSpPr/>
          <p:nvPr/>
        </p:nvSpPr>
        <p:spPr>
          <a:xfrm>
            <a:off x="3691847" y="7922783"/>
            <a:ext cx="2361787" cy="154517"/>
          </a:xfrm>
          <a:prstGeom prst="rect">
            <a:avLst/>
          </a:prstGeom>
          <a:noFill/>
          <a:ln/>
        </p:spPr>
        <p:txBody>
          <a:bodyPr wrap="square" lIns="25400" tIns="25400" rIns="25400" bIns="25400" rtlCol="0" anchor="t">
            <a:normAutofit/>
          </a:bodyPr>
          <a:lstStyle/>
          <a:p>
            <a:pPr marL="0" indent="0" algn="l">
              <a:buNone/>
            </a:pPr>
            <a:r>
              <a:rPr lang="en-US" sz="675" kern="0" spc="41" dirty="0">
                <a:solidFill>
                  <a:srgbClr val="5A5A5A"/>
                </a:solidFill>
                <a:latin typeface="JetBrains Mono" pitchFamily="34" charset="0"/>
                <a:ea typeface="JetBrains Mono" pitchFamily="34" charset="-122"/>
                <a:cs typeface="JetBrains Mono" pitchFamily="34" charset="-120"/>
              </a:rPr>
              <a:t>3.4% CAGR</a:t>
            </a:r>
            <a:endParaRPr lang="en-US" sz="675" dirty="0"/>
          </a:p>
        </p:txBody>
      </p:sp>
      <p:sp>
        <p:nvSpPr>
          <p:cNvPr id="59" name="Text 56"/>
          <p:cNvSpPr/>
          <p:nvPr/>
        </p:nvSpPr>
        <p:spPr>
          <a:xfrm>
            <a:off x="6058892" y="7497962"/>
            <a:ext cx="209484" cy="660780"/>
          </a:xfrm>
          <a:prstGeom prst="rect">
            <a:avLst/>
          </a:prstGeom>
          <a:noFill/>
          <a:ln/>
        </p:spPr>
        <p:txBody>
          <a:bodyPr wrap="square" lIns="25400" tIns="25400" rIns="25400" bIns="25400" rtlCol="0" anchor="ctr">
            <a:normAutofit/>
          </a:bodyPr>
          <a:lstStyle/>
          <a:p>
            <a:pPr marL="0" indent="0" algn="ctr">
              <a:buNone/>
            </a:pPr>
            <a:r>
              <a:rPr lang="en-US" sz="1200" dirty="0">
                <a:solidFill>
                  <a:srgbClr val="5A5A5A"/>
                </a:solidFill>
                <a:latin typeface="Inter Tight" pitchFamily="34" charset="0"/>
                <a:ea typeface="Inter Tight" pitchFamily="34" charset="-122"/>
                <a:cs typeface="Inter Tight" pitchFamily="34" charset="-120"/>
              </a:rPr>
              <a:t>=</a:t>
            </a:r>
            <a:endParaRPr lang="en-US" sz="1200" dirty="0"/>
          </a:p>
        </p:txBody>
      </p:sp>
      <p:sp>
        <p:nvSpPr>
          <p:cNvPr id="60" name="Shape 57"/>
          <p:cNvSpPr/>
          <p:nvPr/>
        </p:nvSpPr>
        <p:spPr>
          <a:xfrm>
            <a:off x="6230276" y="7497962"/>
            <a:ext cx="2524621" cy="622680"/>
          </a:xfrm>
          <a:prstGeom prst="rect">
            <a:avLst/>
          </a:prstGeom>
          <a:solidFill>
            <a:srgbClr val="FAFAF7"/>
          </a:solidFill>
          <a:ln w="5292">
            <a:solidFill>
              <a:srgbClr val="0A0A0A"/>
            </a:solidFill>
            <a:prstDash val="solid"/>
          </a:ln>
        </p:spPr>
        <p:txBody>
          <a:bodyPr/>
          <a:lstStyle/>
          <a:p>
            <a:endParaRPr lang="en-US"/>
          </a:p>
        </p:txBody>
      </p:sp>
      <p:sp>
        <p:nvSpPr>
          <p:cNvPr id="61" name="Text 58"/>
          <p:cNvSpPr/>
          <p:nvPr/>
        </p:nvSpPr>
        <p:spPr>
          <a:xfrm>
            <a:off x="6349835" y="7579404"/>
            <a:ext cx="2361704" cy="154517"/>
          </a:xfrm>
          <a:prstGeom prst="rect">
            <a:avLst/>
          </a:prstGeom>
          <a:noFill/>
          <a:ln/>
        </p:spPr>
        <p:txBody>
          <a:bodyPr wrap="square" lIns="25400" tIns="25400" rIns="25400" bIns="25400" rtlCol="0" anchor="t">
            <a:normAutofit/>
          </a:bodyPr>
          <a:lstStyle/>
          <a:p>
            <a:pPr marL="0" indent="0" algn="l">
              <a:buNone/>
            </a:pPr>
            <a:r>
              <a:rPr lang="en-US" sz="675" kern="0" spc="149" dirty="0">
                <a:solidFill>
                  <a:srgbClr val="5A5A5A"/>
                </a:solidFill>
                <a:latin typeface="JetBrains Mono" pitchFamily="34" charset="0"/>
                <a:ea typeface="JetBrains Mono" pitchFamily="34" charset="-122"/>
                <a:cs typeface="JetBrains Mono" pitchFamily="34" charset="-120"/>
              </a:rPr>
              <a:t>REVENUE</a:t>
            </a:r>
            <a:endParaRPr lang="en-US" sz="675" dirty="0"/>
          </a:p>
        </p:txBody>
      </p:sp>
      <p:sp>
        <p:nvSpPr>
          <p:cNvPr id="62" name="Text 59"/>
          <p:cNvSpPr/>
          <p:nvPr/>
        </p:nvSpPr>
        <p:spPr>
          <a:xfrm>
            <a:off x="6349835" y="7724345"/>
            <a:ext cx="2361704" cy="20801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1275" b="1" kern="0" spc="-25" dirty="0">
                <a:solidFill>
                  <a:srgbClr val="0A0A0A"/>
                </a:solidFill>
                <a:latin typeface="Inter Tight" pitchFamily="34" charset="0"/>
                <a:ea typeface="Inter Tight" pitchFamily="34" charset="-122"/>
                <a:cs typeface="Inter Tight" pitchFamily="34" charset="-120"/>
              </a:rPr>
              <a:t>$0.87B → $3.27B</a:t>
            </a:r>
            <a:endParaRPr lang="en-US" sz="1275" dirty="0"/>
          </a:p>
        </p:txBody>
      </p:sp>
      <p:sp>
        <p:nvSpPr>
          <p:cNvPr id="63" name="Text 60"/>
          <p:cNvSpPr/>
          <p:nvPr/>
        </p:nvSpPr>
        <p:spPr>
          <a:xfrm>
            <a:off x="6349835" y="7922783"/>
            <a:ext cx="2361704" cy="154517"/>
          </a:xfrm>
          <a:prstGeom prst="rect">
            <a:avLst/>
          </a:prstGeom>
          <a:noFill/>
          <a:ln/>
        </p:spPr>
        <p:txBody>
          <a:bodyPr wrap="square" lIns="25400" tIns="25400" rIns="25400" bIns="25400" rtlCol="0" anchor="t">
            <a:normAutofit/>
          </a:bodyPr>
          <a:lstStyle/>
          <a:p>
            <a:pPr marL="0" indent="0" algn="l">
              <a:buNone/>
            </a:pPr>
            <a:r>
              <a:rPr lang="en-US" sz="675" kern="0" spc="41" dirty="0">
                <a:solidFill>
                  <a:srgbClr val="5A5A5A"/>
                </a:solidFill>
                <a:latin typeface="JetBrains Mono" pitchFamily="34" charset="0"/>
                <a:ea typeface="JetBrains Mono" pitchFamily="34" charset="-122"/>
                <a:cs typeface="JetBrains Mono" pitchFamily="34" charset="-120"/>
              </a:rPr>
              <a:t>21% CAGR</a:t>
            </a:r>
            <a:endParaRPr lang="en-US" sz="675" dirty="0"/>
          </a:p>
        </p:txBody>
      </p:sp>
      <p:sp>
        <p:nvSpPr>
          <p:cNvPr id="64" name="Text 61"/>
          <p:cNvSpPr/>
          <p:nvPr/>
        </p:nvSpPr>
        <p:spPr>
          <a:xfrm>
            <a:off x="8716798" y="7497962"/>
            <a:ext cx="209484" cy="660780"/>
          </a:xfrm>
          <a:prstGeom prst="rect">
            <a:avLst/>
          </a:prstGeom>
          <a:noFill/>
          <a:ln/>
        </p:spPr>
        <p:txBody>
          <a:bodyPr wrap="square" lIns="25400" tIns="25400" rIns="25400" bIns="25400" rtlCol="0" anchor="ctr">
            <a:normAutofit/>
          </a:bodyPr>
          <a:lstStyle/>
          <a:p>
            <a:pPr marL="0" indent="0" algn="ctr">
              <a:buNone/>
            </a:pPr>
            <a:r>
              <a:rPr lang="en-US" sz="1200" dirty="0">
                <a:solidFill>
                  <a:srgbClr val="5A5A5A"/>
                </a:solidFill>
                <a:latin typeface="Inter Tight" pitchFamily="34" charset="0"/>
                <a:ea typeface="Inter Tight" pitchFamily="34" charset="-122"/>
                <a:cs typeface="Inter Tight" pitchFamily="34" charset="-120"/>
              </a:rPr>
              <a:t>→</a:t>
            </a:r>
            <a:endParaRPr lang="en-US" sz="1200" dirty="0"/>
          </a:p>
        </p:txBody>
      </p:sp>
      <p:sp>
        <p:nvSpPr>
          <p:cNvPr id="65" name="Shape 62"/>
          <p:cNvSpPr/>
          <p:nvPr/>
        </p:nvSpPr>
        <p:spPr>
          <a:xfrm>
            <a:off x="8888181" y="7497962"/>
            <a:ext cx="2524704" cy="622680"/>
          </a:xfrm>
          <a:prstGeom prst="rect">
            <a:avLst/>
          </a:prstGeom>
          <a:solidFill>
            <a:srgbClr val="FAFAF7"/>
          </a:solidFill>
          <a:ln w="5292">
            <a:solidFill>
              <a:srgbClr val="0A0A0A">
                <a:alpha val="20000"/>
              </a:srgbClr>
            </a:solidFill>
            <a:prstDash val="solid"/>
          </a:ln>
        </p:spPr>
        <p:txBody>
          <a:bodyPr/>
          <a:lstStyle/>
          <a:p>
            <a:endParaRPr lang="en-US"/>
          </a:p>
        </p:txBody>
      </p:sp>
      <p:sp>
        <p:nvSpPr>
          <p:cNvPr id="66" name="Text 63"/>
          <p:cNvSpPr/>
          <p:nvPr/>
        </p:nvSpPr>
        <p:spPr>
          <a:xfrm>
            <a:off x="9007740" y="7579404"/>
            <a:ext cx="2361787" cy="154517"/>
          </a:xfrm>
          <a:prstGeom prst="rect">
            <a:avLst/>
          </a:prstGeom>
          <a:noFill/>
          <a:ln/>
        </p:spPr>
        <p:txBody>
          <a:bodyPr wrap="square" lIns="25400" tIns="25400" rIns="25400" bIns="25400" rtlCol="0" anchor="t">
            <a:normAutofit/>
          </a:bodyPr>
          <a:lstStyle/>
          <a:p>
            <a:pPr marL="0" indent="0" algn="l">
              <a:buNone/>
            </a:pPr>
            <a:r>
              <a:rPr lang="en-US" sz="675" kern="0" spc="149" dirty="0">
                <a:solidFill>
                  <a:srgbClr val="5A5A5A"/>
                </a:solidFill>
                <a:latin typeface="JetBrains Mono" pitchFamily="34" charset="0"/>
                <a:ea typeface="JetBrains Mono" pitchFamily="34" charset="-122"/>
                <a:cs typeface="JetBrains Mono" pitchFamily="34" charset="-120"/>
              </a:rPr>
              <a:t>EBITDA MARGIN</a:t>
            </a:r>
            <a:endParaRPr lang="en-US" sz="675" dirty="0"/>
          </a:p>
        </p:txBody>
      </p:sp>
      <p:sp>
        <p:nvSpPr>
          <p:cNvPr id="67" name="Text 64"/>
          <p:cNvSpPr/>
          <p:nvPr/>
        </p:nvSpPr>
        <p:spPr>
          <a:xfrm>
            <a:off x="9007740" y="7724345"/>
            <a:ext cx="2361787" cy="208012"/>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1275" b="1" kern="0" spc="-25" dirty="0">
                <a:solidFill>
                  <a:srgbClr val="0A0A0A"/>
                </a:solidFill>
                <a:latin typeface="Inter Tight" pitchFamily="34" charset="0"/>
                <a:ea typeface="Inter Tight" pitchFamily="34" charset="-122"/>
                <a:cs typeface="Inter Tight" pitchFamily="34" charset="-120"/>
              </a:rPr>
              <a:t>18% → 37%</a:t>
            </a:r>
            <a:endParaRPr lang="en-US" sz="1275" dirty="0"/>
          </a:p>
        </p:txBody>
      </p:sp>
      <p:sp>
        <p:nvSpPr>
          <p:cNvPr id="68" name="Text 65"/>
          <p:cNvSpPr/>
          <p:nvPr/>
        </p:nvSpPr>
        <p:spPr>
          <a:xfrm>
            <a:off x="9007740" y="7922783"/>
            <a:ext cx="2361787" cy="154517"/>
          </a:xfrm>
          <a:prstGeom prst="rect">
            <a:avLst/>
          </a:prstGeom>
          <a:noFill/>
          <a:ln/>
        </p:spPr>
        <p:txBody>
          <a:bodyPr wrap="square" lIns="25400" tIns="25400" rIns="25400" bIns="25400" rtlCol="0" anchor="t">
            <a:normAutofit/>
          </a:bodyPr>
          <a:lstStyle/>
          <a:p>
            <a:pPr marL="0" indent="0" algn="l">
              <a:buNone/>
            </a:pPr>
            <a:r>
              <a:rPr lang="en-US" sz="675" kern="0" spc="41" dirty="0">
                <a:solidFill>
                  <a:srgbClr val="5A5A5A"/>
                </a:solidFill>
                <a:latin typeface="JetBrains Mono" pitchFamily="34" charset="0"/>
                <a:ea typeface="JetBrains Mono" pitchFamily="34" charset="-122"/>
                <a:cs typeface="JetBrains Mono" pitchFamily="34" charset="-120"/>
              </a:rPr>
              <a:t>S&amp;M 30%→18%</a:t>
            </a:r>
            <a:endParaRPr lang="en-US" sz="675" dirty="0"/>
          </a:p>
        </p:txBody>
      </p:sp>
      <p:sp>
        <p:nvSpPr>
          <p:cNvPr id="69" name="Shape 66"/>
          <p:cNvSpPr/>
          <p:nvPr/>
        </p:nvSpPr>
        <p:spPr>
          <a:xfrm>
            <a:off x="11698635" y="4148005"/>
            <a:ext cx="5674982" cy="9525"/>
          </a:xfrm>
          <a:prstGeom prst="rect">
            <a:avLst/>
          </a:prstGeom>
          <a:solidFill>
            <a:srgbClr val="0A0A0A">
              <a:alpha val="10000"/>
            </a:srgbClr>
          </a:solidFill>
          <a:ln/>
        </p:spPr>
        <p:txBody>
          <a:bodyPr/>
          <a:lstStyle/>
          <a:p>
            <a:endParaRPr lang="en-US"/>
          </a:p>
        </p:txBody>
      </p:sp>
      <p:sp>
        <p:nvSpPr>
          <p:cNvPr id="70" name="Shape 67"/>
          <p:cNvSpPr/>
          <p:nvPr/>
        </p:nvSpPr>
        <p:spPr>
          <a:xfrm>
            <a:off x="11698635" y="3297453"/>
            <a:ext cx="5674982" cy="9525"/>
          </a:xfrm>
          <a:prstGeom prst="rect">
            <a:avLst/>
          </a:prstGeom>
          <a:solidFill>
            <a:srgbClr val="0A0A0A"/>
          </a:solidFill>
          <a:ln/>
        </p:spPr>
        <p:txBody>
          <a:bodyPr/>
          <a:lstStyle/>
          <a:p>
            <a:endParaRPr lang="en-US"/>
          </a:p>
        </p:txBody>
      </p:sp>
      <p:sp>
        <p:nvSpPr>
          <p:cNvPr id="71" name="Text 68"/>
          <p:cNvSpPr/>
          <p:nvPr/>
        </p:nvSpPr>
        <p:spPr>
          <a:xfrm>
            <a:off x="11698635" y="3152510"/>
            <a:ext cx="5845232" cy="154467"/>
          </a:xfrm>
          <a:prstGeom prst="rect">
            <a:avLst/>
          </a:prstGeom>
          <a:noFill/>
          <a:ln/>
        </p:spPr>
        <p:txBody>
          <a:bodyPr wrap="square" lIns="25400" tIns="25400" rIns="25400" bIns="25400" rtlCol="0" anchor="t">
            <a:normAutofit lnSpcReduction="10000"/>
          </a:bodyPr>
          <a:lstStyle/>
          <a:p>
            <a:pPr marL="0" indent="0" algn="l">
              <a:buNone/>
            </a:pPr>
            <a:r>
              <a:rPr lang="en-US" sz="713" b="1" kern="0" spc="157" dirty="0">
                <a:solidFill>
                  <a:srgbClr val="5A5A5A"/>
                </a:solidFill>
                <a:latin typeface="JetBrains Mono" pitchFamily="34" charset="0"/>
                <a:ea typeface="JetBrains Mono" pitchFamily="34" charset="-122"/>
                <a:cs typeface="JetBrains Mono" pitchFamily="34" charset="-120"/>
              </a:rPr>
              <a:t>TOP-LINE DRIVERS</a:t>
            </a:r>
            <a:endParaRPr lang="en-US" sz="713" dirty="0"/>
          </a:p>
        </p:txBody>
      </p:sp>
      <p:sp>
        <p:nvSpPr>
          <p:cNvPr id="72" name="Text 69"/>
          <p:cNvSpPr/>
          <p:nvPr/>
        </p:nvSpPr>
        <p:spPr>
          <a:xfrm>
            <a:off x="11698635" y="3375091"/>
            <a:ext cx="5002205" cy="168986"/>
          </a:xfrm>
          <a:prstGeom prst="rect">
            <a:avLst/>
          </a:prstGeom>
          <a:noFill/>
          <a:ln/>
        </p:spPr>
        <p:txBody>
          <a:bodyPr wrap="square" lIns="25400" tIns="25400" rIns="25400" bIns="25400" rtlCol="0" anchor="t">
            <a:normAutofit fontScale="85000" lnSpcReduction="10000"/>
          </a:bodyPr>
          <a:lstStyle/>
          <a:p>
            <a:pPr marL="0" indent="0" algn="l">
              <a:lnSpc>
                <a:spcPct val="125000"/>
              </a:lnSpc>
              <a:buNone/>
            </a:pPr>
            <a:r>
              <a:rPr lang="en-US" sz="825" dirty="0">
                <a:solidFill>
                  <a:srgbClr val="2A2A2A"/>
                </a:solidFill>
                <a:latin typeface="Inter Tight" pitchFamily="34" charset="0"/>
                <a:ea typeface="Inter Tight" pitchFamily="34" charset="-122"/>
                <a:cs typeface="Inter Tight" pitchFamily="34" charset="-120"/>
              </a:rPr>
              <a:t>Members Y1 → Y7</a:t>
            </a:r>
            <a:endParaRPr lang="en-US" sz="825" dirty="0"/>
          </a:p>
        </p:txBody>
      </p:sp>
      <p:sp>
        <p:nvSpPr>
          <p:cNvPr id="73" name="Text 70"/>
          <p:cNvSpPr/>
          <p:nvPr/>
        </p:nvSpPr>
        <p:spPr>
          <a:xfrm>
            <a:off x="16650395" y="3364508"/>
            <a:ext cx="799422" cy="180975"/>
          </a:xfrm>
          <a:prstGeom prst="rect">
            <a:avLst/>
          </a:prstGeom>
          <a:noFill/>
          <a:ln/>
        </p:spPr>
        <p:txBody>
          <a:bodyPr wrap="square" lIns="25400" tIns="25400" rIns="25400" bIns="25400" rtlCol="0" anchor="t">
            <a:normAutofit fontScale="92500"/>
          </a:bodyPr>
          <a:lstStyle/>
          <a:p>
            <a:pPr marL="0" indent="0" algn="l">
              <a:buNone/>
            </a:pPr>
            <a:r>
              <a:rPr lang="en-US" sz="863" b="1" dirty="0">
                <a:solidFill>
                  <a:srgbClr val="0A0A0A"/>
                </a:solidFill>
                <a:latin typeface="JetBrains Mono" pitchFamily="34" charset="0"/>
                <a:ea typeface="JetBrains Mono" pitchFamily="34" charset="-122"/>
                <a:cs typeface="JetBrains Mono" pitchFamily="34" charset="-120"/>
              </a:rPr>
              <a:t>2.5M → </a:t>
            </a:r>
            <a:r>
              <a:rPr lang="en-US" sz="863" b="1">
                <a:solidFill>
                  <a:srgbClr val="0A0A0A"/>
                </a:solidFill>
                <a:latin typeface="JetBrains Mono" pitchFamily="34" charset="0"/>
                <a:ea typeface="JetBrains Mono" pitchFamily="34" charset="-122"/>
                <a:cs typeface="JetBrains Mono" pitchFamily="34" charset="-120"/>
              </a:rPr>
              <a:t>10.24 M</a:t>
            </a:r>
            <a:endParaRPr lang="en-US" sz="863" dirty="0"/>
          </a:p>
        </p:txBody>
      </p:sp>
      <p:sp>
        <p:nvSpPr>
          <p:cNvPr id="74" name="Text 71"/>
          <p:cNvSpPr/>
          <p:nvPr/>
        </p:nvSpPr>
        <p:spPr>
          <a:xfrm>
            <a:off x="11698635" y="3565426"/>
            <a:ext cx="5544011" cy="168986"/>
          </a:xfrm>
          <a:prstGeom prst="rect">
            <a:avLst/>
          </a:prstGeom>
          <a:noFill/>
          <a:ln/>
        </p:spPr>
        <p:txBody>
          <a:bodyPr wrap="square" lIns="25400" tIns="25400" rIns="25400" bIns="25400" rtlCol="0" anchor="t">
            <a:normAutofit fontScale="85000" lnSpcReduction="10000"/>
          </a:bodyPr>
          <a:lstStyle/>
          <a:p>
            <a:pPr marL="0" indent="0" algn="l">
              <a:lnSpc>
                <a:spcPct val="125000"/>
              </a:lnSpc>
              <a:buNone/>
            </a:pPr>
            <a:r>
              <a:rPr lang="en-US" sz="825" dirty="0">
                <a:solidFill>
                  <a:srgbClr val="2A2A2A"/>
                </a:solidFill>
                <a:latin typeface="Inter Tight" pitchFamily="34" charset="0"/>
                <a:ea typeface="Inter Tight" pitchFamily="34" charset="-122"/>
                <a:cs typeface="Inter Tight" pitchFamily="34" charset="-120"/>
              </a:rPr>
              <a:t>Member CAGR</a:t>
            </a:r>
            <a:endParaRPr lang="en-US" sz="825" dirty="0"/>
          </a:p>
        </p:txBody>
      </p:sp>
      <p:sp>
        <p:nvSpPr>
          <p:cNvPr id="75" name="Text 72"/>
          <p:cNvSpPr/>
          <p:nvPr/>
        </p:nvSpPr>
        <p:spPr>
          <a:xfrm>
            <a:off x="17105947" y="3566686"/>
            <a:ext cx="437920" cy="180975"/>
          </a:xfrm>
          <a:prstGeom prst="rect">
            <a:avLst/>
          </a:prstGeom>
          <a:noFill/>
          <a:ln/>
        </p:spPr>
        <p:txBody>
          <a:bodyPr wrap="square" lIns="25400" tIns="25400" rIns="25400" bIns="25400" rtlCol="0" anchor="t">
            <a:noAutofit/>
          </a:bodyPr>
          <a:lstStyle/>
          <a:p>
            <a:pPr marL="0" indent="0" algn="l">
              <a:buNone/>
            </a:pPr>
            <a:r>
              <a:rPr lang="en-US" sz="800" b="1">
                <a:solidFill>
                  <a:srgbClr val="0A0A0A"/>
                </a:solidFill>
                <a:latin typeface="JetBrains Mono" pitchFamily="34" charset="0"/>
                <a:ea typeface="JetBrains Mono" pitchFamily="34" charset="-122"/>
                <a:cs typeface="JetBrains Mono" pitchFamily="34" charset="-120"/>
              </a:rPr>
              <a:t>20.2%</a:t>
            </a:r>
            <a:endParaRPr lang="en-US" sz="800"/>
          </a:p>
        </p:txBody>
      </p:sp>
      <p:sp>
        <p:nvSpPr>
          <p:cNvPr id="76" name="Text 73"/>
          <p:cNvSpPr/>
          <p:nvPr/>
        </p:nvSpPr>
        <p:spPr>
          <a:xfrm>
            <a:off x="11698635" y="3755761"/>
            <a:ext cx="5002205" cy="168986"/>
          </a:xfrm>
          <a:prstGeom prst="rect">
            <a:avLst/>
          </a:prstGeom>
          <a:noFill/>
          <a:ln/>
        </p:spPr>
        <p:txBody>
          <a:bodyPr wrap="square" lIns="25400" tIns="25400" rIns="25400" bIns="25400" rtlCol="0" anchor="t">
            <a:normAutofit fontScale="85000" lnSpcReduction="10000"/>
          </a:bodyPr>
          <a:lstStyle/>
          <a:p>
            <a:pPr marL="0" indent="0" algn="l">
              <a:lnSpc>
                <a:spcPct val="125000"/>
              </a:lnSpc>
              <a:buNone/>
            </a:pPr>
            <a:r>
              <a:rPr lang="en-US" sz="825" dirty="0">
                <a:solidFill>
                  <a:srgbClr val="2A2A2A"/>
                </a:solidFill>
                <a:latin typeface="Inter Tight" pitchFamily="34" charset="0"/>
                <a:ea typeface="Inter Tight" pitchFamily="34" charset="-122"/>
                <a:cs typeface="Inter Tight" pitchFamily="34" charset="-120"/>
              </a:rPr>
              <a:t>Blended ARPU</a:t>
            </a:r>
            <a:endParaRPr lang="en-US" sz="825" dirty="0"/>
          </a:p>
        </p:txBody>
      </p:sp>
      <p:sp>
        <p:nvSpPr>
          <p:cNvPr id="77" name="Text 74"/>
          <p:cNvSpPr/>
          <p:nvPr/>
        </p:nvSpPr>
        <p:spPr>
          <a:xfrm>
            <a:off x="16650395" y="3745177"/>
            <a:ext cx="799422" cy="180975"/>
          </a:xfrm>
          <a:prstGeom prst="rect">
            <a:avLst/>
          </a:prstGeom>
          <a:noFill/>
          <a:ln/>
        </p:spPr>
        <p:txBody>
          <a:bodyPr wrap="square" lIns="25400" tIns="25400" rIns="25400" bIns="25400" rtlCol="0" anchor="t">
            <a:normAutofit lnSpcReduction="10000"/>
          </a:bodyPr>
          <a:lstStyle/>
          <a:p>
            <a:pPr marL="0" indent="0" algn="l">
              <a:buNone/>
            </a:pPr>
            <a:r>
              <a:rPr lang="en-US" sz="863" b="1" dirty="0">
                <a:solidFill>
                  <a:srgbClr val="0A0A0A"/>
                </a:solidFill>
                <a:latin typeface="JetBrains Mono" pitchFamily="34" charset="0"/>
                <a:ea typeface="JetBrains Mono" pitchFamily="34" charset="-122"/>
                <a:cs typeface="JetBrains Mono" pitchFamily="34" charset="-120"/>
              </a:rPr>
              <a:t>$305 → $</a:t>
            </a:r>
            <a:r>
              <a:rPr lang="en-US" sz="863" b="1">
                <a:solidFill>
                  <a:srgbClr val="0A0A0A"/>
                </a:solidFill>
                <a:latin typeface="JetBrains Mono" pitchFamily="34" charset="0"/>
                <a:ea typeface="JetBrains Mono" pitchFamily="34" charset="-122"/>
                <a:cs typeface="JetBrains Mono" pitchFamily="34" charset="-120"/>
              </a:rPr>
              <a:t>348</a:t>
            </a:r>
            <a:endParaRPr lang="en-US" sz="863" dirty="0"/>
          </a:p>
        </p:txBody>
      </p:sp>
      <p:sp>
        <p:nvSpPr>
          <p:cNvPr id="78" name="Text 75"/>
          <p:cNvSpPr/>
          <p:nvPr/>
        </p:nvSpPr>
        <p:spPr>
          <a:xfrm>
            <a:off x="11698635" y="3949866"/>
            <a:ext cx="5845232" cy="160089"/>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713" i="1" dirty="0">
                <a:solidFill>
                  <a:srgbClr val="5A5A5A"/>
                </a:solidFill>
                <a:latin typeface="Inter Tight" pitchFamily="34" charset="0"/>
                <a:ea typeface="Inter Tight" pitchFamily="34" charset="-122"/>
                <a:cs typeface="Inter Tight" pitchFamily="34" charset="-120"/>
              </a:rPr>
              <a:t>Members bottom-up via S&amp;M÷CAC. ARPU = 0.80×$319 + 0.20×$260.</a:t>
            </a:r>
            <a:endParaRPr lang="en-US" sz="713" dirty="0"/>
          </a:p>
        </p:txBody>
      </p:sp>
      <p:sp>
        <p:nvSpPr>
          <p:cNvPr id="79" name="Shape 76"/>
          <p:cNvSpPr/>
          <p:nvPr/>
        </p:nvSpPr>
        <p:spPr>
          <a:xfrm>
            <a:off x="11698635" y="5282076"/>
            <a:ext cx="5674982" cy="9525"/>
          </a:xfrm>
          <a:prstGeom prst="rect">
            <a:avLst/>
          </a:prstGeom>
          <a:solidFill>
            <a:srgbClr val="0A0A0A">
              <a:alpha val="10000"/>
            </a:srgbClr>
          </a:solidFill>
          <a:ln/>
        </p:spPr>
        <p:txBody>
          <a:bodyPr/>
          <a:lstStyle/>
          <a:p>
            <a:endParaRPr lang="en-US"/>
          </a:p>
        </p:txBody>
      </p:sp>
      <p:sp>
        <p:nvSpPr>
          <p:cNvPr id="80" name="Shape 77"/>
          <p:cNvSpPr/>
          <p:nvPr/>
        </p:nvSpPr>
        <p:spPr>
          <a:xfrm>
            <a:off x="11698635" y="4431523"/>
            <a:ext cx="5674982" cy="9525"/>
          </a:xfrm>
          <a:prstGeom prst="rect">
            <a:avLst/>
          </a:prstGeom>
          <a:solidFill>
            <a:srgbClr val="0A0A0A"/>
          </a:solidFill>
          <a:ln/>
        </p:spPr>
        <p:txBody>
          <a:bodyPr/>
          <a:lstStyle/>
          <a:p>
            <a:endParaRPr lang="en-US"/>
          </a:p>
        </p:txBody>
      </p:sp>
      <p:sp>
        <p:nvSpPr>
          <p:cNvPr id="81" name="Text 78"/>
          <p:cNvSpPr/>
          <p:nvPr/>
        </p:nvSpPr>
        <p:spPr>
          <a:xfrm>
            <a:off x="11698635" y="4286581"/>
            <a:ext cx="5845232" cy="154467"/>
          </a:xfrm>
          <a:prstGeom prst="rect">
            <a:avLst/>
          </a:prstGeom>
          <a:noFill/>
          <a:ln/>
        </p:spPr>
        <p:txBody>
          <a:bodyPr wrap="square" lIns="25400" tIns="25400" rIns="25400" bIns="25400" rtlCol="0" anchor="t">
            <a:normAutofit lnSpcReduction="10000"/>
          </a:bodyPr>
          <a:lstStyle/>
          <a:p>
            <a:pPr marL="0" indent="0" algn="l">
              <a:buNone/>
            </a:pPr>
            <a:r>
              <a:rPr lang="en-US" sz="713" b="1" kern="0" spc="157" dirty="0">
                <a:solidFill>
                  <a:srgbClr val="5A5A5A"/>
                </a:solidFill>
                <a:latin typeface="JetBrains Mono" pitchFamily="34" charset="0"/>
                <a:ea typeface="JetBrains Mono" pitchFamily="34" charset="-122"/>
                <a:cs typeface="JetBrains Mono" pitchFamily="34" charset="-120"/>
              </a:rPr>
              <a:t>MARGIN PROFILE</a:t>
            </a:r>
            <a:endParaRPr lang="en-US" sz="713" dirty="0"/>
          </a:p>
        </p:txBody>
      </p:sp>
      <p:sp>
        <p:nvSpPr>
          <p:cNvPr id="82" name="Text 79"/>
          <p:cNvSpPr/>
          <p:nvPr/>
        </p:nvSpPr>
        <p:spPr>
          <a:xfrm>
            <a:off x="11698635" y="4509162"/>
            <a:ext cx="5544011" cy="168986"/>
          </a:xfrm>
          <a:prstGeom prst="rect">
            <a:avLst/>
          </a:prstGeom>
          <a:noFill/>
          <a:ln/>
        </p:spPr>
        <p:txBody>
          <a:bodyPr wrap="square" lIns="25400" tIns="25400" rIns="25400" bIns="25400" rtlCol="0" anchor="t">
            <a:normAutofit fontScale="85000" lnSpcReduction="10000"/>
          </a:bodyPr>
          <a:lstStyle/>
          <a:p>
            <a:pPr marL="0" indent="0" algn="l">
              <a:lnSpc>
                <a:spcPct val="125000"/>
              </a:lnSpc>
              <a:buNone/>
            </a:pPr>
            <a:r>
              <a:rPr lang="en-US" sz="825" dirty="0">
                <a:solidFill>
                  <a:srgbClr val="2A2A2A"/>
                </a:solidFill>
                <a:latin typeface="Inter Tight" pitchFamily="34" charset="0"/>
                <a:ea typeface="Inter Tight" pitchFamily="34" charset="-122"/>
                <a:cs typeface="Inter Tight" pitchFamily="34" charset="-120"/>
              </a:rPr>
              <a:t>Gross margin (terminal)</a:t>
            </a:r>
            <a:endParaRPr lang="en-US" sz="825" dirty="0"/>
          </a:p>
        </p:txBody>
      </p:sp>
      <p:sp>
        <p:nvSpPr>
          <p:cNvPr id="83" name="Text 80"/>
          <p:cNvSpPr/>
          <p:nvPr/>
        </p:nvSpPr>
        <p:spPr>
          <a:xfrm>
            <a:off x="17176420" y="4498578"/>
            <a:ext cx="273397" cy="180975"/>
          </a:xfrm>
          <a:prstGeom prst="rect">
            <a:avLst/>
          </a:prstGeom>
          <a:noFill/>
          <a:ln/>
        </p:spPr>
        <p:txBody>
          <a:bodyPr wrap="square" lIns="25400" tIns="25400" rIns="25400" bIns="25400" rtlCol="0" anchor="t">
            <a:normAutofit lnSpcReduction="10000"/>
          </a:bodyPr>
          <a:lstStyle/>
          <a:p>
            <a:pPr marL="0" indent="0" algn="l">
              <a:buNone/>
            </a:pPr>
            <a:r>
              <a:rPr lang="en-US" sz="863" b="1" dirty="0">
                <a:solidFill>
                  <a:srgbClr val="0A0A0A"/>
                </a:solidFill>
                <a:latin typeface="JetBrains Mono" pitchFamily="34" charset="0"/>
                <a:ea typeface="JetBrains Mono" pitchFamily="34" charset="-122"/>
                <a:cs typeface="JetBrains Mono" pitchFamily="34" charset="-120"/>
              </a:rPr>
              <a:t>78%</a:t>
            </a:r>
            <a:endParaRPr lang="en-US" sz="863" dirty="0"/>
          </a:p>
        </p:txBody>
      </p:sp>
      <p:sp>
        <p:nvSpPr>
          <p:cNvPr id="84" name="Text 81"/>
          <p:cNvSpPr/>
          <p:nvPr/>
        </p:nvSpPr>
        <p:spPr>
          <a:xfrm>
            <a:off x="11698635" y="4699496"/>
            <a:ext cx="5544011" cy="168986"/>
          </a:xfrm>
          <a:prstGeom prst="rect">
            <a:avLst/>
          </a:prstGeom>
          <a:noFill/>
          <a:ln/>
        </p:spPr>
        <p:txBody>
          <a:bodyPr wrap="square" lIns="25400" tIns="25400" rIns="25400" bIns="25400" rtlCol="0" anchor="t">
            <a:normAutofit fontScale="85000" lnSpcReduction="10000"/>
          </a:bodyPr>
          <a:lstStyle/>
          <a:p>
            <a:pPr marL="0" indent="0" algn="l">
              <a:lnSpc>
                <a:spcPct val="125000"/>
              </a:lnSpc>
              <a:buNone/>
            </a:pPr>
            <a:r>
              <a:rPr lang="en-US" sz="825" dirty="0">
                <a:solidFill>
                  <a:srgbClr val="2A2A2A"/>
                </a:solidFill>
                <a:latin typeface="Inter Tight" pitchFamily="34" charset="0"/>
                <a:ea typeface="Inter Tight" pitchFamily="34" charset="-122"/>
                <a:cs typeface="Inter Tight" pitchFamily="34" charset="-120"/>
              </a:rPr>
              <a:t>Terminal EBITDA</a:t>
            </a:r>
            <a:endParaRPr lang="en-US" sz="825" dirty="0"/>
          </a:p>
        </p:txBody>
      </p:sp>
      <p:sp>
        <p:nvSpPr>
          <p:cNvPr id="85" name="Text 82"/>
          <p:cNvSpPr/>
          <p:nvPr/>
        </p:nvSpPr>
        <p:spPr>
          <a:xfrm>
            <a:off x="17176420" y="4688913"/>
            <a:ext cx="273397" cy="180975"/>
          </a:xfrm>
          <a:prstGeom prst="rect">
            <a:avLst/>
          </a:prstGeom>
          <a:noFill/>
          <a:ln/>
        </p:spPr>
        <p:txBody>
          <a:bodyPr wrap="square" lIns="25400" tIns="25400" rIns="25400" bIns="25400" rtlCol="0" anchor="t">
            <a:normAutofit lnSpcReduction="10000"/>
          </a:bodyPr>
          <a:lstStyle/>
          <a:p>
            <a:pPr marL="0" indent="0" algn="l">
              <a:buNone/>
            </a:pPr>
            <a:r>
              <a:rPr lang="en-US" sz="863" b="1" dirty="0">
                <a:solidFill>
                  <a:srgbClr val="0A0A0A"/>
                </a:solidFill>
                <a:latin typeface="JetBrains Mono" pitchFamily="34" charset="0"/>
                <a:ea typeface="JetBrains Mono" pitchFamily="34" charset="-122"/>
                <a:cs typeface="JetBrains Mono" pitchFamily="34" charset="-120"/>
              </a:rPr>
              <a:t>37%</a:t>
            </a:r>
            <a:endParaRPr lang="en-US" sz="863" dirty="0"/>
          </a:p>
        </p:txBody>
      </p:sp>
      <p:sp>
        <p:nvSpPr>
          <p:cNvPr id="88" name="Text 85"/>
          <p:cNvSpPr/>
          <p:nvPr/>
        </p:nvSpPr>
        <p:spPr>
          <a:xfrm>
            <a:off x="11698635" y="5083936"/>
            <a:ext cx="5845232" cy="160089"/>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713" i="1" dirty="0">
                <a:solidFill>
                  <a:srgbClr val="5A5A5A"/>
                </a:solidFill>
                <a:latin typeface="Inter Tight" pitchFamily="34" charset="0"/>
                <a:ea typeface="Inter Tight" pitchFamily="34" charset="-122"/>
                <a:cs typeface="Inter Tight" pitchFamily="34" charset="-120"/>
              </a:rPr>
              <a:t>Anchored to Spotify post-profitability (28%) + WHOOP GM premium.</a:t>
            </a:r>
            <a:endParaRPr lang="en-US" sz="713" dirty="0"/>
          </a:p>
        </p:txBody>
      </p:sp>
      <p:sp>
        <p:nvSpPr>
          <p:cNvPr id="89" name="Shape 86"/>
          <p:cNvSpPr/>
          <p:nvPr/>
        </p:nvSpPr>
        <p:spPr>
          <a:xfrm>
            <a:off x="11698635" y="6881978"/>
            <a:ext cx="5674982" cy="9525"/>
          </a:xfrm>
          <a:prstGeom prst="rect">
            <a:avLst/>
          </a:prstGeom>
          <a:solidFill>
            <a:srgbClr val="0A0A0A">
              <a:alpha val="10000"/>
            </a:srgbClr>
          </a:solidFill>
          <a:ln/>
        </p:spPr>
        <p:txBody>
          <a:bodyPr/>
          <a:lstStyle/>
          <a:p>
            <a:endParaRPr lang="en-US"/>
          </a:p>
        </p:txBody>
      </p:sp>
      <p:sp>
        <p:nvSpPr>
          <p:cNvPr id="90" name="Shape 87"/>
          <p:cNvSpPr/>
          <p:nvPr/>
        </p:nvSpPr>
        <p:spPr>
          <a:xfrm>
            <a:off x="11698635" y="5565593"/>
            <a:ext cx="5674982" cy="9525"/>
          </a:xfrm>
          <a:prstGeom prst="rect">
            <a:avLst/>
          </a:prstGeom>
          <a:solidFill>
            <a:srgbClr val="0A0A0A"/>
          </a:solidFill>
          <a:ln/>
        </p:spPr>
        <p:txBody>
          <a:bodyPr/>
          <a:lstStyle/>
          <a:p>
            <a:endParaRPr lang="en-US"/>
          </a:p>
        </p:txBody>
      </p:sp>
      <p:sp>
        <p:nvSpPr>
          <p:cNvPr id="91" name="Text 88"/>
          <p:cNvSpPr/>
          <p:nvPr/>
        </p:nvSpPr>
        <p:spPr>
          <a:xfrm>
            <a:off x="11698635" y="5420651"/>
            <a:ext cx="5845232" cy="154467"/>
          </a:xfrm>
          <a:prstGeom prst="rect">
            <a:avLst/>
          </a:prstGeom>
          <a:noFill/>
          <a:ln/>
        </p:spPr>
        <p:txBody>
          <a:bodyPr wrap="square" lIns="25400" tIns="25400" rIns="25400" bIns="25400" rtlCol="0" anchor="t">
            <a:normAutofit lnSpcReduction="10000"/>
          </a:bodyPr>
          <a:lstStyle/>
          <a:p>
            <a:pPr marL="0" indent="0" algn="l">
              <a:buNone/>
            </a:pPr>
            <a:r>
              <a:rPr lang="en-US" sz="713" b="1" kern="0" spc="157" dirty="0">
                <a:solidFill>
                  <a:srgbClr val="E63425"/>
                </a:solidFill>
                <a:latin typeface="JetBrains Mono" pitchFamily="34" charset="0"/>
                <a:ea typeface="JetBrains Mono" pitchFamily="34" charset="-122"/>
                <a:cs typeface="JetBrains Mono" pitchFamily="34" charset="-120"/>
              </a:rPr>
              <a:t>★ WACC BUILD · BOTTOM-UP</a:t>
            </a:r>
            <a:endParaRPr lang="en-US" sz="713" dirty="0"/>
          </a:p>
        </p:txBody>
      </p:sp>
      <p:sp>
        <p:nvSpPr>
          <p:cNvPr id="92" name="Text 89"/>
          <p:cNvSpPr/>
          <p:nvPr/>
        </p:nvSpPr>
        <p:spPr>
          <a:xfrm>
            <a:off x="11698635" y="5646953"/>
            <a:ext cx="5452802" cy="180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dirty="0">
                <a:solidFill>
                  <a:srgbClr val="0A0A0A"/>
                </a:solidFill>
                <a:latin typeface="JetBrains Mono" pitchFamily="34" charset="0"/>
                <a:ea typeface="JetBrains Mono" pitchFamily="34" charset="-122"/>
                <a:cs typeface="JetBrains Mono" pitchFamily="34" charset="-120"/>
              </a:rPr>
              <a:t>Risk-free (10Y UST)</a:t>
            </a:r>
            <a:endParaRPr lang="en-US" sz="750" dirty="0"/>
          </a:p>
        </p:txBody>
      </p:sp>
      <p:sp>
        <p:nvSpPr>
          <p:cNvPr id="93" name="Text 90"/>
          <p:cNvSpPr/>
          <p:nvPr/>
        </p:nvSpPr>
        <p:spPr>
          <a:xfrm>
            <a:off x="17087867" y="5646953"/>
            <a:ext cx="361950" cy="180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dirty="0">
                <a:solidFill>
                  <a:srgbClr val="0A0A0A"/>
                </a:solidFill>
                <a:latin typeface="JetBrains Mono" pitchFamily="34" charset="0"/>
                <a:ea typeface="JetBrains Mono" pitchFamily="34" charset="-122"/>
                <a:cs typeface="JetBrains Mono" pitchFamily="34" charset="-120"/>
              </a:rPr>
              <a:t>4.30%</a:t>
            </a:r>
            <a:endParaRPr lang="en-US" sz="750" dirty="0"/>
          </a:p>
        </p:txBody>
      </p:sp>
      <p:sp>
        <p:nvSpPr>
          <p:cNvPr id="94" name="Text 91"/>
          <p:cNvSpPr/>
          <p:nvPr/>
        </p:nvSpPr>
        <p:spPr>
          <a:xfrm>
            <a:off x="11698635" y="5789828"/>
            <a:ext cx="5393869" cy="202638"/>
          </a:xfrm>
          <a:prstGeom prst="rect">
            <a:avLst/>
          </a:prstGeom>
          <a:noFill/>
          <a:ln/>
        </p:spPr>
        <p:txBody>
          <a:bodyPr wrap="square" lIns="25400" tIns="25400" rIns="25400" bIns="25400" rtlCol="0" anchor="t">
            <a:normAutofit lnSpcReduction="10000"/>
          </a:bodyPr>
          <a:lstStyle/>
          <a:p>
            <a:pPr marL="0" indent="0" algn="l">
              <a:lnSpc>
                <a:spcPct val="150000"/>
              </a:lnSpc>
              <a:buNone/>
            </a:pPr>
            <a:r>
              <a:rPr lang="en-US" sz="750" dirty="0">
                <a:solidFill>
                  <a:srgbClr val="0A0A0A"/>
                </a:solidFill>
                <a:latin typeface="JetBrains Mono" pitchFamily="34" charset="0"/>
                <a:ea typeface="JetBrains Mono" pitchFamily="34" charset="-122"/>
                <a:cs typeface="JetBrains Mono" pitchFamily="34" charset="-120"/>
              </a:rPr>
              <a:t>+ β</a:t>
            </a:r>
            <a:r>
              <a:rPr lang="en-US" sz="625" baseline="-40000" dirty="0">
                <a:solidFill>
                  <a:srgbClr val="0A0A0A"/>
                </a:solidFill>
                <a:latin typeface="JetBrains Mono" pitchFamily="34" charset="0"/>
                <a:ea typeface="JetBrains Mono" pitchFamily="34" charset="-122"/>
                <a:cs typeface="JetBrains Mono" pitchFamily="34" charset="-120"/>
              </a:rPr>
              <a:t>U </a:t>
            </a:r>
            <a:r>
              <a:rPr lang="en-US" sz="750" dirty="0">
                <a:solidFill>
                  <a:srgbClr val="0A0A0A"/>
                </a:solidFill>
                <a:latin typeface="JetBrains Mono" pitchFamily="34" charset="0"/>
                <a:ea typeface="JetBrains Mono" pitchFamily="34" charset="-122"/>
                <a:cs typeface="JetBrains Mono" pitchFamily="34" charset="-120"/>
              </a:rPr>
              <a:t>0.97 × ERP 4.61%</a:t>
            </a:r>
            <a:endParaRPr lang="en-US" sz="750" dirty="0"/>
          </a:p>
        </p:txBody>
      </p:sp>
      <p:sp>
        <p:nvSpPr>
          <p:cNvPr id="95" name="Text 92"/>
          <p:cNvSpPr/>
          <p:nvPr/>
        </p:nvSpPr>
        <p:spPr>
          <a:xfrm>
            <a:off x="17030651" y="5789828"/>
            <a:ext cx="419166" cy="202638"/>
          </a:xfrm>
          <a:prstGeom prst="rect">
            <a:avLst/>
          </a:prstGeom>
          <a:noFill/>
          <a:ln/>
        </p:spPr>
        <p:txBody>
          <a:bodyPr wrap="square" lIns="25400" tIns="25400" rIns="25400" bIns="25400" rtlCol="0" anchor="t">
            <a:normAutofit lnSpcReduction="10000"/>
          </a:bodyPr>
          <a:lstStyle/>
          <a:p>
            <a:pPr marL="0" indent="0" algn="l">
              <a:lnSpc>
                <a:spcPct val="150000"/>
              </a:lnSpc>
              <a:buNone/>
            </a:pPr>
            <a:r>
              <a:rPr lang="en-US" sz="750" dirty="0">
                <a:solidFill>
                  <a:srgbClr val="0A0A0A"/>
                </a:solidFill>
                <a:latin typeface="JetBrains Mono" pitchFamily="34" charset="0"/>
                <a:ea typeface="JetBrains Mono" pitchFamily="34" charset="-122"/>
                <a:cs typeface="JetBrains Mono" pitchFamily="34" charset="-120"/>
              </a:rPr>
              <a:t>+4.49%</a:t>
            </a:r>
            <a:endParaRPr lang="en-US" sz="750" dirty="0"/>
          </a:p>
        </p:txBody>
      </p:sp>
      <p:sp>
        <p:nvSpPr>
          <p:cNvPr id="96" name="Shape 93"/>
          <p:cNvSpPr/>
          <p:nvPr/>
        </p:nvSpPr>
        <p:spPr>
          <a:xfrm>
            <a:off x="11698635" y="5973382"/>
            <a:ext cx="5674982" cy="9525"/>
          </a:xfrm>
          <a:prstGeom prst="rect">
            <a:avLst/>
          </a:prstGeom>
          <a:solidFill>
            <a:srgbClr val="0A0A0A">
              <a:alpha val="20000"/>
            </a:srgbClr>
          </a:solidFill>
          <a:ln/>
        </p:spPr>
        <p:txBody>
          <a:bodyPr/>
          <a:lstStyle/>
          <a:p>
            <a:endParaRPr lang="en-US"/>
          </a:p>
        </p:txBody>
      </p:sp>
      <p:sp>
        <p:nvSpPr>
          <p:cNvPr id="97" name="Text 94"/>
          <p:cNvSpPr/>
          <p:nvPr/>
        </p:nvSpPr>
        <p:spPr>
          <a:xfrm>
            <a:off x="11698635" y="6007200"/>
            <a:ext cx="5452802" cy="180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b="1" dirty="0">
                <a:solidFill>
                  <a:srgbClr val="0A0A0A"/>
                </a:solidFill>
                <a:latin typeface="JetBrains Mono" pitchFamily="34" charset="0"/>
                <a:ea typeface="JetBrains Mono" pitchFamily="34" charset="-122"/>
                <a:cs typeface="JetBrains Mono" pitchFamily="34" charset="-120"/>
              </a:rPr>
              <a:t>Cost of equity (CAPM)</a:t>
            </a:r>
            <a:endParaRPr lang="en-US" sz="750" dirty="0"/>
          </a:p>
        </p:txBody>
      </p:sp>
      <p:sp>
        <p:nvSpPr>
          <p:cNvPr id="98" name="Text 95"/>
          <p:cNvSpPr/>
          <p:nvPr/>
        </p:nvSpPr>
        <p:spPr>
          <a:xfrm>
            <a:off x="17087867" y="6007200"/>
            <a:ext cx="361950" cy="180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b="1" dirty="0">
                <a:solidFill>
                  <a:srgbClr val="0A0A0A"/>
                </a:solidFill>
                <a:latin typeface="JetBrains Mono" pitchFamily="34" charset="0"/>
                <a:ea typeface="JetBrains Mono" pitchFamily="34" charset="-122"/>
                <a:cs typeface="JetBrains Mono" pitchFamily="34" charset="-120"/>
              </a:rPr>
              <a:t>8.79%</a:t>
            </a:r>
            <a:endParaRPr lang="en-US" sz="750" dirty="0"/>
          </a:p>
        </p:txBody>
      </p:sp>
      <p:sp>
        <p:nvSpPr>
          <p:cNvPr id="99" name="Text 96"/>
          <p:cNvSpPr/>
          <p:nvPr/>
        </p:nvSpPr>
        <p:spPr>
          <a:xfrm>
            <a:off x="11698635" y="6150075"/>
            <a:ext cx="5393869" cy="180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dirty="0">
                <a:solidFill>
                  <a:srgbClr val="0A0A0A"/>
                </a:solidFill>
                <a:latin typeface="JetBrains Mono" pitchFamily="34" charset="0"/>
                <a:ea typeface="JetBrains Mono" pitchFamily="34" charset="-122"/>
                <a:cs typeface="JetBrains Mono" pitchFamily="34" charset="-120"/>
              </a:rPr>
              <a:t>+ Private co. premium</a:t>
            </a:r>
            <a:endParaRPr lang="en-US" sz="750" dirty="0"/>
          </a:p>
        </p:txBody>
      </p:sp>
      <p:sp>
        <p:nvSpPr>
          <p:cNvPr id="100" name="Text 97"/>
          <p:cNvSpPr/>
          <p:nvPr/>
        </p:nvSpPr>
        <p:spPr>
          <a:xfrm>
            <a:off x="17030651" y="6150075"/>
            <a:ext cx="419166" cy="180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dirty="0">
                <a:solidFill>
                  <a:srgbClr val="0A0A0A"/>
                </a:solidFill>
                <a:latin typeface="JetBrains Mono" pitchFamily="34" charset="0"/>
                <a:ea typeface="JetBrains Mono" pitchFamily="34" charset="-122"/>
                <a:cs typeface="JetBrains Mono" pitchFamily="34" charset="-120"/>
              </a:rPr>
              <a:t>+2.00%</a:t>
            </a:r>
            <a:endParaRPr lang="en-US" sz="750" dirty="0"/>
          </a:p>
        </p:txBody>
      </p:sp>
      <p:sp>
        <p:nvSpPr>
          <p:cNvPr id="101" name="Text 98"/>
          <p:cNvSpPr/>
          <p:nvPr/>
        </p:nvSpPr>
        <p:spPr>
          <a:xfrm>
            <a:off x="11812902" y="6292950"/>
            <a:ext cx="5629429" cy="166671"/>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675" dirty="0">
                <a:solidFill>
                  <a:srgbClr val="5A5A5A"/>
                </a:solidFill>
                <a:latin typeface="JetBrains Mono" pitchFamily="34" charset="0"/>
                <a:ea typeface="JetBrains Mono" pitchFamily="34" charset="-122"/>
                <a:cs typeface="JetBrains Mono" pitchFamily="34" charset="-120"/>
              </a:rPr>
              <a:t>Anchored to Oura tender · Jan 2026</a:t>
            </a:r>
            <a:endParaRPr lang="en-US" sz="675" dirty="0"/>
          </a:p>
        </p:txBody>
      </p:sp>
      <p:sp>
        <p:nvSpPr>
          <p:cNvPr id="102" name="Shape 99"/>
          <p:cNvSpPr/>
          <p:nvPr/>
        </p:nvSpPr>
        <p:spPr>
          <a:xfrm>
            <a:off x="11698635" y="6440538"/>
            <a:ext cx="5674982" cy="9525"/>
          </a:xfrm>
          <a:prstGeom prst="rect">
            <a:avLst/>
          </a:prstGeom>
          <a:solidFill>
            <a:srgbClr val="0A0A0A"/>
          </a:solidFill>
          <a:ln/>
        </p:spPr>
        <p:txBody>
          <a:bodyPr/>
          <a:lstStyle/>
          <a:p>
            <a:endParaRPr lang="en-US"/>
          </a:p>
        </p:txBody>
      </p:sp>
      <p:sp>
        <p:nvSpPr>
          <p:cNvPr id="103" name="Text 100"/>
          <p:cNvSpPr/>
          <p:nvPr/>
        </p:nvSpPr>
        <p:spPr>
          <a:xfrm>
            <a:off x="11698635" y="6474354"/>
            <a:ext cx="5393869" cy="180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b="1" dirty="0">
                <a:solidFill>
                  <a:srgbClr val="E63425"/>
                </a:solidFill>
                <a:latin typeface="JetBrains Mono" pitchFamily="34" charset="0"/>
                <a:ea typeface="JetBrains Mono" pitchFamily="34" charset="-122"/>
                <a:cs typeface="JetBrains Mono" pitchFamily="34" charset="-120"/>
              </a:rPr>
              <a:t>WACC</a:t>
            </a:r>
            <a:endParaRPr lang="en-US" sz="750" dirty="0"/>
          </a:p>
        </p:txBody>
      </p:sp>
      <p:sp>
        <p:nvSpPr>
          <p:cNvPr id="104" name="Text 101"/>
          <p:cNvSpPr/>
          <p:nvPr/>
        </p:nvSpPr>
        <p:spPr>
          <a:xfrm>
            <a:off x="17030651" y="6474354"/>
            <a:ext cx="419166" cy="180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b="1" dirty="0">
                <a:solidFill>
                  <a:srgbClr val="E63425"/>
                </a:solidFill>
                <a:latin typeface="JetBrains Mono" pitchFamily="34" charset="0"/>
                <a:ea typeface="JetBrains Mono" pitchFamily="34" charset="-122"/>
                <a:cs typeface="JetBrains Mono" pitchFamily="34" charset="-120"/>
              </a:rPr>
              <a:t>10.79%</a:t>
            </a:r>
            <a:endParaRPr lang="en-US" sz="750" dirty="0"/>
          </a:p>
        </p:txBody>
      </p:sp>
      <p:sp>
        <p:nvSpPr>
          <p:cNvPr id="105" name="Text 102"/>
          <p:cNvSpPr/>
          <p:nvPr/>
        </p:nvSpPr>
        <p:spPr>
          <a:xfrm>
            <a:off x="11698635" y="6683839"/>
            <a:ext cx="5845232" cy="160089"/>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713" i="1" dirty="0">
                <a:solidFill>
                  <a:srgbClr val="5A5A5A"/>
                </a:solidFill>
                <a:latin typeface="Inter Tight" pitchFamily="34" charset="0"/>
                <a:ea typeface="Inter Tight" pitchFamily="34" charset="-122"/>
                <a:cs typeface="Inter Tight" pitchFamily="34" charset="-120"/>
              </a:rPr>
              <a:t>Bottom-up β from comp regressions (Hamada-relevered) — not Damodaran medians. Sens. 9.8–11.8%.</a:t>
            </a:r>
            <a:endParaRPr lang="en-US" sz="713" dirty="0"/>
          </a:p>
        </p:txBody>
      </p:sp>
      <p:sp>
        <p:nvSpPr>
          <p:cNvPr id="106" name="Shape 103"/>
          <p:cNvSpPr/>
          <p:nvPr/>
        </p:nvSpPr>
        <p:spPr>
          <a:xfrm>
            <a:off x="11698635" y="7165496"/>
            <a:ext cx="5674982" cy="9525"/>
          </a:xfrm>
          <a:prstGeom prst="rect">
            <a:avLst/>
          </a:prstGeom>
          <a:solidFill>
            <a:srgbClr val="0A0A0A"/>
          </a:solidFill>
          <a:ln/>
        </p:spPr>
        <p:txBody>
          <a:bodyPr/>
          <a:lstStyle/>
          <a:p>
            <a:endParaRPr lang="en-US"/>
          </a:p>
        </p:txBody>
      </p:sp>
      <p:sp>
        <p:nvSpPr>
          <p:cNvPr id="107" name="Text 104"/>
          <p:cNvSpPr/>
          <p:nvPr/>
        </p:nvSpPr>
        <p:spPr>
          <a:xfrm>
            <a:off x="11698635" y="7020553"/>
            <a:ext cx="5845232" cy="154467"/>
          </a:xfrm>
          <a:prstGeom prst="rect">
            <a:avLst/>
          </a:prstGeom>
          <a:noFill/>
          <a:ln/>
        </p:spPr>
        <p:txBody>
          <a:bodyPr wrap="square" lIns="25400" tIns="25400" rIns="25400" bIns="25400" rtlCol="0" anchor="t">
            <a:normAutofit lnSpcReduction="10000"/>
          </a:bodyPr>
          <a:lstStyle/>
          <a:p>
            <a:pPr marL="0" indent="0" algn="l">
              <a:buNone/>
            </a:pPr>
            <a:r>
              <a:rPr lang="en-US" sz="713" b="1" kern="0" spc="157" dirty="0">
                <a:solidFill>
                  <a:srgbClr val="5A5A5A"/>
                </a:solidFill>
                <a:latin typeface="JetBrains Mono" pitchFamily="34" charset="0"/>
                <a:ea typeface="JetBrains Mono" pitchFamily="34" charset="-122"/>
                <a:cs typeface="JetBrains Mono" pitchFamily="34" charset="-120"/>
              </a:rPr>
              <a:t>EXIT &amp; TERMINAL VALUE</a:t>
            </a:r>
            <a:endParaRPr lang="en-US" sz="713" dirty="0"/>
          </a:p>
        </p:txBody>
      </p:sp>
      <p:sp>
        <p:nvSpPr>
          <p:cNvPr id="108" name="Text 105"/>
          <p:cNvSpPr/>
          <p:nvPr/>
        </p:nvSpPr>
        <p:spPr>
          <a:xfrm>
            <a:off x="11698635" y="7243135"/>
            <a:ext cx="5476306" cy="168986"/>
          </a:xfrm>
          <a:prstGeom prst="rect">
            <a:avLst/>
          </a:prstGeom>
          <a:noFill/>
          <a:ln/>
        </p:spPr>
        <p:txBody>
          <a:bodyPr wrap="square" lIns="25400" tIns="25400" rIns="25400" bIns="25400" rtlCol="0" anchor="t">
            <a:normAutofit fontScale="85000" lnSpcReduction="10000"/>
          </a:bodyPr>
          <a:lstStyle/>
          <a:p>
            <a:pPr marL="0" indent="0" algn="l">
              <a:lnSpc>
                <a:spcPct val="125000"/>
              </a:lnSpc>
              <a:buNone/>
            </a:pPr>
            <a:r>
              <a:rPr lang="en-US" sz="825" dirty="0">
                <a:solidFill>
                  <a:srgbClr val="2A2A2A"/>
                </a:solidFill>
                <a:latin typeface="Inter Tight" pitchFamily="34" charset="0"/>
                <a:ea typeface="Inter Tight" pitchFamily="34" charset="-122"/>
                <a:cs typeface="Inter Tight" pitchFamily="34" charset="-120"/>
              </a:rPr>
              <a:t>Exit multiple (EV/Rev)</a:t>
            </a:r>
            <a:endParaRPr lang="en-US" sz="825" dirty="0"/>
          </a:p>
        </p:txBody>
      </p:sp>
      <p:sp>
        <p:nvSpPr>
          <p:cNvPr id="109" name="Text 106"/>
          <p:cNvSpPr/>
          <p:nvPr/>
        </p:nvSpPr>
        <p:spPr>
          <a:xfrm>
            <a:off x="17110688" y="7232551"/>
            <a:ext cx="339130" cy="180975"/>
          </a:xfrm>
          <a:prstGeom prst="rect">
            <a:avLst/>
          </a:prstGeom>
          <a:noFill/>
          <a:ln/>
        </p:spPr>
        <p:txBody>
          <a:bodyPr wrap="square" lIns="25400" tIns="25400" rIns="25400" bIns="25400" rtlCol="0" anchor="t">
            <a:normAutofit lnSpcReduction="10000"/>
          </a:bodyPr>
          <a:lstStyle/>
          <a:p>
            <a:pPr marL="0" indent="0" algn="l">
              <a:buNone/>
            </a:pPr>
            <a:r>
              <a:rPr lang="en-US" sz="863" b="1" dirty="0">
                <a:solidFill>
                  <a:srgbClr val="0A0A0A"/>
                </a:solidFill>
                <a:latin typeface="JetBrains Mono" pitchFamily="34" charset="0"/>
                <a:ea typeface="JetBrains Mono" pitchFamily="34" charset="-122"/>
                <a:cs typeface="JetBrains Mono" pitchFamily="34" charset="-120"/>
              </a:rPr>
              <a:t>3.5×</a:t>
            </a:r>
            <a:endParaRPr lang="en-US" sz="863" dirty="0"/>
          </a:p>
        </p:txBody>
      </p:sp>
      <p:sp>
        <p:nvSpPr>
          <p:cNvPr id="110" name="Text 107"/>
          <p:cNvSpPr/>
          <p:nvPr/>
        </p:nvSpPr>
        <p:spPr>
          <a:xfrm>
            <a:off x="11698635" y="7433469"/>
            <a:ext cx="5476306" cy="168986"/>
          </a:xfrm>
          <a:prstGeom prst="rect">
            <a:avLst/>
          </a:prstGeom>
          <a:noFill/>
          <a:ln/>
        </p:spPr>
        <p:txBody>
          <a:bodyPr wrap="square" lIns="25400" tIns="25400" rIns="25400" bIns="25400" rtlCol="0" anchor="t">
            <a:normAutofit fontScale="85000" lnSpcReduction="10000"/>
          </a:bodyPr>
          <a:lstStyle/>
          <a:p>
            <a:pPr marL="0" indent="0" algn="l">
              <a:lnSpc>
                <a:spcPct val="125000"/>
              </a:lnSpc>
              <a:buNone/>
            </a:pPr>
            <a:r>
              <a:rPr lang="en-US" sz="825" dirty="0">
                <a:solidFill>
                  <a:srgbClr val="2A2A2A"/>
                </a:solidFill>
                <a:latin typeface="Inter Tight" pitchFamily="34" charset="0"/>
                <a:ea typeface="Inter Tight" pitchFamily="34" charset="-122"/>
                <a:cs typeface="Inter Tight" pitchFamily="34" charset="-120"/>
              </a:rPr>
              <a:t>Perpetual growth (g)</a:t>
            </a:r>
            <a:endParaRPr lang="en-US" sz="825" dirty="0"/>
          </a:p>
        </p:txBody>
      </p:sp>
      <p:sp>
        <p:nvSpPr>
          <p:cNvPr id="111" name="Text 108"/>
          <p:cNvSpPr/>
          <p:nvPr/>
        </p:nvSpPr>
        <p:spPr>
          <a:xfrm>
            <a:off x="17110688" y="7422886"/>
            <a:ext cx="339130" cy="180975"/>
          </a:xfrm>
          <a:prstGeom prst="rect">
            <a:avLst/>
          </a:prstGeom>
          <a:noFill/>
          <a:ln/>
        </p:spPr>
        <p:txBody>
          <a:bodyPr wrap="square" lIns="25400" tIns="25400" rIns="25400" bIns="25400" rtlCol="0" anchor="t">
            <a:normAutofit lnSpcReduction="10000"/>
          </a:bodyPr>
          <a:lstStyle/>
          <a:p>
            <a:pPr marL="0" indent="0" algn="l">
              <a:buNone/>
            </a:pPr>
            <a:r>
              <a:rPr lang="en-US" sz="863" b="1" dirty="0">
                <a:solidFill>
                  <a:srgbClr val="0A0A0A"/>
                </a:solidFill>
                <a:latin typeface="JetBrains Mono" pitchFamily="34" charset="0"/>
                <a:ea typeface="JetBrains Mono" pitchFamily="34" charset="-122"/>
                <a:cs typeface="JetBrains Mono" pitchFamily="34" charset="-120"/>
              </a:rPr>
              <a:t>3.0%</a:t>
            </a:r>
            <a:endParaRPr lang="en-US" sz="863" dirty="0"/>
          </a:p>
        </p:txBody>
      </p:sp>
      <p:sp>
        <p:nvSpPr>
          <p:cNvPr id="112" name="Text 109"/>
          <p:cNvSpPr/>
          <p:nvPr/>
        </p:nvSpPr>
        <p:spPr>
          <a:xfrm>
            <a:off x="11698635" y="7623804"/>
            <a:ext cx="4731643" cy="168986"/>
          </a:xfrm>
          <a:prstGeom prst="rect">
            <a:avLst/>
          </a:prstGeom>
          <a:noFill/>
          <a:ln/>
        </p:spPr>
        <p:txBody>
          <a:bodyPr wrap="square" lIns="25400" tIns="25400" rIns="25400" bIns="25400" rtlCol="0" anchor="t">
            <a:normAutofit fontScale="85000" lnSpcReduction="10000"/>
          </a:bodyPr>
          <a:lstStyle/>
          <a:p>
            <a:pPr marL="0" indent="0" algn="l">
              <a:lnSpc>
                <a:spcPct val="125000"/>
              </a:lnSpc>
              <a:buNone/>
            </a:pPr>
            <a:r>
              <a:rPr lang="en-US" sz="825" dirty="0">
                <a:solidFill>
                  <a:srgbClr val="2A2A2A"/>
                </a:solidFill>
                <a:latin typeface="Inter Tight" pitchFamily="34" charset="0"/>
                <a:ea typeface="Inter Tight" pitchFamily="34" charset="-122"/>
                <a:cs typeface="Inter Tight" pitchFamily="34" charset="-120"/>
              </a:rPr>
              <a:t>Gordon / Exit-mult TV</a:t>
            </a:r>
            <a:endParaRPr lang="en-US" sz="825" dirty="0"/>
          </a:p>
        </p:txBody>
      </p:sp>
      <p:sp>
        <p:nvSpPr>
          <p:cNvPr id="113" name="Text 110"/>
          <p:cNvSpPr/>
          <p:nvPr/>
        </p:nvSpPr>
        <p:spPr>
          <a:xfrm>
            <a:off x="16645368" y="7616306"/>
            <a:ext cx="1062104" cy="180975"/>
          </a:xfrm>
          <a:prstGeom prst="rect">
            <a:avLst/>
          </a:prstGeom>
          <a:noFill/>
          <a:ln/>
        </p:spPr>
        <p:txBody>
          <a:bodyPr wrap="square" lIns="25400" tIns="25400" rIns="25400" bIns="25400" rtlCol="0" anchor="t">
            <a:normAutofit lnSpcReduction="10000"/>
          </a:bodyPr>
          <a:lstStyle/>
          <a:p>
            <a:pPr marL="0" indent="0" algn="l">
              <a:buNone/>
            </a:pPr>
            <a:r>
              <a:rPr lang="en-US" sz="863" b="1" dirty="0">
                <a:solidFill>
                  <a:srgbClr val="0A0A0A"/>
                </a:solidFill>
                <a:latin typeface="JetBrains Mono" pitchFamily="34" charset="0"/>
                <a:ea typeface="JetBrains Mono" pitchFamily="34" charset="-122"/>
                <a:cs typeface="JetBrains Mono" pitchFamily="34" charset="-120"/>
              </a:rPr>
              <a:t>$11.9B / $11.4B</a:t>
            </a:r>
            <a:endParaRPr lang="en-US" sz="863" dirty="0"/>
          </a:p>
        </p:txBody>
      </p:sp>
      <p:sp>
        <p:nvSpPr>
          <p:cNvPr id="114" name="Text 111"/>
          <p:cNvSpPr/>
          <p:nvPr/>
        </p:nvSpPr>
        <p:spPr>
          <a:xfrm>
            <a:off x="11698635" y="7817909"/>
            <a:ext cx="5845232" cy="160089"/>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713" i="1" dirty="0">
                <a:solidFill>
                  <a:srgbClr val="5A5A5A"/>
                </a:solidFill>
                <a:latin typeface="Inter Tight" pitchFamily="34" charset="0"/>
                <a:ea typeface="Inter Tight" pitchFamily="34" charset="-122"/>
                <a:cs typeface="Inter Tight" pitchFamily="34" charset="-120"/>
              </a:rPr>
              <a:t>Spotify 4.1× / Roku 3.4×. Healthcare optionality in RO layer — not double-counted.</a:t>
            </a:r>
            <a:endParaRPr lang="en-US" sz="713" dirty="0"/>
          </a:p>
        </p:txBody>
      </p:sp>
      <p:sp>
        <p:nvSpPr>
          <p:cNvPr id="115" name="Shape 112"/>
          <p:cNvSpPr/>
          <p:nvPr/>
        </p:nvSpPr>
        <p:spPr>
          <a:xfrm>
            <a:off x="914384" y="9619258"/>
            <a:ext cx="16459234" cy="9525"/>
          </a:xfrm>
          <a:prstGeom prst="rect">
            <a:avLst/>
          </a:prstGeom>
          <a:solidFill>
            <a:srgbClr val="0A0A0A">
              <a:alpha val="10000"/>
            </a:srgbClr>
          </a:solidFill>
          <a:ln/>
        </p:spPr>
        <p:txBody>
          <a:bodyPr/>
          <a:lstStyle/>
          <a:p>
            <a:endParaRPr lang="en-US"/>
          </a:p>
        </p:txBody>
      </p:sp>
      <p:sp>
        <p:nvSpPr>
          <p:cNvPr id="116" name="Text 113"/>
          <p:cNvSpPr/>
          <p:nvPr/>
        </p:nvSpPr>
        <p:spPr>
          <a:xfrm>
            <a:off x="914384" y="9757833"/>
            <a:ext cx="15240217" cy="186267"/>
          </a:xfrm>
          <a:prstGeom prst="rect">
            <a:avLst/>
          </a:prstGeom>
          <a:noFill/>
          <a:ln/>
        </p:spPr>
        <p:txBody>
          <a:bodyPr wrap="square" lIns="25400" tIns="25400" rIns="25400" bIns="25400" rtlCol="0" anchor="t">
            <a:normAutofit lnSpcReduction="10000"/>
          </a:bodyPr>
          <a:lstStyle/>
          <a:p>
            <a:pPr marL="0" indent="0" algn="l">
              <a:buNone/>
            </a:pPr>
            <a:r>
              <a:rPr lang="en-US" sz="900" kern="0" spc="126" dirty="0">
                <a:solidFill>
                  <a:srgbClr val="9A968D"/>
                </a:solidFill>
                <a:latin typeface="JetBrains Mono" pitchFamily="34" charset="0"/>
                <a:ea typeface="JetBrains Mono" pitchFamily="34" charset="-122"/>
                <a:cs typeface="JetBrains Mono" pitchFamily="34" charset="-120"/>
              </a:rPr>
              <a:t>WACC: BOTTOM-UP CAPM (LECT 1B) + HAMADA RELEVER (LECT 2B) + OURA PRIVATE PREMIUM · EXIT: SUBSCRIPTION-ANCHORED (LECT 7) · HEALTHCARE OPTIONALITY SEPARATE IN RO LAYER (LECT 3B)</a:t>
            </a:r>
            <a:endParaRPr lang="en-US" sz="900" dirty="0"/>
          </a:p>
        </p:txBody>
      </p:sp>
      <p:sp>
        <p:nvSpPr>
          <p:cNvPr id="117" name="Text 114"/>
          <p:cNvSpPr/>
          <p:nvPr/>
        </p:nvSpPr>
        <p:spPr>
          <a:xfrm>
            <a:off x="16781694" y="9757833"/>
            <a:ext cx="668123" cy="186267"/>
          </a:xfrm>
          <a:prstGeom prst="rect">
            <a:avLst/>
          </a:prstGeom>
          <a:noFill/>
          <a:ln/>
        </p:spPr>
        <p:txBody>
          <a:bodyPr wrap="square" lIns="25400" tIns="25400" rIns="25400" bIns="25400" rtlCol="0" anchor="t">
            <a:normAutofit lnSpcReduction="10000"/>
          </a:bodyPr>
          <a:lstStyle/>
          <a:p>
            <a:pPr marL="0" indent="0" algn="l">
              <a:buNone/>
            </a:pPr>
            <a:r>
              <a:rPr lang="en-US" sz="900" kern="0" spc="126" dirty="0">
                <a:solidFill>
                  <a:srgbClr val="9A968D"/>
                </a:solidFill>
                <a:latin typeface="JetBrains Mono" pitchFamily="34" charset="0"/>
                <a:ea typeface="JetBrains Mono" pitchFamily="34" charset="-122"/>
                <a:cs typeface="JetBrains Mono" pitchFamily="34" charset="-120"/>
              </a:rPr>
              <a:t>05 / 12</a:t>
            </a:r>
            <a:endParaRPr lang="en-US" sz="900" dirty="0"/>
          </a:p>
        </p:txBody>
      </p:sp>
      <p:sp>
        <p:nvSpPr>
          <p:cNvPr id="119" name="Shape 28">
            <a:extLst>
              <a:ext uri="{FF2B5EF4-FFF2-40B4-BE49-F238E27FC236}">
                <a16:creationId xmlns:a16="http://schemas.microsoft.com/office/drawing/2014/main" id="{01B7BEF8-316B-9400-C812-C10DA89A0D5E}"/>
              </a:ext>
            </a:extLst>
          </p:cNvPr>
          <p:cNvSpPr/>
          <p:nvPr/>
        </p:nvSpPr>
        <p:spPr>
          <a:xfrm>
            <a:off x="4138910" y="3405436"/>
            <a:ext cx="3636863" cy="3232234"/>
          </a:xfrm>
          <a:prstGeom prst="rect">
            <a:avLst/>
          </a:prstGeom>
          <a:solidFill>
            <a:srgbClr val="1F4FB5">
              <a:alpha val="6000"/>
            </a:srgbClr>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5231963"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05 / 12</a:t>
            </a:r>
            <a:endParaRPr lang="en-US" sz="1050" dirty="0"/>
          </a:p>
        </p:txBody>
      </p:sp>
      <p:sp>
        <p:nvSpPr>
          <p:cNvPr id="4" name="Text 2"/>
          <p:cNvSpPr/>
          <p:nvPr/>
        </p:nvSpPr>
        <p:spPr>
          <a:xfrm>
            <a:off x="16151349" y="342900"/>
            <a:ext cx="1260351"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DCF · OUTPUT</a:t>
            </a:r>
            <a:endParaRPr lang="en-US" sz="1050" dirty="0"/>
          </a:p>
        </p:txBody>
      </p:sp>
      <p:sp>
        <p:nvSpPr>
          <p:cNvPr id="5" name="Text 3"/>
          <p:cNvSpPr/>
          <p:nvPr/>
        </p:nvSpPr>
        <p:spPr>
          <a:xfrm>
            <a:off x="952500" y="1047750"/>
            <a:ext cx="16874490"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FF5A1F"/>
                </a:solidFill>
                <a:latin typeface="JetBrains Mono" pitchFamily="34" charset="0"/>
                <a:ea typeface="JetBrains Mono" pitchFamily="34" charset="-122"/>
                <a:cs typeface="JetBrains Mono" pitchFamily="34" charset="-120"/>
              </a:rPr>
              <a:t>SLIDE 05 · DCF OUTPUT &amp; SENSITIVITIES</a:t>
            </a:r>
            <a:endParaRPr lang="en-US" sz="1350" dirty="0"/>
          </a:p>
        </p:txBody>
      </p:sp>
      <p:sp>
        <p:nvSpPr>
          <p:cNvPr id="6" name="Text 4"/>
          <p:cNvSpPr/>
          <p:nvPr/>
        </p:nvSpPr>
        <p:spPr>
          <a:xfrm>
            <a:off x="952500" y="1409700"/>
            <a:ext cx="16874490" cy="63244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b="1" kern="0" spc="-81" dirty="0">
                <a:solidFill>
                  <a:srgbClr val="0A0A0A"/>
                </a:solidFill>
                <a:latin typeface="Space Grotesk" pitchFamily="34" charset="0"/>
                <a:ea typeface="Space Grotesk" pitchFamily="34" charset="-122"/>
                <a:cs typeface="Space Grotesk" pitchFamily="34" charset="-120"/>
              </a:rPr>
              <a:t>Base case </a:t>
            </a:r>
            <a:r>
              <a:rPr lang="en-US" sz="4500" b="1" kern="0" spc="-81" dirty="0">
                <a:solidFill>
                  <a:srgbClr val="FF5A1F"/>
                </a:solidFill>
                <a:latin typeface="Space Grotesk" pitchFamily="34" charset="0"/>
                <a:ea typeface="Space Grotesk" pitchFamily="34" charset="-122"/>
                <a:cs typeface="Space Grotesk" pitchFamily="34" charset="-120"/>
              </a:rPr>
              <a:t>$8.4B </a:t>
            </a:r>
            <a:r>
              <a:rPr lang="en-US" sz="4500" b="1" kern="0" spc="-81" dirty="0">
                <a:solidFill>
                  <a:srgbClr val="0A0A0A"/>
                </a:solidFill>
                <a:latin typeface="Space Grotesk" pitchFamily="34" charset="0"/>
                <a:ea typeface="Space Grotesk" pitchFamily="34" charset="-122"/>
                <a:cs typeface="Space Grotesk" pitchFamily="34" charset="-120"/>
              </a:rPr>
              <a:t>— but identity matters more than precision.</a:t>
            </a:r>
            <a:endParaRPr lang="en-US" sz="4500" dirty="0"/>
          </a:p>
        </p:txBody>
      </p:sp>
      <p:sp>
        <p:nvSpPr>
          <p:cNvPr id="7" name="Text 5"/>
          <p:cNvSpPr/>
          <p:nvPr/>
        </p:nvSpPr>
        <p:spPr>
          <a:xfrm>
            <a:off x="952500" y="2137395"/>
            <a:ext cx="14716125" cy="73149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0" dirty="0">
                <a:solidFill>
                  <a:srgbClr val="3A3A3A"/>
                </a:solidFill>
                <a:latin typeface="Space Grotesk" pitchFamily="34" charset="0"/>
                <a:ea typeface="Space Grotesk" pitchFamily="34" charset="-122"/>
                <a:cs typeface="Space Grotesk" pitchFamily="34" charset="-120"/>
              </a:rPr>
              <a:t>The biggest single driver is which comp set anchors WACC — i.e., the public market's identity question, priced inside the discount rate.</a:t>
            </a:r>
            <a:endParaRPr lang="en-US" sz="1950" dirty="0"/>
          </a:p>
        </p:txBody>
      </p:sp>
      <p:sp>
        <p:nvSpPr>
          <p:cNvPr id="8" name="Shape 6"/>
          <p:cNvSpPr/>
          <p:nvPr/>
        </p:nvSpPr>
        <p:spPr>
          <a:xfrm>
            <a:off x="952500" y="3135585"/>
            <a:ext cx="6667500" cy="5133975"/>
          </a:xfrm>
          <a:prstGeom prst="rect">
            <a:avLst/>
          </a:prstGeom>
          <a:solidFill>
            <a:srgbClr val="F6F5F2"/>
          </a:solidFill>
          <a:ln w="9525">
            <a:solidFill>
              <a:srgbClr val="E2DFD8"/>
            </a:solidFill>
            <a:prstDash val="solid"/>
          </a:ln>
        </p:spPr>
        <p:txBody>
          <a:bodyPr/>
          <a:lstStyle/>
          <a:p>
            <a:endParaRPr lang="en-US"/>
          </a:p>
        </p:txBody>
      </p:sp>
      <p:sp>
        <p:nvSpPr>
          <p:cNvPr id="9" name="Text 7"/>
          <p:cNvSpPr/>
          <p:nvPr/>
        </p:nvSpPr>
        <p:spPr>
          <a:xfrm>
            <a:off x="1190625" y="3373710"/>
            <a:ext cx="6376988" cy="204787"/>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7A776E"/>
                </a:solidFill>
                <a:latin typeface="JetBrains Mono" pitchFamily="34" charset="0"/>
                <a:ea typeface="JetBrains Mono" pitchFamily="34" charset="-122"/>
                <a:cs typeface="JetBrains Mono" pitchFamily="34" charset="-120"/>
              </a:rPr>
              <a:t>EV → EQUITY WATERFALL ($B)</a:t>
            </a:r>
            <a:endParaRPr lang="en-US" sz="975" dirty="0"/>
          </a:p>
        </p:txBody>
      </p:sp>
      <p:sp>
        <p:nvSpPr>
          <p:cNvPr id="10" name="Shape 8"/>
          <p:cNvSpPr/>
          <p:nvPr/>
        </p:nvSpPr>
        <p:spPr>
          <a:xfrm>
            <a:off x="1190625" y="4135710"/>
            <a:ext cx="6191250" cy="9525"/>
          </a:xfrm>
          <a:prstGeom prst="rect">
            <a:avLst/>
          </a:prstGeom>
          <a:solidFill>
            <a:srgbClr val="E2DFD8"/>
          </a:solidFill>
          <a:ln/>
        </p:spPr>
        <p:txBody>
          <a:bodyPr/>
          <a:lstStyle/>
          <a:p>
            <a:endParaRPr lang="en-US"/>
          </a:p>
        </p:txBody>
      </p:sp>
      <p:sp>
        <p:nvSpPr>
          <p:cNvPr id="11" name="Text 9"/>
          <p:cNvSpPr/>
          <p:nvPr/>
        </p:nvSpPr>
        <p:spPr>
          <a:xfrm>
            <a:off x="1190625" y="3804717"/>
            <a:ext cx="5670614"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PV of Explicit FCF (Y1–Y7)</a:t>
            </a:r>
            <a:endParaRPr lang="en-US" sz="1350" dirty="0"/>
          </a:p>
        </p:txBody>
      </p:sp>
      <p:sp>
        <p:nvSpPr>
          <p:cNvPr id="12" name="Text 10"/>
          <p:cNvSpPr/>
          <p:nvPr/>
        </p:nvSpPr>
        <p:spPr>
          <a:xfrm>
            <a:off x="6810375" y="3788048"/>
            <a:ext cx="647700" cy="290513"/>
          </a:xfrm>
          <a:prstGeom prst="rect">
            <a:avLst/>
          </a:prstGeom>
          <a:noFill/>
          <a:ln/>
        </p:spPr>
        <p:txBody>
          <a:bodyPr wrap="square" lIns="25400" tIns="25400" rIns="25400" bIns="25400" rtlCol="0" anchor="t">
            <a:normAutofit/>
          </a:bodyPr>
          <a:lstStyle/>
          <a:p>
            <a:pPr marL="0" indent="0" algn="l">
              <a:buNone/>
            </a:pPr>
            <a:r>
              <a:rPr lang="en-US" sz="1500" dirty="0">
                <a:solidFill>
                  <a:srgbClr val="1F7A3D"/>
                </a:solidFill>
                <a:latin typeface="JetBrains Mono" pitchFamily="34" charset="0"/>
                <a:ea typeface="JetBrains Mono" pitchFamily="34" charset="-122"/>
                <a:cs typeface="JetBrains Mono" pitchFamily="34" charset="-120"/>
              </a:rPr>
              <a:t>+ 4.1</a:t>
            </a:r>
            <a:endParaRPr lang="en-US" sz="1500" dirty="0"/>
          </a:p>
        </p:txBody>
      </p:sp>
      <p:sp>
        <p:nvSpPr>
          <p:cNvPr id="13" name="Shape 11"/>
          <p:cNvSpPr/>
          <p:nvPr/>
        </p:nvSpPr>
        <p:spPr>
          <a:xfrm>
            <a:off x="1190625" y="4683398"/>
            <a:ext cx="6191250" cy="9525"/>
          </a:xfrm>
          <a:prstGeom prst="rect">
            <a:avLst/>
          </a:prstGeom>
          <a:solidFill>
            <a:srgbClr val="E2DFD8"/>
          </a:solidFill>
          <a:ln/>
        </p:spPr>
        <p:txBody>
          <a:bodyPr/>
          <a:lstStyle/>
          <a:p>
            <a:endParaRPr lang="en-US"/>
          </a:p>
        </p:txBody>
      </p:sp>
      <p:sp>
        <p:nvSpPr>
          <p:cNvPr id="14" name="Text 12"/>
          <p:cNvSpPr/>
          <p:nvPr/>
        </p:nvSpPr>
        <p:spPr>
          <a:xfrm>
            <a:off x="1190625" y="4352404"/>
            <a:ext cx="5670614"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PV of Terminal Value</a:t>
            </a:r>
            <a:endParaRPr lang="en-US" sz="1350" dirty="0"/>
          </a:p>
        </p:txBody>
      </p:sp>
      <p:sp>
        <p:nvSpPr>
          <p:cNvPr id="15" name="Text 13"/>
          <p:cNvSpPr/>
          <p:nvPr/>
        </p:nvSpPr>
        <p:spPr>
          <a:xfrm>
            <a:off x="6810375" y="4335735"/>
            <a:ext cx="647700" cy="290513"/>
          </a:xfrm>
          <a:prstGeom prst="rect">
            <a:avLst/>
          </a:prstGeom>
          <a:noFill/>
          <a:ln/>
        </p:spPr>
        <p:txBody>
          <a:bodyPr wrap="square" lIns="25400" tIns="25400" rIns="25400" bIns="25400" rtlCol="0" anchor="t">
            <a:normAutofit/>
          </a:bodyPr>
          <a:lstStyle/>
          <a:p>
            <a:pPr marL="0" indent="0" algn="l">
              <a:buNone/>
            </a:pPr>
            <a:r>
              <a:rPr lang="en-US" sz="1500" dirty="0">
                <a:solidFill>
                  <a:srgbClr val="1F7A3D"/>
                </a:solidFill>
                <a:latin typeface="JetBrains Mono" pitchFamily="34" charset="0"/>
                <a:ea typeface="JetBrains Mono" pitchFamily="34" charset="-122"/>
                <a:cs typeface="JetBrains Mono" pitchFamily="34" charset="-120"/>
              </a:rPr>
              <a:t>+ 5.2</a:t>
            </a:r>
            <a:endParaRPr lang="en-US" sz="1500" dirty="0"/>
          </a:p>
        </p:txBody>
      </p:sp>
      <p:sp>
        <p:nvSpPr>
          <p:cNvPr id="16" name="Shape 14"/>
          <p:cNvSpPr/>
          <p:nvPr/>
        </p:nvSpPr>
        <p:spPr>
          <a:xfrm>
            <a:off x="1190625" y="5231085"/>
            <a:ext cx="6191250" cy="9525"/>
          </a:xfrm>
          <a:prstGeom prst="rect">
            <a:avLst/>
          </a:prstGeom>
          <a:solidFill>
            <a:srgbClr val="E2DFD8"/>
          </a:solidFill>
          <a:ln/>
        </p:spPr>
        <p:txBody>
          <a:bodyPr/>
          <a:lstStyle/>
          <a:p>
            <a:endParaRPr lang="en-US"/>
          </a:p>
        </p:txBody>
      </p:sp>
      <p:sp>
        <p:nvSpPr>
          <p:cNvPr id="17" name="Text 15"/>
          <p:cNvSpPr/>
          <p:nvPr/>
        </p:nvSpPr>
        <p:spPr>
          <a:xfrm>
            <a:off x="1190625" y="4900092"/>
            <a:ext cx="5906072"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Enterprise Value</a:t>
            </a:r>
            <a:endParaRPr lang="en-US" sz="1350" dirty="0"/>
          </a:p>
        </p:txBody>
      </p:sp>
      <p:sp>
        <p:nvSpPr>
          <p:cNvPr id="18" name="Text 16"/>
          <p:cNvSpPr/>
          <p:nvPr/>
        </p:nvSpPr>
        <p:spPr>
          <a:xfrm>
            <a:off x="7038975" y="4883423"/>
            <a:ext cx="419100" cy="290513"/>
          </a:xfrm>
          <a:prstGeom prst="rect">
            <a:avLst/>
          </a:prstGeom>
          <a:noFill/>
          <a:ln/>
        </p:spPr>
        <p:txBody>
          <a:bodyPr wrap="square" lIns="25400" tIns="25400" rIns="25400" bIns="25400" rtlCol="0" anchor="t">
            <a:normAutofit/>
          </a:bodyPr>
          <a:lstStyle/>
          <a:p>
            <a:pPr marL="0" indent="0" algn="l">
              <a:buNone/>
            </a:pPr>
            <a:r>
              <a:rPr lang="en-US" sz="1500" dirty="0">
                <a:solidFill>
                  <a:srgbClr val="0A0A0A"/>
                </a:solidFill>
                <a:latin typeface="JetBrains Mono" pitchFamily="34" charset="0"/>
                <a:ea typeface="JetBrains Mono" pitchFamily="34" charset="-122"/>
                <a:cs typeface="JetBrains Mono" pitchFamily="34" charset="-120"/>
              </a:rPr>
              <a:t>9.3</a:t>
            </a:r>
            <a:endParaRPr lang="en-US" sz="1500" dirty="0"/>
          </a:p>
        </p:txBody>
      </p:sp>
      <p:sp>
        <p:nvSpPr>
          <p:cNvPr id="19" name="Shape 17"/>
          <p:cNvSpPr/>
          <p:nvPr/>
        </p:nvSpPr>
        <p:spPr>
          <a:xfrm>
            <a:off x="1190625" y="5778773"/>
            <a:ext cx="6191250" cy="9525"/>
          </a:xfrm>
          <a:prstGeom prst="rect">
            <a:avLst/>
          </a:prstGeom>
          <a:solidFill>
            <a:srgbClr val="E2DFD8"/>
          </a:solidFill>
          <a:ln/>
        </p:spPr>
        <p:txBody>
          <a:bodyPr/>
          <a:lstStyle/>
          <a:p>
            <a:endParaRPr lang="en-US"/>
          </a:p>
        </p:txBody>
      </p:sp>
      <p:sp>
        <p:nvSpPr>
          <p:cNvPr id="20" name="Text 18"/>
          <p:cNvSpPr/>
          <p:nvPr/>
        </p:nvSpPr>
        <p:spPr>
          <a:xfrm>
            <a:off x="1190625" y="5447779"/>
            <a:ext cx="5670614"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 Net Debt</a:t>
            </a:r>
            <a:endParaRPr lang="en-US" sz="1350" dirty="0"/>
          </a:p>
        </p:txBody>
      </p:sp>
      <p:sp>
        <p:nvSpPr>
          <p:cNvPr id="21" name="Text 19"/>
          <p:cNvSpPr/>
          <p:nvPr/>
        </p:nvSpPr>
        <p:spPr>
          <a:xfrm>
            <a:off x="6810375" y="5431110"/>
            <a:ext cx="647700" cy="290513"/>
          </a:xfrm>
          <a:prstGeom prst="rect">
            <a:avLst/>
          </a:prstGeom>
          <a:noFill/>
          <a:ln/>
        </p:spPr>
        <p:txBody>
          <a:bodyPr wrap="square" lIns="25400" tIns="25400" rIns="25400" bIns="25400" rtlCol="0" anchor="t">
            <a:normAutofit/>
          </a:bodyPr>
          <a:lstStyle/>
          <a:p>
            <a:pPr marL="0" indent="0" algn="l">
              <a:buNone/>
            </a:pPr>
            <a:r>
              <a:rPr lang="en-US" sz="1500" dirty="0">
                <a:solidFill>
                  <a:srgbClr val="FF5A1F"/>
                </a:solidFill>
                <a:latin typeface="JetBrains Mono" pitchFamily="34" charset="0"/>
                <a:ea typeface="JetBrains Mono" pitchFamily="34" charset="-122"/>
                <a:cs typeface="JetBrains Mono" pitchFamily="34" charset="-120"/>
              </a:rPr>
              <a:t>− 0.6</a:t>
            </a:r>
            <a:endParaRPr lang="en-US" sz="1500" dirty="0"/>
          </a:p>
        </p:txBody>
      </p:sp>
      <p:sp>
        <p:nvSpPr>
          <p:cNvPr id="22" name="Shape 20"/>
          <p:cNvSpPr/>
          <p:nvPr/>
        </p:nvSpPr>
        <p:spPr>
          <a:xfrm>
            <a:off x="1190625" y="6326460"/>
            <a:ext cx="6191250" cy="9525"/>
          </a:xfrm>
          <a:prstGeom prst="rect">
            <a:avLst/>
          </a:prstGeom>
          <a:solidFill>
            <a:srgbClr val="E2DFD8"/>
          </a:solidFill>
          <a:ln/>
        </p:spPr>
        <p:txBody>
          <a:bodyPr/>
          <a:lstStyle/>
          <a:p>
            <a:endParaRPr lang="en-US"/>
          </a:p>
        </p:txBody>
      </p:sp>
      <p:sp>
        <p:nvSpPr>
          <p:cNvPr id="23" name="Text 21"/>
          <p:cNvSpPr/>
          <p:nvPr/>
        </p:nvSpPr>
        <p:spPr>
          <a:xfrm>
            <a:off x="1190625" y="5995467"/>
            <a:ext cx="5670614"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 Cash &amp; Equivalents</a:t>
            </a:r>
            <a:endParaRPr lang="en-US" sz="1350" dirty="0"/>
          </a:p>
        </p:txBody>
      </p:sp>
      <p:sp>
        <p:nvSpPr>
          <p:cNvPr id="24" name="Text 22"/>
          <p:cNvSpPr/>
          <p:nvPr/>
        </p:nvSpPr>
        <p:spPr>
          <a:xfrm>
            <a:off x="6810375" y="5978798"/>
            <a:ext cx="647700" cy="290513"/>
          </a:xfrm>
          <a:prstGeom prst="rect">
            <a:avLst/>
          </a:prstGeom>
          <a:noFill/>
          <a:ln/>
        </p:spPr>
        <p:txBody>
          <a:bodyPr wrap="square" lIns="25400" tIns="25400" rIns="25400" bIns="25400" rtlCol="0" anchor="t">
            <a:normAutofit/>
          </a:bodyPr>
          <a:lstStyle/>
          <a:p>
            <a:pPr marL="0" indent="0" algn="l">
              <a:buNone/>
            </a:pPr>
            <a:r>
              <a:rPr lang="en-US" sz="1500" dirty="0">
                <a:solidFill>
                  <a:srgbClr val="1F7A3D"/>
                </a:solidFill>
                <a:latin typeface="JetBrains Mono" pitchFamily="34" charset="0"/>
                <a:ea typeface="JetBrains Mono" pitchFamily="34" charset="-122"/>
                <a:cs typeface="JetBrains Mono" pitchFamily="34" charset="-120"/>
              </a:rPr>
              <a:t>+ 0.4</a:t>
            </a:r>
            <a:endParaRPr lang="en-US" sz="1500" dirty="0"/>
          </a:p>
        </p:txBody>
      </p:sp>
      <p:sp>
        <p:nvSpPr>
          <p:cNvPr id="25" name="Shape 23"/>
          <p:cNvSpPr/>
          <p:nvPr/>
        </p:nvSpPr>
        <p:spPr>
          <a:xfrm>
            <a:off x="1190625" y="6874148"/>
            <a:ext cx="6191250" cy="9525"/>
          </a:xfrm>
          <a:prstGeom prst="rect">
            <a:avLst/>
          </a:prstGeom>
          <a:solidFill>
            <a:srgbClr val="E2DFD8"/>
          </a:solidFill>
          <a:ln/>
        </p:spPr>
        <p:txBody>
          <a:bodyPr/>
          <a:lstStyle/>
          <a:p>
            <a:endParaRPr lang="en-US"/>
          </a:p>
        </p:txBody>
      </p:sp>
      <p:sp>
        <p:nvSpPr>
          <p:cNvPr id="26" name="Text 24"/>
          <p:cNvSpPr/>
          <p:nvPr/>
        </p:nvSpPr>
        <p:spPr>
          <a:xfrm>
            <a:off x="1190625" y="6543154"/>
            <a:ext cx="5670614"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3A3A"/>
                </a:solidFill>
                <a:latin typeface="Space Grotesk" pitchFamily="34" charset="0"/>
                <a:ea typeface="Space Grotesk" pitchFamily="34" charset="-122"/>
                <a:cs typeface="Space Grotesk" pitchFamily="34" charset="-120"/>
              </a:rPr>
              <a:t>− SBC overhang</a:t>
            </a:r>
            <a:endParaRPr lang="en-US" sz="1350" dirty="0"/>
          </a:p>
        </p:txBody>
      </p:sp>
      <p:sp>
        <p:nvSpPr>
          <p:cNvPr id="27" name="Text 25"/>
          <p:cNvSpPr/>
          <p:nvPr/>
        </p:nvSpPr>
        <p:spPr>
          <a:xfrm>
            <a:off x="6810375" y="6526485"/>
            <a:ext cx="647700" cy="290513"/>
          </a:xfrm>
          <a:prstGeom prst="rect">
            <a:avLst/>
          </a:prstGeom>
          <a:noFill/>
          <a:ln/>
        </p:spPr>
        <p:txBody>
          <a:bodyPr wrap="square" lIns="25400" tIns="25400" rIns="25400" bIns="25400" rtlCol="0" anchor="t">
            <a:normAutofit/>
          </a:bodyPr>
          <a:lstStyle/>
          <a:p>
            <a:pPr marL="0" indent="0" algn="l">
              <a:buNone/>
            </a:pPr>
            <a:r>
              <a:rPr lang="en-US" sz="1500" dirty="0">
                <a:solidFill>
                  <a:srgbClr val="FF5A1F"/>
                </a:solidFill>
                <a:latin typeface="JetBrains Mono" pitchFamily="34" charset="0"/>
                <a:ea typeface="JetBrains Mono" pitchFamily="34" charset="-122"/>
                <a:cs typeface="JetBrains Mono" pitchFamily="34" charset="-120"/>
              </a:rPr>
              <a:t>− 0.7</a:t>
            </a:r>
            <a:endParaRPr lang="en-US" sz="1500" dirty="0"/>
          </a:p>
        </p:txBody>
      </p:sp>
      <p:sp>
        <p:nvSpPr>
          <p:cNvPr id="28" name="Shape 26"/>
          <p:cNvSpPr/>
          <p:nvPr/>
        </p:nvSpPr>
        <p:spPr>
          <a:xfrm>
            <a:off x="1190625" y="6978923"/>
            <a:ext cx="6191250" cy="19050"/>
          </a:xfrm>
          <a:prstGeom prst="rect">
            <a:avLst/>
          </a:prstGeom>
          <a:solidFill>
            <a:srgbClr val="0A0A0A"/>
          </a:solidFill>
          <a:ln/>
        </p:spPr>
        <p:txBody>
          <a:bodyPr/>
          <a:lstStyle/>
          <a:p>
            <a:endParaRPr lang="en-US"/>
          </a:p>
        </p:txBody>
      </p:sp>
      <p:sp>
        <p:nvSpPr>
          <p:cNvPr id="29" name="Text 27"/>
          <p:cNvSpPr/>
          <p:nvPr/>
        </p:nvSpPr>
        <p:spPr>
          <a:xfrm>
            <a:off x="1190625" y="7197998"/>
            <a:ext cx="5435155" cy="257175"/>
          </a:xfrm>
          <a:prstGeom prst="rect">
            <a:avLst/>
          </a:prstGeom>
          <a:noFill/>
          <a:ln/>
        </p:spPr>
        <p:txBody>
          <a:bodyPr wrap="square" lIns="25400" tIns="25400" rIns="25400" bIns="25400" rtlCol="0" anchor="t">
            <a:normAutofit/>
          </a:bodyPr>
          <a:lstStyle/>
          <a:p>
            <a:pPr marL="0" indent="0" algn="l">
              <a:buNone/>
            </a:pPr>
            <a:r>
              <a:rPr lang="en-US" sz="1350" b="1" dirty="0">
                <a:solidFill>
                  <a:srgbClr val="0A0A0A"/>
                </a:solidFill>
                <a:latin typeface="Space Grotesk" pitchFamily="34" charset="0"/>
                <a:ea typeface="Space Grotesk" pitchFamily="34" charset="-122"/>
                <a:cs typeface="Space Grotesk" pitchFamily="34" charset="-120"/>
              </a:rPr>
              <a:t>Equity Value (base)</a:t>
            </a:r>
            <a:endParaRPr lang="en-US" sz="1350" dirty="0"/>
          </a:p>
        </p:txBody>
      </p:sp>
      <p:sp>
        <p:nvSpPr>
          <p:cNvPr id="30" name="Text 28"/>
          <p:cNvSpPr/>
          <p:nvPr/>
        </p:nvSpPr>
        <p:spPr>
          <a:xfrm>
            <a:off x="6581775" y="7131323"/>
            <a:ext cx="876300"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FF5A1F"/>
                </a:solidFill>
                <a:latin typeface="JetBrains Mono" pitchFamily="34" charset="0"/>
                <a:ea typeface="JetBrains Mono" pitchFamily="34" charset="-122"/>
                <a:cs typeface="JetBrains Mono" pitchFamily="34" charset="-120"/>
              </a:rPr>
              <a:t>$8.4B</a:t>
            </a:r>
            <a:endParaRPr lang="en-US" sz="2100" dirty="0"/>
          </a:p>
        </p:txBody>
      </p:sp>
      <p:sp>
        <p:nvSpPr>
          <p:cNvPr id="31" name="Shape 29"/>
          <p:cNvSpPr/>
          <p:nvPr/>
        </p:nvSpPr>
        <p:spPr>
          <a:xfrm>
            <a:off x="1190625" y="7712348"/>
            <a:ext cx="6191250" cy="9525"/>
          </a:xfrm>
          <a:prstGeom prst="rect">
            <a:avLst/>
          </a:prstGeom>
          <a:solidFill>
            <a:srgbClr val="E2DFD8"/>
          </a:solidFill>
          <a:ln/>
        </p:spPr>
        <p:txBody>
          <a:bodyPr/>
          <a:lstStyle/>
          <a:p>
            <a:endParaRPr lang="en-US"/>
          </a:p>
        </p:txBody>
      </p:sp>
      <p:sp>
        <p:nvSpPr>
          <p:cNvPr id="32" name="Text 30"/>
          <p:cNvSpPr/>
          <p:nvPr/>
        </p:nvSpPr>
        <p:spPr>
          <a:xfrm>
            <a:off x="1190625" y="7855223"/>
            <a:ext cx="1436415" cy="214313"/>
          </a:xfrm>
          <a:prstGeom prst="rect">
            <a:avLst/>
          </a:prstGeom>
          <a:noFill/>
          <a:ln/>
        </p:spPr>
        <p:txBody>
          <a:bodyPr wrap="square" lIns="25400" tIns="25400" rIns="25400" bIns="25400" rtlCol="0" anchor="t">
            <a:normAutofit/>
          </a:bodyPr>
          <a:lstStyle/>
          <a:p>
            <a:pPr marL="0" indent="0" algn="l">
              <a:buNone/>
            </a:pPr>
            <a:r>
              <a:rPr lang="en-US" sz="1050" dirty="0">
                <a:solidFill>
                  <a:srgbClr val="7A776E"/>
                </a:solidFill>
                <a:latin typeface="JetBrains Mono" pitchFamily="34" charset="0"/>
                <a:ea typeface="JetBrains Mono" pitchFamily="34" charset="-122"/>
                <a:cs typeface="JetBrains Mono" pitchFamily="34" charset="-120"/>
              </a:rPr>
              <a:t>SENSITIVITY RANGE</a:t>
            </a:r>
            <a:endParaRPr lang="en-US" sz="1050" dirty="0"/>
          </a:p>
        </p:txBody>
      </p:sp>
      <p:sp>
        <p:nvSpPr>
          <p:cNvPr id="33" name="Text 31"/>
          <p:cNvSpPr/>
          <p:nvPr/>
        </p:nvSpPr>
        <p:spPr>
          <a:xfrm>
            <a:off x="6261720" y="7855223"/>
            <a:ext cx="1196355" cy="214313"/>
          </a:xfrm>
          <a:prstGeom prst="rect">
            <a:avLst/>
          </a:prstGeom>
          <a:noFill/>
          <a:ln/>
        </p:spPr>
        <p:txBody>
          <a:bodyPr wrap="square" lIns="25400" tIns="25400" rIns="25400" bIns="25400" rtlCol="0" anchor="t">
            <a:normAutofit/>
          </a:bodyPr>
          <a:lstStyle/>
          <a:p>
            <a:pPr marL="0" indent="0" algn="l">
              <a:buNone/>
            </a:pPr>
            <a:r>
              <a:rPr lang="en-US" sz="1050" dirty="0">
                <a:solidFill>
                  <a:srgbClr val="0A0A0A"/>
                </a:solidFill>
                <a:latin typeface="JetBrains Mono" pitchFamily="34" charset="0"/>
                <a:ea typeface="JetBrains Mono" pitchFamily="34" charset="-122"/>
                <a:cs typeface="JetBrains Mono" pitchFamily="34" charset="-120"/>
              </a:rPr>
              <a:t>$5.8B — $12.1B</a:t>
            </a:r>
            <a:endParaRPr lang="en-US" sz="1050" dirty="0"/>
          </a:p>
        </p:txBody>
      </p:sp>
      <p:sp>
        <p:nvSpPr>
          <p:cNvPr id="34" name="Shape 32"/>
          <p:cNvSpPr/>
          <p:nvPr/>
        </p:nvSpPr>
        <p:spPr>
          <a:xfrm>
            <a:off x="8001000" y="3135585"/>
            <a:ext cx="9334500" cy="4376738"/>
          </a:xfrm>
          <a:prstGeom prst="rect">
            <a:avLst/>
          </a:prstGeom>
          <a:ln w="9525">
            <a:solidFill>
              <a:srgbClr val="E2DFD8"/>
            </a:solidFill>
            <a:prstDash val="solid"/>
          </a:ln>
        </p:spPr>
        <p:txBody>
          <a:bodyPr/>
          <a:lstStyle/>
          <a:p>
            <a:endParaRPr lang="en-US"/>
          </a:p>
        </p:txBody>
      </p:sp>
      <p:sp>
        <p:nvSpPr>
          <p:cNvPr id="35" name="Text 33"/>
          <p:cNvSpPr/>
          <p:nvPr/>
        </p:nvSpPr>
        <p:spPr>
          <a:xfrm>
            <a:off x="8315325" y="3373710"/>
            <a:ext cx="3208958" cy="204787"/>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7A776E"/>
                </a:solidFill>
                <a:latin typeface="JetBrains Mono" pitchFamily="34" charset="0"/>
                <a:ea typeface="JetBrains Mono" pitchFamily="34" charset="-122"/>
                <a:cs typeface="JetBrains Mono" pitchFamily="34" charset="-120"/>
              </a:rPr>
              <a:t>TORNADO — EQUITY VALUE SENSITIVITY</a:t>
            </a:r>
            <a:endParaRPr lang="en-US" sz="975" dirty="0"/>
          </a:p>
        </p:txBody>
      </p:sp>
      <p:sp>
        <p:nvSpPr>
          <p:cNvPr id="36" name="Text 34"/>
          <p:cNvSpPr/>
          <p:nvPr/>
        </p:nvSpPr>
        <p:spPr>
          <a:xfrm>
            <a:off x="16104840" y="3373710"/>
            <a:ext cx="992535" cy="204787"/>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7A776E"/>
                </a:solidFill>
                <a:latin typeface="JetBrains Mono" pitchFamily="34" charset="0"/>
                <a:ea typeface="JetBrains Mono" pitchFamily="34" charset="-122"/>
                <a:cs typeface="JetBrains Mono" pitchFamily="34" charset="-120"/>
              </a:rPr>
              <a:t>$ B IMPACT</a:t>
            </a:r>
            <a:endParaRPr lang="en-US" sz="975" dirty="0"/>
          </a:p>
        </p:txBody>
      </p:sp>
      <p:sp>
        <p:nvSpPr>
          <p:cNvPr id="37" name="Text 35"/>
          <p:cNvSpPr/>
          <p:nvPr/>
        </p:nvSpPr>
        <p:spPr>
          <a:xfrm>
            <a:off x="8315325" y="3692798"/>
            <a:ext cx="35056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−$3B</a:t>
            </a:r>
            <a:endParaRPr lang="en-US" sz="900" dirty="0"/>
          </a:p>
        </p:txBody>
      </p:sp>
      <p:sp>
        <p:nvSpPr>
          <p:cNvPr id="38" name="Text 36"/>
          <p:cNvSpPr/>
          <p:nvPr/>
        </p:nvSpPr>
        <p:spPr>
          <a:xfrm>
            <a:off x="10388947" y="3692798"/>
            <a:ext cx="487710"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−$1.5B</a:t>
            </a:r>
            <a:endParaRPr lang="en-US" sz="900" dirty="0"/>
          </a:p>
        </p:txBody>
      </p:sp>
      <p:sp>
        <p:nvSpPr>
          <p:cNvPr id="39" name="Text 37"/>
          <p:cNvSpPr/>
          <p:nvPr/>
        </p:nvSpPr>
        <p:spPr>
          <a:xfrm>
            <a:off x="12599640" y="3692798"/>
            <a:ext cx="213420"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$0</a:t>
            </a:r>
            <a:endParaRPr lang="en-US" sz="900" dirty="0"/>
          </a:p>
        </p:txBody>
      </p:sp>
      <p:sp>
        <p:nvSpPr>
          <p:cNvPr id="40" name="Text 38"/>
          <p:cNvSpPr/>
          <p:nvPr/>
        </p:nvSpPr>
        <p:spPr>
          <a:xfrm>
            <a:off x="14536117" y="3692798"/>
            <a:ext cx="487710"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+$1.5B</a:t>
            </a:r>
            <a:endParaRPr lang="en-US" sz="900" dirty="0"/>
          </a:p>
        </p:txBody>
      </p:sp>
      <p:sp>
        <p:nvSpPr>
          <p:cNvPr id="41" name="Text 39"/>
          <p:cNvSpPr/>
          <p:nvPr/>
        </p:nvSpPr>
        <p:spPr>
          <a:xfrm>
            <a:off x="16746810" y="3692798"/>
            <a:ext cx="35056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+$3B</a:t>
            </a:r>
            <a:endParaRPr lang="en-US" sz="900" dirty="0"/>
          </a:p>
        </p:txBody>
      </p:sp>
      <p:sp>
        <p:nvSpPr>
          <p:cNvPr id="42" name="Text 40"/>
          <p:cNvSpPr/>
          <p:nvPr/>
        </p:nvSpPr>
        <p:spPr>
          <a:xfrm>
            <a:off x="8315325" y="4048125"/>
            <a:ext cx="1736973" cy="228600"/>
          </a:xfrm>
          <a:prstGeom prst="rect">
            <a:avLst/>
          </a:prstGeom>
          <a:noFill/>
          <a:ln/>
        </p:spPr>
        <p:txBody>
          <a:bodyPr wrap="square" lIns="0" tIns="0" rIns="0" bIns="0" rtlCol="0" anchor="t">
            <a:normAutofit/>
          </a:bodyPr>
          <a:lstStyle/>
          <a:p>
            <a:pPr marL="0" indent="0" algn="l">
              <a:lnSpc>
                <a:spcPct val="120000"/>
              </a:lnSpc>
              <a:buNone/>
            </a:pPr>
            <a:r>
              <a:rPr lang="en-US" sz="1200" dirty="0">
                <a:solidFill>
                  <a:srgbClr val="0A0A0A"/>
                </a:solidFill>
                <a:latin typeface="Space Grotesk" pitchFamily="34" charset="0"/>
                <a:ea typeface="Space Grotesk" pitchFamily="34" charset="-122"/>
                <a:cs typeface="Space Grotesk" pitchFamily="34" charset="-120"/>
              </a:rPr>
              <a:t>WACC by comp bucket</a:t>
            </a:r>
            <a:endParaRPr lang="en-US" sz="1200" dirty="0"/>
          </a:p>
        </p:txBody>
      </p:sp>
      <p:sp>
        <p:nvSpPr>
          <p:cNvPr id="43" name="Text 41"/>
          <p:cNvSpPr/>
          <p:nvPr/>
        </p:nvSpPr>
        <p:spPr>
          <a:xfrm>
            <a:off x="8315325" y="4264298"/>
            <a:ext cx="2668524" cy="163785"/>
          </a:xfrm>
          <a:prstGeom prst="rect">
            <a:avLst/>
          </a:prstGeom>
          <a:noFill/>
          <a:ln/>
        </p:spPr>
        <p:txBody>
          <a:bodyPr wrap="square" lIns="25400" tIns="25400" rIns="25400" bIns="25400" rtlCol="0" anchor="t">
            <a:normAutofit fontScale="85000" lnSpcReduction="10000"/>
          </a:bodyPr>
          <a:lstStyle/>
          <a:p>
            <a:pPr marL="0" indent="0" algn="l">
              <a:lnSpc>
                <a:spcPct val="120000"/>
              </a:lnSpc>
              <a:buNone/>
            </a:pPr>
            <a:r>
              <a:rPr lang="en-US" sz="825" dirty="0">
                <a:solidFill>
                  <a:srgbClr val="7A776E"/>
                </a:solidFill>
                <a:latin typeface="Space Grotesk" pitchFamily="34" charset="0"/>
                <a:ea typeface="Space Grotesk" pitchFamily="34" charset="-122"/>
                <a:cs typeface="Space Grotesk" pitchFamily="34" charset="-120"/>
              </a:rPr>
              <a:t>Hardware → Subscription → Health Data</a:t>
            </a:r>
            <a:endParaRPr lang="en-US" sz="825" dirty="0"/>
          </a:p>
        </p:txBody>
      </p:sp>
      <p:sp>
        <p:nvSpPr>
          <p:cNvPr id="44" name="Shape 42"/>
          <p:cNvSpPr/>
          <p:nvPr/>
        </p:nvSpPr>
        <p:spPr>
          <a:xfrm>
            <a:off x="13620750" y="4107135"/>
            <a:ext cx="9525" cy="228600"/>
          </a:xfrm>
          <a:prstGeom prst="rect">
            <a:avLst/>
          </a:prstGeom>
          <a:solidFill>
            <a:srgbClr val="0A0A0A"/>
          </a:solidFill>
          <a:ln/>
        </p:spPr>
        <p:txBody>
          <a:bodyPr/>
          <a:lstStyle/>
          <a:p>
            <a:endParaRPr lang="en-US"/>
          </a:p>
        </p:txBody>
      </p:sp>
      <p:sp>
        <p:nvSpPr>
          <p:cNvPr id="45" name="Shape 43"/>
          <p:cNvSpPr/>
          <p:nvPr/>
        </p:nvSpPr>
        <p:spPr>
          <a:xfrm>
            <a:off x="11564466" y="4107135"/>
            <a:ext cx="2056209" cy="228600"/>
          </a:xfrm>
          <a:prstGeom prst="rect">
            <a:avLst/>
          </a:prstGeom>
          <a:solidFill>
            <a:srgbClr val="D14B2A"/>
          </a:solidFill>
          <a:ln/>
        </p:spPr>
        <p:txBody>
          <a:bodyPr/>
          <a:lstStyle/>
          <a:p>
            <a:endParaRPr lang="en-US"/>
          </a:p>
        </p:txBody>
      </p:sp>
      <p:sp>
        <p:nvSpPr>
          <p:cNvPr id="46" name="Shape 44"/>
          <p:cNvSpPr/>
          <p:nvPr/>
        </p:nvSpPr>
        <p:spPr>
          <a:xfrm>
            <a:off x="13620750" y="4107135"/>
            <a:ext cx="2056209" cy="228600"/>
          </a:xfrm>
          <a:prstGeom prst="rect">
            <a:avLst/>
          </a:prstGeom>
          <a:solidFill>
            <a:srgbClr val="1F7A3D"/>
          </a:solidFill>
          <a:ln/>
        </p:spPr>
        <p:txBody>
          <a:bodyPr/>
          <a:lstStyle/>
          <a:p>
            <a:endParaRPr lang="en-US"/>
          </a:p>
        </p:txBody>
      </p:sp>
      <p:sp>
        <p:nvSpPr>
          <p:cNvPr id="47" name="Text 45"/>
          <p:cNvSpPr/>
          <p:nvPr/>
        </p:nvSpPr>
        <p:spPr>
          <a:xfrm>
            <a:off x="16182975" y="4119042"/>
            <a:ext cx="838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3A3A3A"/>
                </a:solidFill>
                <a:latin typeface="JetBrains Mono" pitchFamily="34" charset="0"/>
                <a:ea typeface="JetBrains Mono" pitchFamily="34" charset="-122"/>
                <a:cs typeface="JetBrains Mono" pitchFamily="34" charset="-120"/>
              </a:rPr>
              <a:t>±2.8</a:t>
            </a:r>
            <a:endParaRPr lang="en-US" sz="1200" dirty="0"/>
          </a:p>
        </p:txBody>
      </p:sp>
      <p:sp>
        <p:nvSpPr>
          <p:cNvPr id="48" name="Text 46"/>
          <p:cNvSpPr/>
          <p:nvPr/>
        </p:nvSpPr>
        <p:spPr>
          <a:xfrm>
            <a:off x="8315325" y="4657725"/>
            <a:ext cx="1772096" cy="228600"/>
          </a:xfrm>
          <a:prstGeom prst="rect">
            <a:avLst/>
          </a:prstGeom>
          <a:noFill/>
          <a:ln/>
        </p:spPr>
        <p:txBody>
          <a:bodyPr wrap="square" lIns="0" tIns="0" rIns="0" bIns="0" rtlCol="0" anchor="t">
            <a:normAutofit/>
          </a:bodyPr>
          <a:lstStyle/>
          <a:p>
            <a:pPr marL="0" indent="0" algn="l">
              <a:lnSpc>
                <a:spcPct val="120000"/>
              </a:lnSpc>
              <a:buNone/>
            </a:pPr>
            <a:r>
              <a:rPr lang="en-US" sz="1200" dirty="0">
                <a:solidFill>
                  <a:srgbClr val="0A0A0A"/>
                </a:solidFill>
                <a:latin typeface="Space Grotesk" pitchFamily="34" charset="0"/>
                <a:ea typeface="Space Grotesk" pitchFamily="34" charset="-122"/>
                <a:cs typeface="Space Grotesk" pitchFamily="34" charset="-120"/>
              </a:rPr>
              <a:t>Terminal EBITDA margin</a:t>
            </a:r>
            <a:endParaRPr lang="en-US" sz="1200" dirty="0"/>
          </a:p>
        </p:txBody>
      </p:sp>
      <p:sp>
        <p:nvSpPr>
          <p:cNvPr id="49" name="Text 47"/>
          <p:cNvSpPr/>
          <p:nvPr/>
        </p:nvSpPr>
        <p:spPr>
          <a:xfrm>
            <a:off x="8315325" y="4873898"/>
            <a:ext cx="2668524" cy="163785"/>
          </a:xfrm>
          <a:prstGeom prst="rect">
            <a:avLst/>
          </a:prstGeom>
          <a:noFill/>
          <a:ln/>
        </p:spPr>
        <p:txBody>
          <a:bodyPr wrap="square" lIns="25400" tIns="25400" rIns="25400" bIns="25400" rtlCol="0" anchor="t">
            <a:normAutofit fontScale="85000" lnSpcReduction="10000"/>
          </a:bodyPr>
          <a:lstStyle/>
          <a:p>
            <a:pPr marL="0" indent="0" algn="l">
              <a:lnSpc>
                <a:spcPct val="120000"/>
              </a:lnSpc>
              <a:buNone/>
            </a:pPr>
            <a:r>
              <a:rPr lang="en-US" sz="825" dirty="0">
                <a:solidFill>
                  <a:srgbClr val="7A776E"/>
                </a:solidFill>
                <a:latin typeface="Space Grotesk" pitchFamily="34" charset="0"/>
                <a:ea typeface="Space Grotesk" pitchFamily="34" charset="-122"/>
                <a:cs typeface="Space Grotesk" pitchFamily="34" charset="-120"/>
              </a:rPr>
              <a:t>22% / 26% / 30%</a:t>
            </a:r>
            <a:endParaRPr lang="en-US" sz="825" dirty="0"/>
          </a:p>
        </p:txBody>
      </p:sp>
      <p:sp>
        <p:nvSpPr>
          <p:cNvPr id="50" name="Shape 48"/>
          <p:cNvSpPr/>
          <p:nvPr/>
        </p:nvSpPr>
        <p:spPr>
          <a:xfrm>
            <a:off x="13620750" y="4716735"/>
            <a:ext cx="9525" cy="228600"/>
          </a:xfrm>
          <a:prstGeom prst="rect">
            <a:avLst/>
          </a:prstGeom>
          <a:solidFill>
            <a:srgbClr val="0A0A0A"/>
          </a:solidFill>
          <a:ln/>
        </p:spPr>
        <p:txBody>
          <a:bodyPr/>
          <a:lstStyle/>
          <a:p>
            <a:endParaRPr lang="en-US"/>
          </a:p>
        </p:txBody>
      </p:sp>
      <p:sp>
        <p:nvSpPr>
          <p:cNvPr id="51" name="Shape 49"/>
          <p:cNvSpPr/>
          <p:nvPr/>
        </p:nvSpPr>
        <p:spPr>
          <a:xfrm>
            <a:off x="12249894" y="4716735"/>
            <a:ext cx="1370781" cy="228600"/>
          </a:xfrm>
          <a:prstGeom prst="rect">
            <a:avLst/>
          </a:prstGeom>
          <a:solidFill>
            <a:srgbClr val="FF5A1F"/>
          </a:solidFill>
          <a:ln/>
        </p:spPr>
        <p:txBody>
          <a:bodyPr/>
          <a:lstStyle/>
          <a:p>
            <a:endParaRPr lang="en-US"/>
          </a:p>
        </p:txBody>
      </p:sp>
      <p:sp>
        <p:nvSpPr>
          <p:cNvPr id="52" name="Shape 50"/>
          <p:cNvSpPr/>
          <p:nvPr/>
        </p:nvSpPr>
        <p:spPr>
          <a:xfrm>
            <a:off x="13620750" y="4716735"/>
            <a:ext cx="1468710" cy="228600"/>
          </a:xfrm>
          <a:prstGeom prst="rect">
            <a:avLst/>
          </a:prstGeom>
          <a:solidFill>
            <a:srgbClr val="000000"/>
          </a:solidFill>
          <a:ln/>
        </p:spPr>
        <p:txBody>
          <a:bodyPr/>
          <a:lstStyle/>
          <a:p>
            <a:endParaRPr lang="en-US"/>
          </a:p>
        </p:txBody>
      </p:sp>
      <p:sp>
        <p:nvSpPr>
          <p:cNvPr id="53" name="Text 51"/>
          <p:cNvSpPr/>
          <p:nvPr/>
        </p:nvSpPr>
        <p:spPr>
          <a:xfrm>
            <a:off x="16182975" y="4728642"/>
            <a:ext cx="838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3A3A3A"/>
                </a:solidFill>
                <a:latin typeface="JetBrains Mono" pitchFamily="34" charset="0"/>
                <a:ea typeface="JetBrains Mono" pitchFamily="34" charset="-122"/>
                <a:cs typeface="JetBrains Mono" pitchFamily="34" charset="-120"/>
              </a:rPr>
              <a:t>±2.0</a:t>
            </a:r>
            <a:endParaRPr lang="en-US" sz="1200" dirty="0"/>
          </a:p>
        </p:txBody>
      </p:sp>
      <p:sp>
        <p:nvSpPr>
          <p:cNvPr id="54" name="Text 52"/>
          <p:cNvSpPr/>
          <p:nvPr/>
        </p:nvSpPr>
        <p:spPr>
          <a:xfrm>
            <a:off x="8315325" y="5267325"/>
            <a:ext cx="1665238" cy="228600"/>
          </a:xfrm>
          <a:prstGeom prst="rect">
            <a:avLst/>
          </a:prstGeom>
          <a:noFill/>
          <a:ln/>
        </p:spPr>
        <p:txBody>
          <a:bodyPr wrap="square" lIns="0" tIns="0" rIns="0" bIns="0" rtlCol="0" anchor="t">
            <a:normAutofit/>
          </a:bodyPr>
          <a:lstStyle/>
          <a:p>
            <a:pPr marL="0" indent="0" algn="l">
              <a:lnSpc>
                <a:spcPct val="120000"/>
              </a:lnSpc>
              <a:buNone/>
            </a:pPr>
            <a:r>
              <a:rPr lang="en-US" sz="1200" dirty="0">
                <a:solidFill>
                  <a:srgbClr val="0A0A0A"/>
                </a:solidFill>
                <a:latin typeface="Space Grotesk" pitchFamily="34" charset="0"/>
                <a:ea typeface="Space Grotesk" pitchFamily="34" charset="-122"/>
                <a:cs typeface="Space Grotesk" pitchFamily="34" charset="-120"/>
              </a:rPr>
              <a:t>Subscriber growth Y3</a:t>
            </a:r>
            <a:endParaRPr lang="en-US" sz="1200" dirty="0"/>
          </a:p>
        </p:txBody>
      </p:sp>
      <p:sp>
        <p:nvSpPr>
          <p:cNvPr id="55" name="Text 53"/>
          <p:cNvSpPr/>
          <p:nvPr/>
        </p:nvSpPr>
        <p:spPr>
          <a:xfrm>
            <a:off x="8315325" y="5483498"/>
            <a:ext cx="2668524" cy="163785"/>
          </a:xfrm>
          <a:prstGeom prst="rect">
            <a:avLst/>
          </a:prstGeom>
          <a:noFill/>
          <a:ln/>
        </p:spPr>
        <p:txBody>
          <a:bodyPr wrap="square" lIns="25400" tIns="25400" rIns="25400" bIns="25400" rtlCol="0" anchor="t">
            <a:normAutofit fontScale="85000" lnSpcReduction="10000"/>
          </a:bodyPr>
          <a:lstStyle/>
          <a:p>
            <a:pPr marL="0" indent="0" algn="l">
              <a:lnSpc>
                <a:spcPct val="120000"/>
              </a:lnSpc>
              <a:buNone/>
            </a:pPr>
            <a:r>
              <a:rPr lang="en-US" sz="825" dirty="0">
                <a:solidFill>
                  <a:srgbClr val="7A776E"/>
                </a:solidFill>
                <a:latin typeface="Space Grotesk" pitchFamily="34" charset="0"/>
                <a:ea typeface="Space Grotesk" pitchFamily="34" charset="-122"/>
                <a:cs typeface="Space Grotesk" pitchFamily="34" charset="-120"/>
              </a:rPr>
              <a:t>+18% / +24% / +30%</a:t>
            </a:r>
            <a:endParaRPr lang="en-US" sz="825" dirty="0"/>
          </a:p>
        </p:txBody>
      </p:sp>
      <p:sp>
        <p:nvSpPr>
          <p:cNvPr id="56" name="Shape 54"/>
          <p:cNvSpPr/>
          <p:nvPr/>
        </p:nvSpPr>
        <p:spPr>
          <a:xfrm>
            <a:off x="13620750" y="5326335"/>
            <a:ext cx="9525" cy="228600"/>
          </a:xfrm>
          <a:prstGeom prst="rect">
            <a:avLst/>
          </a:prstGeom>
          <a:solidFill>
            <a:srgbClr val="0A0A0A"/>
          </a:solidFill>
          <a:ln/>
        </p:spPr>
        <p:txBody>
          <a:bodyPr/>
          <a:lstStyle/>
          <a:p>
            <a:endParaRPr lang="en-US"/>
          </a:p>
        </p:txBody>
      </p:sp>
      <p:sp>
        <p:nvSpPr>
          <p:cNvPr id="57" name="Shape 55"/>
          <p:cNvSpPr/>
          <p:nvPr/>
        </p:nvSpPr>
        <p:spPr>
          <a:xfrm>
            <a:off x="12494642" y="5326335"/>
            <a:ext cx="1126034" cy="228600"/>
          </a:xfrm>
          <a:prstGeom prst="rect">
            <a:avLst/>
          </a:prstGeom>
          <a:solidFill>
            <a:srgbClr val="FF5A1F"/>
          </a:solidFill>
          <a:ln/>
        </p:spPr>
        <p:txBody>
          <a:bodyPr/>
          <a:lstStyle/>
          <a:p>
            <a:endParaRPr lang="en-US"/>
          </a:p>
        </p:txBody>
      </p:sp>
      <p:sp>
        <p:nvSpPr>
          <p:cNvPr id="58" name="Shape 56"/>
          <p:cNvSpPr/>
          <p:nvPr/>
        </p:nvSpPr>
        <p:spPr>
          <a:xfrm>
            <a:off x="13620750" y="5326335"/>
            <a:ext cx="1223963" cy="228600"/>
          </a:xfrm>
          <a:prstGeom prst="rect">
            <a:avLst/>
          </a:prstGeom>
          <a:solidFill>
            <a:srgbClr val="000000"/>
          </a:solidFill>
          <a:ln/>
        </p:spPr>
        <p:txBody>
          <a:bodyPr/>
          <a:lstStyle/>
          <a:p>
            <a:endParaRPr lang="en-US"/>
          </a:p>
        </p:txBody>
      </p:sp>
      <p:sp>
        <p:nvSpPr>
          <p:cNvPr id="59" name="Text 57"/>
          <p:cNvSpPr/>
          <p:nvPr/>
        </p:nvSpPr>
        <p:spPr>
          <a:xfrm>
            <a:off x="16182975" y="5338242"/>
            <a:ext cx="838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3A3A3A"/>
                </a:solidFill>
                <a:latin typeface="JetBrains Mono" pitchFamily="34" charset="0"/>
                <a:ea typeface="JetBrains Mono" pitchFamily="34" charset="-122"/>
                <a:cs typeface="JetBrains Mono" pitchFamily="34" charset="-120"/>
              </a:rPr>
              <a:t>±1.6</a:t>
            </a:r>
            <a:endParaRPr lang="en-US" sz="1200" dirty="0"/>
          </a:p>
        </p:txBody>
      </p:sp>
      <p:sp>
        <p:nvSpPr>
          <p:cNvPr id="60" name="Text 58"/>
          <p:cNvSpPr/>
          <p:nvPr/>
        </p:nvSpPr>
        <p:spPr>
          <a:xfrm>
            <a:off x="8315325" y="5958780"/>
            <a:ext cx="2670810" cy="220935"/>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200" dirty="0">
                <a:solidFill>
                  <a:srgbClr val="0A0A0A"/>
                </a:solidFill>
                <a:latin typeface="Space Grotesk" pitchFamily="34" charset="0"/>
                <a:ea typeface="Space Grotesk" pitchFamily="34" charset="-122"/>
                <a:cs typeface="Space Grotesk" pitchFamily="34" charset="-120"/>
              </a:rPr>
              <a:t>Terminal churn</a:t>
            </a:r>
            <a:endParaRPr lang="en-US" sz="1200" dirty="0"/>
          </a:p>
        </p:txBody>
      </p:sp>
      <p:sp>
        <p:nvSpPr>
          <p:cNvPr id="61" name="Shape 59"/>
          <p:cNvSpPr/>
          <p:nvPr/>
        </p:nvSpPr>
        <p:spPr>
          <a:xfrm>
            <a:off x="13620750" y="5935935"/>
            <a:ext cx="9525" cy="228600"/>
          </a:xfrm>
          <a:prstGeom prst="rect">
            <a:avLst/>
          </a:prstGeom>
          <a:solidFill>
            <a:srgbClr val="0A0A0A"/>
          </a:solidFill>
          <a:ln/>
        </p:spPr>
        <p:txBody>
          <a:bodyPr/>
          <a:lstStyle/>
          <a:p>
            <a:endParaRPr lang="en-US"/>
          </a:p>
        </p:txBody>
      </p:sp>
      <p:sp>
        <p:nvSpPr>
          <p:cNvPr id="62" name="Shape 60"/>
          <p:cNvSpPr/>
          <p:nvPr/>
        </p:nvSpPr>
        <p:spPr>
          <a:xfrm>
            <a:off x="12788429" y="5935935"/>
            <a:ext cx="832247" cy="228600"/>
          </a:xfrm>
          <a:prstGeom prst="rect">
            <a:avLst/>
          </a:prstGeom>
          <a:solidFill>
            <a:srgbClr val="FF5A1F"/>
          </a:solidFill>
          <a:ln/>
        </p:spPr>
        <p:txBody>
          <a:bodyPr/>
          <a:lstStyle/>
          <a:p>
            <a:endParaRPr lang="en-US"/>
          </a:p>
        </p:txBody>
      </p:sp>
      <p:sp>
        <p:nvSpPr>
          <p:cNvPr id="63" name="Shape 61"/>
          <p:cNvSpPr/>
          <p:nvPr/>
        </p:nvSpPr>
        <p:spPr>
          <a:xfrm>
            <a:off x="13620750" y="5935935"/>
            <a:ext cx="881211" cy="228600"/>
          </a:xfrm>
          <a:prstGeom prst="rect">
            <a:avLst/>
          </a:prstGeom>
          <a:solidFill>
            <a:srgbClr val="000000"/>
          </a:solidFill>
          <a:ln/>
        </p:spPr>
        <p:txBody>
          <a:bodyPr/>
          <a:lstStyle/>
          <a:p>
            <a:endParaRPr lang="en-US"/>
          </a:p>
        </p:txBody>
      </p:sp>
      <p:sp>
        <p:nvSpPr>
          <p:cNvPr id="64" name="Text 62"/>
          <p:cNvSpPr/>
          <p:nvPr/>
        </p:nvSpPr>
        <p:spPr>
          <a:xfrm>
            <a:off x="16182975" y="5947842"/>
            <a:ext cx="838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3A3A3A"/>
                </a:solidFill>
                <a:latin typeface="JetBrains Mono" pitchFamily="34" charset="0"/>
                <a:ea typeface="JetBrains Mono" pitchFamily="34" charset="-122"/>
                <a:cs typeface="JetBrains Mono" pitchFamily="34" charset="-120"/>
              </a:rPr>
              <a:t>±1.1</a:t>
            </a:r>
            <a:endParaRPr lang="en-US" sz="1200" dirty="0"/>
          </a:p>
        </p:txBody>
      </p:sp>
      <p:sp>
        <p:nvSpPr>
          <p:cNvPr id="65" name="Text 63"/>
          <p:cNvSpPr/>
          <p:nvPr/>
        </p:nvSpPr>
        <p:spPr>
          <a:xfrm>
            <a:off x="8315325" y="6486525"/>
            <a:ext cx="1504950" cy="228600"/>
          </a:xfrm>
          <a:prstGeom prst="rect">
            <a:avLst/>
          </a:prstGeom>
          <a:noFill/>
          <a:ln/>
        </p:spPr>
        <p:txBody>
          <a:bodyPr wrap="square" lIns="0" tIns="0" rIns="0" bIns="0" rtlCol="0" anchor="t">
            <a:normAutofit/>
          </a:bodyPr>
          <a:lstStyle/>
          <a:p>
            <a:pPr marL="0" indent="0" algn="l">
              <a:lnSpc>
                <a:spcPct val="120000"/>
              </a:lnSpc>
              <a:buNone/>
            </a:pPr>
            <a:r>
              <a:rPr lang="en-US" sz="1200" dirty="0">
                <a:solidFill>
                  <a:srgbClr val="0A0A0A"/>
                </a:solidFill>
                <a:latin typeface="Space Grotesk" pitchFamily="34" charset="0"/>
                <a:ea typeface="Space Grotesk" pitchFamily="34" charset="-122"/>
                <a:cs typeface="Space Grotesk" pitchFamily="34" charset="-120"/>
              </a:rPr>
              <a:t>Terminal growth (g)</a:t>
            </a:r>
            <a:endParaRPr lang="en-US" sz="1200" dirty="0"/>
          </a:p>
        </p:txBody>
      </p:sp>
      <p:sp>
        <p:nvSpPr>
          <p:cNvPr id="66" name="Text 64"/>
          <p:cNvSpPr/>
          <p:nvPr/>
        </p:nvSpPr>
        <p:spPr>
          <a:xfrm>
            <a:off x="8315325" y="6702698"/>
            <a:ext cx="2668524" cy="163785"/>
          </a:xfrm>
          <a:prstGeom prst="rect">
            <a:avLst/>
          </a:prstGeom>
          <a:noFill/>
          <a:ln/>
        </p:spPr>
        <p:txBody>
          <a:bodyPr wrap="square" lIns="25400" tIns="25400" rIns="25400" bIns="25400" rtlCol="0" anchor="t">
            <a:normAutofit fontScale="85000" lnSpcReduction="10000"/>
          </a:bodyPr>
          <a:lstStyle/>
          <a:p>
            <a:pPr marL="0" indent="0" algn="l">
              <a:lnSpc>
                <a:spcPct val="120000"/>
              </a:lnSpc>
              <a:buNone/>
            </a:pPr>
            <a:r>
              <a:rPr lang="en-US" sz="825" dirty="0">
                <a:solidFill>
                  <a:srgbClr val="7A776E"/>
                </a:solidFill>
                <a:latin typeface="Space Grotesk" pitchFamily="34" charset="0"/>
                <a:ea typeface="Space Grotesk" pitchFamily="34" charset="-122"/>
                <a:cs typeface="Space Grotesk" pitchFamily="34" charset="-120"/>
              </a:rPr>
              <a:t>2% / 3% / 4%</a:t>
            </a:r>
            <a:endParaRPr lang="en-US" sz="825" dirty="0"/>
          </a:p>
        </p:txBody>
      </p:sp>
      <p:sp>
        <p:nvSpPr>
          <p:cNvPr id="67" name="Shape 65"/>
          <p:cNvSpPr/>
          <p:nvPr/>
        </p:nvSpPr>
        <p:spPr>
          <a:xfrm>
            <a:off x="13620750" y="6545535"/>
            <a:ext cx="9525" cy="228600"/>
          </a:xfrm>
          <a:prstGeom prst="rect">
            <a:avLst/>
          </a:prstGeom>
          <a:solidFill>
            <a:srgbClr val="0A0A0A"/>
          </a:solidFill>
          <a:ln/>
        </p:spPr>
        <p:txBody>
          <a:bodyPr/>
          <a:lstStyle/>
          <a:p>
            <a:endParaRPr lang="en-US"/>
          </a:p>
        </p:txBody>
      </p:sp>
      <p:sp>
        <p:nvSpPr>
          <p:cNvPr id="68" name="Shape 66"/>
          <p:cNvSpPr/>
          <p:nvPr/>
        </p:nvSpPr>
        <p:spPr>
          <a:xfrm>
            <a:off x="13082141" y="6545535"/>
            <a:ext cx="538535" cy="228600"/>
          </a:xfrm>
          <a:prstGeom prst="rect">
            <a:avLst/>
          </a:prstGeom>
          <a:solidFill>
            <a:srgbClr val="FF5A1F"/>
          </a:solidFill>
          <a:ln/>
        </p:spPr>
        <p:txBody>
          <a:bodyPr/>
          <a:lstStyle/>
          <a:p>
            <a:endParaRPr lang="en-US"/>
          </a:p>
        </p:txBody>
      </p:sp>
      <p:sp>
        <p:nvSpPr>
          <p:cNvPr id="69" name="Shape 67"/>
          <p:cNvSpPr/>
          <p:nvPr/>
        </p:nvSpPr>
        <p:spPr>
          <a:xfrm>
            <a:off x="13620750" y="6545535"/>
            <a:ext cx="587499" cy="228600"/>
          </a:xfrm>
          <a:prstGeom prst="rect">
            <a:avLst/>
          </a:prstGeom>
          <a:solidFill>
            <a:srgbClr val="000000"/>
          </a:solidFill>
          <a:ln/>
        </p:spPr>
        <p:txBody>
          <a:bodyPr/>
          <a:lstStyle/>
          <a:p>
            <a:endParaRPr lang="en-US"/>
          </a:p>
        </p:txBody>
      </p:sp>
      <p:sp>
        <p:nvSpPr>
          <p:cNvPr id="70" name="Text 68"/>
          <p:cNvSpPr/>
          <p:nvPr/>
        </p:nvSpPr>
        <p:spPr>
          <a:xfrm>
            <a:off x="16182975" y="6557442"/>
            <a:ext cx="838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3A3A3A"/>
                </a:solidFill>
                <a:latin typeface="JetBrains Mono" pitchFamily="34" charset="0"/>
                <a:ea typeface="JetBrains Mono" pitchFamily="34" charset="-122"/>
                <a:cs typeface="JetBrains Mono" pitchFamily="34" charset="-120"/>
              </a:rPr>
              <a:t>±0.7</a:t>
            </a:r>
            <a:endParaRPr lang="en-US" sz="1200" dirty="0"/>
          </a:p>
        </p:txBody>
      </p:sp>
      <p:sp>
        <p:nvSpPr>
          <p:cNvPr id="71" name="Shape 69"/>
          <p:cNvSpPr/>
          <p:nvPr/>
        </p:nvSpPr>
        <p:spPr>
          <a:xfrm>
            <a:off x="8315325" y="7021785"/>
            <a:ext cx="8705850" cy="9525"/>
          </a:xfrm>
          <a:prstGeom prst="rect">
            <a:avLst/>
          </a:prstGeom>
          <a:solidFill>
            <a:srgbClr val="E2DFD8"/>
          </a:solidFill>
          <a:ln/>
        </p:spPr>
        <p:txBody>
          <a:bodyPr/>
          <a:lstStyle/>
          <a:p>
            <a:endParaRPr lang="en-US"/>
          </a:p>
        </p:txBody>
      </p:sp>
      <p:sp>
        <p:nvSpPr>
          <p:cNvPr id="72" name="Text 70"/>
          <p:cNvSpPr/>
          <p:nvPr/>
        </p:nvSpPr>
        <p:spPr>
          <a:xfrm>
            <a:off x="8315325" y="7126560"/>
            <a:ext cx="35056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Bear</a:t>
            </a:r>
            <a:endParaRPr lang="en-US" sz="900" dirty="0"/>
          </a:p>
        </p:txBody>
      </p:sp>
      <p:sp>
        <p:nvSpPr>
          <p:cNvPr id="73" name="Text 71"/>
          <p:cNvSpPr/>
          <p:nvPr/>
        </p:nvSpPr>
        <p:spPr>
          <a:xfrm>
            <a:off x="12325350" y="7126560"/>
            <a:ext cx="762000"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Base $8.4B</a:t>
            </a:r>
            <a:endParaRPr lang="en-US" sz="900" dirty="0"/>
          </a:p>
        </p:txBody>
      </p:sp>
      <p:sp>
        <p:nvSpPr>
          <p:cNvPr id="74" name="Text 72"/>
          <p:cNvSpPr/>
          <p:nvPr/>
        </p:nvSpPr>
        <p:spPr>
          <a:xfrm>
            <a:off x="16746810" y="7126560"/>
            <a:ext cx="35056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JetBrains Mono" pitchFamily="34" charset="0"/>
                <a:ea typeface="JetBrains Mono" pitchFamily="34" charset="-122"/>
                <a:cs typeface="JetBrains Mono" pitchFamily="34" charset="-120"/>
              </a:rPr>
              <a:t>Bull</a:t>
            </a:r>
            <a:endParaRPr lang="en-US" sz="900" dirty="0"/>
          </a:p>
        </p:txBody>
      </p:sp>
      <p:sp>
        <p:nvSpPr>
          <p:cNvPr id="75" name="Text 73"/>
          <p:cNvSpPr/>
          <p:nvPr/>
        </p:nvSpPr>
        <p:spPr>
          <a:xfrm>
            <a:off x="952500" y="9767888"/>
            <a:ext cx="8232829"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CASH-FLOW ESTIMATION ERROR DOMINATES DISCOUNT-RATE PRECISION </a:t>
            </a:r>
            <a:r>
              <a:rPr lang="en-US" sz="1050" kern="0" spc="147" dirty="0">
                <a:solidFill>
                  <a:srgbClr val="FF5A1F"/>
                </a:solidFill>
                <a:latin typeface="JetBrains Mono" pitchFamily="34" charset="0"/>
                <a:ea typeface="JetBrains Mono" pitchFamily="34" charset="-122"/>
                <a:cs typeface="JetBrains Mono" pitchFamily="34" charset="-120"/>
              </a:rPr>
              <a:t>(LECTURE 1B FRAMING)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4245158"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06 / 12</a:t>
            </a:r>
            <a:endParaRPr lang="en-US" sz="1050" dirty="0"/>
          </a:p>
        </p:txBody>
      </p:sp>
      <p:sp>
        <p:nvSpPr>
          <p:cNvPr id="4" name="Text 2"/>
          <p:cNvSpPr/>
          <p:nvPr/>
        </p:nvSpPr>
        <p:spPr>
          <a:xfrm>
            <a:off x="15164544" y="342900"/>
            <a:ext cx="224715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REAL OPTIONS · ARUNDEL</a:t>
            </a:r>
            <a:endParaRPr lang="en-US" sz="1050" dirty="0"/>
          </a:p>
        </p:txBody>
      </p:sp>
      <p:sp>
        <p:nvSpPr>
          <p:cNvPr id="5" name="Text 3"/>
          <p:cNvSpPr/>
          <p:nvPr/>
        </p:nvSpPr>
        <p:spPr>
          <a:xfrm>
            <a:off x="952500" y="1047750"/>
            <a:ext cx="16874490"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FF5A1F"/>
                </a:solidFill>
                <a:latin typeface="JetBrains Mono" pitchFamily="34" charset="0"/>
                <a:ea typeface="JetBrains Mono" pitchFamily="34" charset="-122"/>
                <a:cs typeface="JetBrains Mono" pitchFamily="34" charset="-120"/>
              </a:rPr>
              <a:t>SLIDE 06 · REAL OPTIONS</a:t>
            </a:r>
            <a:endParaRPr lang="en-US" sz="1350" dirty="0"/>
          </a:p>
        </p:txBody>
      </p:sp>
      <p:sp>
        <p:nvSpPr>
          <p:cNvPr id="6" name="Text 4"/>
          <p:cNvSpPr/>
          <p:nvPr/>
        </p:nvSpPr>
        <p:spPr>
          <a:xfrm>
            <a:off x="952500" y="1409700"/>
            <a:ext cx="16874490" cy="63244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b="1" kern="0" spc="-81" dirty="0">
                <a:solidFill>
                  <a:srgbClr val="0A0A0A"/>
                </a:solidFill>
                <a:latin typeface="Space Grotesk" pitchFamily="34" charset="0"/>
                <a:ea typeface="Space Grotesk" pitchFamily="34" charset="-122"/>
                <a:cs typeface="Space Grotesk" pitchFamily="34" charset="-120"/>
              </a:rPr>
              <a:t>DCF prices the business. It doesn't price the optionality.</a:t>
            </a:r>
            <a:endParaRPr lang="en-US" sz="4500" dirty="0"/>
          </a:p>
        </p:txBody>
      </p:sp>
      <p:sp>
        <p:nvSpPr>
          <p:cNvPr id="7" name="Text 5"/>
          <p:cNvSpPr/>
          <p:nvPr/>
        </p:nvSpPr>
        <p:spPr>
          <a:xfrm>
            <a:off x="952500" y="2137395"/>
            <a:ext cx="14716125" cy="7314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10" dirty="0">
                <a:solidFill>
                  <a:srgbClr val="3A3A3A"/>
                </a:solidFill>
                <a:latin typeface="Space Grotesk" pitchFamily="34" charset="0"/>
                <a:ea typeface="Space Grotesk" pitchFamily="34" charset="-122"/>
                <a:cs typeface="Space Grotesk" pitchFamily="34" charset="-120"/>
              </a:rPr>
              <a:t>WHOOP holds three real options that are </a:t>
            </a:r>
            <a:r>
              <a:rPr lang="en-US" sz="1950" kern="0" spc="-10" dirty="0">
                <a:solidFill>
                  <a:srgbClr val="FF5A1F"/>
                </a:solidFill>
                <a:latin typeface="Space Grotesk" pitchFamily="34" charset="0"/>
                <a:ea typeface="Space Grotesk" pitchFamily="34" charset="-122"/>
                <a:cs typeface="Space Grotesk" pitchFamily="34" charset="-120"/>
              </a:rPr>
              <a:t>zero in the base DCF </a:t>
            </a:r>
            <a:r>
              <a:rPr lang="en-US" sz="1950" kern="0" spc="-10" dirty="0">
                <a:solidFill>
                  <a:srgbClr val="3A3A3A"/>
                </a:solidFill>
                <a:latin typeface="Space Grotesk" pitchFamily="34" charset="0"/>
                <a:ea typeface="Space Grotesk" pitchFamily="34" charset="-122"/>
                <a:cs typeface="Space Grotesk" pitchFamily="34" charset="-120"/>
              </a:rPr>
              <a:t>but materially valuable on a Black–Scholes frame — Arundel-style sequel rights on uncertain future cash flows.</a:t>
            </a:r>
            <a:endParaRPr lang="en-US" sz="1950" dirty="0"/>
          </a:p>
        </p:txBody>
      </p:sp>
      <p:sp>
        <p:nvSpPr>
          <p:cNvPr id="8" name="Shape 6"/>
          <p:cNvSpPr/>
          <p:nvPr/>
        </p:nvSpPr>
        <p:spPr>
          <a:xfrm>
            <a:off x="952500" y="3135585"/>
            <a:ext cx="8422035" cy="833438"/>
          </a:xfrm>
          <a:prstGeom prst="rect">
            <a:avLst/>
          </a:prstGeom>
          <a:ln w="9525">
            <a:solidFill>
              <a:srgbClr val="E2DFD8"/>
            </a:solidFill>
            <a:prstDash val="solid"/>
          </a:ln>
        </p:spPr>
        <p:txBody>
          <a:bodyPr/>
          <a:lstStyle/>
          <a:p>
            <a:endParaRPr lang="en-US"/>
          </a:p>
        </p:txBody>
      </p:sp>
      <p:sp>
        <p:nvSpPr>
          <p:cNvPr id="9" name="Shape 7"/>
          <p:cNvSpPr/>
          <p:nvPr/>
        </p:nvSpPr>
        <p:spPr>
          <a:xfrm>
            <a:off x="962025" y="3145110"/>
            <a:ext cx="38100" cy="814388"/>
          </a:xfrm>
          <a:prstGeom prst="rect">
            <a:avLst/>
          </a:prstGeom>
          <a:solidFill>
            <a:srgbClr val="FF5A1F"/>
          </a:solidFill>
          <a:ln/>
        </p:spPr>
        <p:txBody>
          <a:bodyPr/>
          <a:lstStyle/>
          <a:p>
            <a:endParaRPr lang="en-US"/>
          </a:p>
        </p:txBody>
      </p:sp>
      <p:sp>
        <p:nvSpPr>
          <p:cNvPr id="10" name="Text 8"/>
          <p:cNvSpPr/>
          <p:nvPr/>
        </p:nvSpPr>
        <p:spPr>
          <a:xfrm>
            <a:off x="1247775" y="3414192"/>
            <a:ext cx="53340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FF5A1F"/>
                </a:solidFill>
                <a:latin typeface="JetBrains Mono" pitchFamily="34" charset="0"/>
                <a:ea typeface="JetBrains Mono" pitchFamily="34" charset="-122"/>
                <a:cs typeface="JetBrains Mono" pitchFamily="34" charset="-120"/>
              </a:rPr>
              <a:t>01</a:t>
            </a:r>
            <a:endParaRPr lang="en-US" sz="1650" dirty="0"/>
          </a:p>
        </p:txBody>
      </p:sp>
      <p:sp>
        <p:nvSpPr>
          <p:cNvPr id="11" name="Text 9"/>
          <p:cNvSpPr/>
          <p:nvPr/>
        </p:nvSpPr>
        <p:spPr>
          <a:xfrm>
            <a:off x="1876425" y="3316560"/>
            <a:ext cx="2656414" cy="304800"/>
          </a:xfrm>
          <a:prstGeom prst="rect">
            <a:avLst/>
          </a:prstGeom>
          <a:noFill/>
          <a:ln/>
        </p:spPr>
        <p:txBody>
          <a:bodyPr wrap="square" lIns="0" tIns="0" rIns="0" bIns="0" rtlCol="0" anchor="t">
            <a:normAutofit/>
          </a:bodyPr>
          <a:lstStyle/>
          <a:p>
            <a:pPr marL="0" indent="0" algn="l">
              <a:buNone/>
            </a:pPr>
            <a:r>
              <a:rPr lang="en-US" sz="1650" b="1" kern="0" spc="-8" dirty="0">
                <a:solidFill>
                  <a:srgbClr val="0A0A0A"/>
                </a:solidFill>
                <a:latin typeface="Space Grotesk" pitchFamily="34" charset="0"/>
                <a:ea typeface="Space Grotesk" pitchFamily="34" charset="-122"/>
                <a:cs typeface="Space Grotesk" pitchFamily="34" charset="-120"/>
              </a:rPr>
              <a:t>Health-data monetization</a:t>
            </a:r>
            <a:endParaRPr lang="en-US" sz="1650" dirty="0"/>
          </a:p>
        </p:txBody>
      </p:sp>
      <p:sp>
        <p:nvSpPr>
          <p:cNvPr id="12" name="Text 10"/>
          <p:cNvSpPr/>
          <p:nvPr/>
        </p:nvSpPr>
        <p:spPr>
          <a:xfrm>
            <a:off x="1876425" y="3602310"/>
            <a:ext cx="6685030" cy="223838"/>
          </a:xfrm>
          <a:prstGeom prst="rect">
            <a:avLst/>
          </a:prstGeom>
          <a:noFill/>
          <a:ln/>
        </p:spPr>
        <p:txBody>
          <a:bodyPr wrap="square" lIns="25400" tIns="25400" rIns="25400" bIns="25400" rtlCol="0" anchor="t">
            <a:normAutofit/>
          </a:bodyPr>
          <a:lstStyle/>
          <a:p>
            <a:pPr marL="0" indent="0" algn="l">
              <a:buNone/>
            </a:pPr>
            <a:r>
              <a:rPr lang="en-US" sz="1125" kern="0" spc="-8" dirty="0">
                <a:solidFill>
                  <a:srgbClr val="7A776E"/>
                </a:solidFill>
                <a:latin typeface="Space Grotesk" pitchFamily="34" charset="0"/>
                <a:ea typeface="Space Grotesk" pitchFamily="34" charset="-122"/>
                <a:cs typeface="Space Grotesk" pitchFamily="34" charset="-120"/>
              </a:rPr>
              <a:t>Insurer / employer data licensing &amp; reimbursement pathway</a:t>
            </a:r>
            <a:endParaRPr lang="en-US" sz="1125" dirty="0"/>
          </a:p>
        </p:txBody>
      </p:sp>
      <p:sp>
        <p:nvSpPr>
          <p:cNvPr id="13" name="Text 11"/>
          <p:cNvSpPr/>
          <p:nvPr/>
        </p:nvSpPr>
        <p:spPr>
          <a:xfrm>
            <a:off x="8538195" y="3438004"/>
            <a:ext cx="693465"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+$1.6B</a:t>
            </a:r>
            <a:endParaRPr lang="en-US" sz="1350" dirty="0"/>
          </a:p>
        </p:txBody>
      </p:sp>
      <p:sp>
        <p:nvSpPr>
          <p:cNvPr id="14" name="Shape 12"/>
          <p:cNvSpPr/>
          <p:nvPr/>
        </p:nvSpPr>
        <p:spPr>
          <a:xfrm>
            <a:off x="952500" y="4102373"/>
            <a:ext cx="8422035" cy="833438"/>
          </a:xfrm>
          <a:prstGeom prst="rect">
            <a:avLst/>
          </a:prstGeom>
          <a:ln w="9525">
            <a:solidFill>
              <a:srgbClr val="E2DFD8"/>
            </a:solidFill>
            <a:prstDash val="solid"/>
          </a:ln>
        </p:spPr>
        <p:txBody>
          <a:bodyPr/>
          <a:lstStyle/>
          <a:p>
            <a:endParaRPr lang="en-US"/>
          </a:p>
        </p:txBody>
      </p:sp>
      <p:sp>
        <p:nvSpPr>
          <p:cNvPr id="15" name="Shape 13"/>
          <p:cNvSpPr/>
          <p:nvPr/>
        </p:nvSpPr>
        <p:spPr>
          <a:xfrm>
            <a:off x="962025" y="4111898"/>
            <a:ext cx="38100" cy="814388"/>
          </a:xfrm>
          <a:prstGeom prst="rect">
            <a:avLst/>
          </a:prstGeom>
          <a:solidFill>
            <a:srgbClr val="FF5A1F"/>
          </a:solidFill>
          <a:ln/>
        </p:spPr>
        <p:txBody>
          <a:bodyPr/>
          <a:lstStyle/>
          <a:p>
            <a:endParaRPr lang="en-US"/>
          </a:p>
        </p:txBody>
      </p:sp>
      <p:sp>
        <p:nvSpPr>
          <p:cNvPr id="16" name="Text 14"/>
          <p:cNvSpPr/>
          <p:nvPr/>
        </p:nvSpPr>
        <p:spPr>
          <a:xfrm>
            <a:off x="1247775" y="4380979"/>
            <a:ext cx="53340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FF5A1F"/>
                </a:solidFill>
                <a:latin typeface="JetBrains Mono" pitchFamily="34" charset="0"/>
                <a:ea typeface="JetBrains Mono" pitchFamily="34" charset="-122"/>
                <a:cs typeface="JetBrains Mono" pitchFamily="34" charset="-120"/>
              </a:rPr>
              <a:t>02</a:t>
            </a:r>
            <a:endParaRPr lang="en-US" sz="1650" dirty="0"/>
          </a:p>
        </p:txBody>
      </p:sp>
      <p:sp>
        <p:nvSpPr>
          <p:cNvPr id="17" name="Text 15"/>
          <p:cNvSpPr/>
          <p:nvPr/>
        </p:nvSpPr>
        <p:spPr>
          <a:xfrm>
            <a:off x="1876425" y="4283348"/>
            <a:ext cx="2180704" cy="304800"/>
          </a:xfrm>
          <a:prstGeom prst="rect">
            <a:avLst/>
          </a:prstGeom>
          <a:noFill/>
          <a:ln/>
        </p:spPr>
        <p:txBody>
          <a:bodyPr wrap="square" lIns="0" tIns="0" rIns="0" bIns="0" rtlCol="0" anchor="t">
            <a:normAutofit/>
          </a:bodyPr>
          <a:lstStyle/>
          <a:p>
            <a:pPr marL="0" indent="0" algn="l">
              <a:buNone/>
            </a:pPr>
            <a:r>
              <a:rPr lang="en-US" sz="1650" b="1" kern="0" spc="-8" dirty="0">
                <a:solidFill>
                  <a:srgbClr val="0A0A0A"/>
                </a:solidFill>
                <a:latin typeface="Space Grotesk" pitchFamily="34" charset="0"/>
                <a:ea typeface="Space Grotesk" pitchFamily="34" charset="-122"/>
                <a:cs typeface="Space Grotesk" pitchFamily="34" charset="-120"/>
              </a:rPr>
              <a:t>Medical-device pivot</a:t>
            </a:r>
            <a:endParaRPr lang="en-US" sz="1650" dirty="0"/>
          </a:p>
        </p:txBody>
      </p:sp>
      <p:sp>
        <p:nvSpPr>
          <p:cNvPr id="18" name="Text 16"/>
          <p:cNvSpPr/>
          <p:nvPr/>
        </p:nvSpPr>
        <p:spPr>
          <a:xfrm>
            <a:off x="1876425" y="4569098"/>
            <a:ext cx="6685030" cy="223838"/>
          </a:xfrm>
          <a:prstGeom prst="rect">
            <a:avLst/>
          </a:prstGeom>
          <a:noFill/>
          <a:ln/>
        </p:spPr>
        <p:txBody>
          <a:bodyPr wrap="square" lIns="25400" tIns="25400" rIns="25400" bIns="25400" rtlCol="0" anchor="t">
            <a:normAutofit/>
          </a:bodyPr>
          <a:lstStyle/>
          <a:p>
            <a:pPr marL="0" indent="0" algn="l">
              <a:buNone/>
            </a:pPr>
            <a:r>
              <a:rPr lang="en-US" sz="1125" kern="0" spc="-8" dirty="0">
                <a:solidFill>
                  <a:srgbClr val="7A776E"/>
                </a:solidFill>
                <a:latin typeface="Space Grotesk" pitchFamily="34" charset="0"/>
                <a:ea typeface="Space Grotesk" pitchFamily="34" charset="-122"/>
                <a:cs typeface="Space Grotesk" pitchFamily="34" charset="-120"/>
              </a:rPr>
              <a:t>FDA clearance pathway · BP, AFib, sleep-apnea modules</a:t>
            </a:r>
            <a:endParaRPr lang="en-US" sz="1125" dirty="0"/>
          </a:p>
        </p:txBody>
      </p:sp>
      <p:sp>
        <p:nvSpPr>
          <p:cNvPr id="19" name="Text 17"/>
          <p:cNvSpPr/>
          <p:nvPr/>
        </p:nvSpPr>
        <p:spPr>
          <a:xfrm>
            <a:off x="8538195" y="4404792"/>
            <a:ext cx="693465"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+$0.9B</a:t>
            </a:r>
            <a:endParaRPr lang="en-US" sz="1350" dirty="0"/>
          </a:p>
        </p:txBody>
      </p:sp>
      <p:sp>
        <p:nvSpPr>
          <p:cNvPr id="20" name="Shape 18"/>
          <p:cNvSpPr/>
          <p:nvPr/>
        </p:nvSpPr>
        <p:spPr>
          <a:xfrm>
            <a:off x="952500" y="5069160"/>
            <a:ext cx="8422035" cy="833438"/>
          </a:xfrm>
          <a:prstGeom prst="rect">
            <a:avLst/>
          </a:prstGeom>
          <a:ln w="9525">
            <a:solidFill>
              <a:srgbClr val="E2DFD8"/>
            </a:solidFill>
            <a:prstDash val="solid"/>
          </a:ln>
        </p:spPr>
        <p:txBody>
          <a:bodyPr/>
          <a:lstStyle/>
          <a:p>
            <a:endParaRPr lang="en-US"/>
          </a:p>
        </p:txBody>
      </p:sp>
      <p:sp>
        <p:nvSpPr>
          <p:cNvPr id="21" name="Shape 19"/>
          <p:cNvSpPr/>
          <p:nvPr/>
        </p:nvSpPr>
        <p:spPr>
          <a:xfrm>
            <a:off x="962025" y="5078685"/>
            <a:ext cx="38100" cy="814388"/>
          </a:xfrm>
          <a:prstGeom prst="rect">
            <a:avLst/>
          </a:prstGeom>
          <a:solidFill>
            <a:srgbClr val="FF5A1F"/>
          </a:solidFill>
          <a:ln/>
        </p:spPr>
        <p:txBody>
          <a:bodyPr/>
          <a:lstStyle/>
          <a:p>
            <a:endParaRPr lang="en-US"/>
          </a:p>
        </p:txBody>
      </p:sp>
      <p:sp>
        <p:nvSpPr>
          <p:cNvPr id="22" name="Text 20"/>
          <p:cNvSpPr/>
          <p:nvPr/>
        </p:nvSpPr>
        <p:spPr>
          <a:xfrm>
            <a:off x="1247775" y="5347767"/>
            <a:ext cx="53340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FF5A1F"/>
                </a:solidFill>
                <a:latin typeface="JetBrains Mono" pitchFamily="34" charset="0"/>
                <a:ea typeface="JetBrains Mono" pitchFamily="34" charset="-122"/>
                <a:cs typeface="JetBrains Mono" pitchFamily="34" charset="-120"/>
              </a:rPr>
              <a:t>03</a:t>
            </a:r>
            <a:endParaRPr lang="en-US" sz="1650" dirty="0"/>
          </a:p>
        </p:txBody>
      </p:sp>
      <p:sp>
        <p:nvSpPr>
          <p:cNvPr id="23" name="Text 21"/>
          <p:cNvSpPr/>
          <p:nvPr/>
        </p:nvSpPr>
        <p:spPr>
          <a:xfrm>
            <a:off x="1876425" y="5250135"/>
            <a:ext cx="2604343" cy="304800"/>
          </a:xfrm>
          <a:prstGeom prst="rect">
            <a:avLst/>
          </a:prstGeom>
          <a:noFill/>
          <a:ln/>
        </p:spPr>
        <p:txBody>
          <a:bodyPr wrap="square" lIns="0" tIns="0" rIns="0" bIns="0" rtlCol="0" anchor="t">
            <a:normAutofit/>
          </a:bodyPr>
          <a:lstStyle/>
          <a:p>
            <a:pPr marL="0" indent="0" algn="l">
              <a:buNone/>
            </a:pPr>
            <a:r>
              <a:rPr lang="en-US" sz="1650" b="1" kern="0" spc="-8" dirty="0">
                <a:solidFill>
                  <a:srgbClr val="0A0A0A"/>
                </a:solidFill>
                <a:latin typeface="Space Grotesk" pitchFamily="34" charset="0"/>
                <a:ea typeface="Space Grotesk" pitchFamily="34" charset="-122"/>
                <a:cs typeface="Space Grotesk" pitchFamily="34" charset="-120"/>
              </a:rPr>
              <a:t>Enterprise / B2B platform</a:t>
            </a:r>
            <a:endParaRPr lang="en-US" sz="1650" dirty="0"/>
          </a:p>
        </p:txBody>
      </p:sp>
      <p:sp>
        <p:nvSpPr>
          <p:cNvPr id="24" name="Text 22"/>
          <p:cNvSpPr/>
          <p:nvPr/>
        </p:nvSpPr>
        <p:spPr>
          <a:xfrm>
            <a:off x="1876425" y="5535885"/>
            <a:ext cx="6685030" cy="223838"/>
          </a:xfrm>
          <a:prstGeom prst="rect">
            <a:avLst/>
          </a:prstGeom>
          <a:noFill/>
          <a:ln/>
        </p:spPr>
        <p:txBody>
          <a:bodyPr wrap="square" lIns="25400" tIns="25400" rIns="25400" bIns="25400" rtlCol="0" anchor="t">
            <a:normAutofit/>
          </a:bodyPr>
          <a:lstStyle/>
          <a:p>
            <a:pPr marL="0" indent="0" algn="l">
              <a:buNone/>
            </a:pPr>
            <a:r>
              <a:rPr lang="en-US" sz="1125" kern="0" spc="-8" dirty="0">
                <a:solidFill>
                  <a:srgbClr val="7A776E"/>
                </a:solidFill>
                <a:latin typeface="Space Grotesk" pitchFamily="34" charset="0"/>
                <a:ea typeface="Space Grotesk" pitchFamily="34" charset="-122"/>
                <a:cs typeface="Space Grotesk" pitchFamily="34" charset="-120"/>
              </a:rPr>
              <a:t>Corporate wellness contracts · pro-team deployments</a:t>
            </a:r>
            <a:endParaRPr lang="en-US" sz="1125" dirty="0"/>
          </a:p>
        </p:txBody>
      </p:sp>
      <p:sp>
        <p:nvSpPr>
          <p:cNvPr id="25" name="Text 23"/>
          <p:cNvSpPr/>
          <p:nvPr/>
        </p:nvSpPr>
        <p:spPr>
          <a:xfrm>
            <a:off x="8538195" y="5371579"/>
            <a:ext cx="693465" cy="266700"/>
          </a:xfrm>
          <a:prstGeom prst="rect">
            <a:avLst/>
          </a:prstGeom>
          <a:noFill/>
          <a:ln/>
        </p:spPr>
        <p:txBody>
          <a:bodyPr wrap="square" lIns="25400" tIns="25400" rIns="25400" bIns="25400" rtlCol="0" anchor="t">
            <a:normAutofit/>
          </a:bodyPr>
          <a:lstStyle/>
          <a:p>
            <a:pPr marL="0" indent="0" algn="l">
              <a:buNone/>
            </a:pPr>
            <a:r>
              <a:rPr lang="en-US" sz="1350" dirty="0">
                <a:solidFill>
                  <a:srgbClr val="0A0A0A"/>
                </a:solidFill>
                <a:latin typeface="JetBrains Mono" pitchFamily="34" charset="0"/>
                <a:ea typeface="JetBrains Mono" pitchFamily="34" charset="-122"/>
                <a:cs typeface="JetBrains Mono" pitchFamily="34" charset="-120"/>
              </a:rPr>
              <a:t>+$0.5B</a:t>
            </a:r>
            <a:endParaRPr lang="en-US" sz="1350" dirty="0"/>
          </a:p>
        </p:txBody>
      </p:sp>
      <p:sp>
        <p:nvSpPr>
          <p:cNvPr id="26" name="Shape 24"/>
          <p:cNvSpPr/>
          <p:nvPr/>
        </p:nvSpPr>
        <p:spPr>
          <a:xfrm>
            <a:off x="952500" y="6035948"/>
            <a:ext cx="8422035" cy="2014538"/>
          </a:xfrm>
          <a:prstGeom prst="rect">
            <a:avLst/>
          </a:prstGeom>
          <a:solidFill>
            <a:srgbClr val="F6F5F2"/>
          </a:solidFill>
          <a:ln w="9525">
            <a:solidFill>
              <a:srgbClr val="E2DFD8"/>
            </a:solidFill>
            <a:prstDash val="solid"/>
          </a:ln>
        </p:spPr>
        <p:txBody>
          <a:bodyPr/>
          <a:lstStyle/>
          <a:p>
            <a:endParaRPr lang="en-US"/>
          </a:p>
        </p:txBody>
      </p:sp>
      <p:sp>
        <p:nvSpPr>
          <p:cNvPr id="27" name="Text 25"/>
          <p:cNvSpPr/>
          <p:nvPr/>
        </p:nvSpPr>
        <p:spPr>
          <a:xfrm>
            <a:off x="1152525" y="6235973"/>
            <a:ext cx="8262644" cy="185738"/>
          </a:xfrm>
          <a:prstGeom prst="rect">
            <a:avLst/>
          </a:prstGeom>
          <a:noFill/>
          <a:ln/>
        </p:spPr>
        <p:txBody>
          <a:bodyPr wrap="square" lIns="25400" tIns="25400" rIns="25400" bIns="25400" rtlCol="0" anchor="t">
            <a:normAutofit lnSpcReduction="10000"/>
          </a:bodyPr>
          <a:lstStyle/>
          <a:p>
            <a:pPr marL="0" indent="0" algn="l">
              <a:buNone/>
            </a:pPr>
            <a:r>
              <a:rPr lang="en-US" sz="900" kern="0" spc="126" dirty="0">
                <a:solidFill>
                  <a:srgbClr val="7A776E"/>
                </a:solidFill>
                <a:latin typeface="JetBrains Mono" pitchFamily="34" charset="0"/>
                <a:ea typeface="JetBrains Mono" pitchFamily="34" charset="-122"/>
                <a:cs typeface="JetBrains Mono" pitchFamily="34" charset="-120"/>
              </a:rPr>
              <a:t>DCF BASE + OPTION PREMIUM = TOTAL INTRINSIC ($B)</a:t>
            </a:r>
            <a:endParaRPr lang="en-US" sz="900" dirty="0"/>
          </a:p>
        </p:txBody>
      </p:sp>
      <p:sp>
        <p:nvSpPr>
          <p:cNvPr id="28" name="Text 26"/>
          <p:cNvSpPr/>
          <p:nvPr/>
        </p:nvSpPr>
        <p:spPr>
          <a:xfrm>
            <a:off x="1152525" y="6526485"/>
            <a:ext cx="1600200" cy="209550"/>
          </a:xfrm>
          <a:prstGeom prst="rect">
            <a:avLst/>
          </a:prstGeom>
          <a:noFill/>
          <a:ln/>
        </p:spPr>
        <p:txBody>
          <a:bodyPr wrap="square" lIns="25400" tIns="25400" rIns="25400" bIns="25400" rtlCol="0" anchor="t">
            <a:normAutofit lnSpcReduction="10000"/>
          </a:bodyPr>
          <a:lstStyle/>
          <a:p>
            <a:pPr marL="0" indent="0" algn="l">
              <a:buNone/>
            </a:pPr>
            <a:r>
              <a:rPr lang="en-US" sz="1050" dirty="0">
                <a:solidFill>
                  <a:srgbClr val="3A3A3A"/>
                </a:solidFill>
                <a:latin typeface="Space Grotesk" pitchFamily="34" charset="0"/>
                <a:ea typeface="Space Grotesk" pitchFamily="34" charset="-122"/>
                <a:cs typeface="Space Grotesk" pitchFamily="34" charset="-120"/>
              </a:rPr>
              <a:t>DCF base</a:t>
            </a:r>
            <a:endParaRPr lang="en-US" sz="1050" dirty="0"/>
          </a:p>
        </p:txBody>
      </p:sp>
      <p:sp>
        <p:nvSpPr>
          <p:cNvPr id="29" name="Shape 27"/>
          <p:cNvSpPr/>
          <p:nvPr/>
        </p:nvSpPr>
        <p:spPr>
          <a:xfrm>
            <a:off x="2790825" y="6526485"/>
            <a:ext cx="5507385" cy="171450"/>
          </a:xfrm>
          <a:prstGeom prst="rect">
            <a:avLst/>
          </a:prstGeom>
          <a:solidFill>
            <a:srgbClr val="EDEBE6"/>
          </a:solidFill>
          <a:ln/>
        </p:spPr>
        <p:txBody>
          <a:bodyPr/>
          <a:lstStyle/>
          <a:p>
            <a:endParaRPr lang="en-US"/>
          </a:p>
        </p:txBody>
      </p:sp>
      <p:sp>
        <p:nvSpPr>
          <p:cNvPr id="30" name="Shape 28"/>
          <p:cNvSpPr/>
          <p:nvPr/>
        </p:nvSpPr>
        <p:spPr>
          <a:xfrm>
            <a:off x="2790825" y="6526485"/>
            <a:ext cx="2973958" cy="171450"/>
          </a:xfrm>
          <a:prstGeom prst="rect">
            <a:avLst/>
          </a:prstGeom>
          <a:solidFill>
            <a:srgbClr val="0A0A0A"/>
          </a:solidFill>
          <a:ln/>
        </p:spPr>
        <p:txBody>
          <a:bodyPr/>
          <a:lstStyle/>
          <a:p>
            <a:endParaRPr lang="en-US"/>
          </a:p>
        </p:txBody>
      </p:sp>
      <p:sp>
        <p:nvSpPr>
          <p:cNvPr id="31" name="Text 29"/>
          <p:cNvSpPr/>
          <p:nvPr/>
        </p:nvSpPr>
        <p:spPr>
          <a:xfrm>
            <a:off x="8336310" y="6524104"/>
            <a:ext cx="838200" cy="214313"/>
          </a:xfrm>
          <a:prstGeom prst="rect">
            <a:avLst/>
          </a:prstGeom>
          <a:noFill/>
          <a:ln/>
        </p:spPr>
        <p:txBody>
          <a:bodyPr wrap="square" lIns="25400" tIns="25400" rIns="25400" bIns="25400" rtlCol="0" anchor="t">
            <a:normAutofit/>
          </a:bodyPr>
          <a:lstStyle/>
          <a:p>
            <a:pPr marL="0" indent="0" algn="r">
              <a:buNone/>
            </a:pPr>
            <a:r>
              <a:rPr lang="en-US" sz="1050" dirty="0">
                <a:solidFill>
                  <a:srgbClr val="0A0A0A"/>
                </a:solidFill>
                <a:latin typeface="JetBrains Mono" pitchFamily="34" charset="0"/>
                <a:ea typeface="JetBrains Mono" pitchFamily="34" charset="-122"/>
                <a:cs typeface="JetBrains Mono" pitchFamily="34" charset="-120"/>
              </a:rPr>
              <a:t>8.4</a:t>
            </a:r>
            <a:endParaRPr lang="en-US" sz="1050" dirty="0"/>
          </a:p>
        </p:txBody>
      </p:sp>
      <p:sp>
        <p:nvSpPr>
          <p:cNvPr id="32" name="Text 30"/>
          <p:cNvSpPr/>
          <p:nvPr/>
        </p:nvSpPr>
        <p:spPr>
          <a:xfrm>
            <a:off x="1152525" y="6888435"/>
            <a:ext cx="1600200" cy="209550"/>
          </a:xfrm>
          <a:prstGeom prst="rect">
            <a:avLst/>
          </a:prstGeom>
          <a:noFill/>
          <a:ln/>
        </p:spPr>
        <p:txBody>
          <a:bodyPr wrap="square" lIns="25400" tIns="25400" rIns="25400" bIns="25400" rtlCol="0" anchor="t">
            <a:normAutofit lnSpcReduction="10000"/>
          </a:bodyPr>
          <a:lstStyle/>
          <a:p>
            <a:pPr marL="0" indent="0" algn="l">
              <a:buNone/>
            </a:pPr>
            <a:r>
              <a:rPr lang="en-US" sz="1050" dirty="0">
                <a:solidFill>
                  <a:srgbClr val="3A3A3A"/>
                </a:solidFill>
                <a:latin typeface="Space Grotesk" pitchFamily="34" charset="0"/>
                <a:ea typeface="Space Grotesk" pitchFamily="34" charset="-122"/>
                <a:cs typeface="Space Grotesk" pitchFamily="34" charset="-120"/>
              </a:rPr>
              <a:t>+ Option 01</a:t>
            </a:r>
            <a:endParaRPr lang="en-US" sz="1050" dirty="0"/>
          </a:p>
        </p:txBody>
      </p:sp>
      <p:sp>
        <p:nvSpPr>
          <p:cNvPr id="33" name="Shape 31"/>
          <p:cNvSpPr/>
          <p:nvPr/>
        </p:nvSpPr>
        <p:spPr>
          <a:xfrm>
            <a:off x="2790825" y="6888435"/>
            <a:ext cx="5507385" cy="171450"/>
          </a:xfrm>
          <a:prstGeom prst="rect">
            <a:avLst/>
          </a:prstGeom>
          <a:solidFill>
            <a:srgbClr val="EDEBE6"/>
          </a:solidFill>
          <a:ln/>
        </p:spPr>
        <p:txBody>
          <a:bodyPr/>
          <a:lstStyle/>
          <a:p>
            <a:endParaRPr lang="en-US"/>
          </a:p>
        </p:txBody>
      </p:sp>
      <p:sp>
        <p:nvSpPr>
          <p:cNvPr id="34" name="Shape 32"/>
          <p:cNvSpPr/>
          <p:nvPr/>
        </p:nvSpPr>
        <p:spPr>
          <a:xfrm>
            <a:off x="2790825" y="6888435"/>
            <a:ext cx="2973958" cy="171450"/>
          </a:xfrm>
          <a:prstGeom prst="rect">
            <a:avLst/>
          </a:prstGeom>
          <a:solidFill>
            <a:srgbClr val="0A0A0A"/>
          </a:solidFill>
          <a:ln/>
        </p:spPr>
        <p:txBody>
          <a:bodyPr/>
          <a:lstStyle/>
          <a:p>
            <a:endParaRPr lang="en-US"/>
          </a:p>
        </p:txBody>
      </p:sp>
      <p:sp>
        <p:nvSpPr>
          <p:cNvPr id="35" name="Shape 33"/>
          <p:cNvSpPr/>
          <p:nvPr/>
        </p:nvSpPr>
        <p:spPr>
          <a:xfrm>
            <a:off x="5764783" y="6888435"/>
            <a:ext cx="550738" cy="361950"/>
          </a:xfrm>
          <a:prstGeom prst="rect">
            <a:avLst/>
          </a:prstGeom>
          <a:solidFill>
            <a:srgbClr val="FF5A1F"/>
          </a:solidFill>
          <a:ln w="9525">
            <a:solidFill>
              <a:srgbClr val="E2DFD8"/>
            </a:solidFill>
            <a:prstDash val="solid"/>
          </a:ln>
        </p:spPr>
        <p:txBody>
          <a:bodyPr/>
          <a:lstStyle/>
          <a:p>
            <a:endParaRPr lang="en-US"/>
          </a:p>
        </p:txBody>
      </p:sp>
      <p:sp>
        <p:nvSpPr>
          <p:cNvPr id="36" name="Text 34"/>
          <p:cNvSpPr/>
          <p:nvPr/>
        </p:nvSpPr>
        <p:spPr>
          <a:xfrm>
            <a:off x="8336310" y="6886054"/>
            <a:ext cx="838200" cy="214313"/>
          </a:xfrm>
          <a:prstGeom prst="rect">
            <a:avLst/>
          </a:prstGeom>
          <a:noFill/>
          <a:ln/>
        </p:spPr>
        <p:txBody>
          <a:bodyPr wrap="square" lIns="25400" tIns="25400" rIns="25400" bIns="25400" rtlCol="0" anchor="t">
            <a:normAutofit/>
          </a:bodyPr>
          <a:lstStyle/>
          <a:p>
            <a:pPr marL="0" indent="0" algn="r">
              <a:buNone/>
            </a:pPr>
            <a:r>
              <a:rPr lang="en-US" sz="1050" dirty="0">
                <a:solidFill>
                  <a:srgbClr val="0A0A0A"/>
                </a:solidFill>
                <a:latin typeface="JetBrains Mono" pitchFamily="34" charset="0"/>
                <a:ea typeface="JetBrains Mono" pitchFamily="34" charset="-122"/>
                <a:cs typeface="JetBrains Mono" pitchFamily="34" charset="-120"/>
              </a:rPr>
              <a:t>10.0</a:t>
            </a:r>
            <a:endParaRPr lang="en-US" sz="1050" dirty="0"/>
          </a:p>
        </p:txBody>
      </p:sp>
      <p:sp>
        <p:nvSpPr>
          <p:cNvPr id="37" name="Text 35"/>
          <p:cNvSpPr/>
          <p:nvPr/>
        </p:nvSpPr>
        <p:spPr>
          <a:xfrm>
            <a:off x="1152525" y="7250385"/>
            <a:ext cx="1600200" cy="209550"/>
          </a:xfrm>
          <a:prstGeom prst="rect">
            <a:avLst/>
          </a:prstGeom>
          <a:noFill/>
          <a:ln/>
        </p:spPr>
        <p:txBody>
          <a:bodyPr wrap="square" lIns="25400" tIns="25400" rIns="25400" bIns="25400" rtlCol="0" anchor="t">
            <a:normAutofit lnSpcReduction="10000"/>
          </a:bodyPr>
          <a:lstStyle/>
          <a:p>
            <a:pPr marL="0" indent="0" algn="l">
              <a:buNone/>
            </a:pPr>
            <a:r>
              <a:rPr lang="en-US" sz="1050" dirty="0">
                <a:solidFill>
                  <a:srgbClr val="3A3A3A"/>
                </a:solidFill>
                <a:latin typeface="Space Grotesk" pitchFamily="34" charset="0"/>
                <a:ea typeface="Space Grotesk" pitchFamily="34" charset="-122"/>
                <a:cs typeface="Space Grotesk" pitchFamily="34" charset="-120"/>
              </a:rPr>
              <a:t>+ Option 02</a:t>
            </a:r>
            <a:endParaRPr lang="en-US" sz="1050" dirty="0"/>
          </a:p>
        </p:txBody>
      </p:sp>
      <p:sp>
        <p:nvSpPr>
          <p:cNvPr id="38" name="Shape 36"/>
          <p:cNvSpPr/>
          <p:nvPr/>
        </p:nvSpPr>
        <p:spPr>
          <a:xfrm>
            <a:off x="2790825" y="7250385"/>
            <a:ext cx="5507385" cy="171450"/>
          </a:xfrm>
          <a:prstGeom prst="rect">
            <a:avLst/>
          </a:prstGeom>
          <a:solidFill>
            <a:srgbClr val="EDEBE6"/>
          </a:solidFill>
          <a:ln/>
        </p:spPr>
        <p:txBody>
          <a:bodyPr/>
          <a:lstStyle/>
          <a:p>
            <a:endParaRPr lang="en-US"/>
          </a:p>
        </p:txBody>
      </p:sp>
      <p:sp>
        <p:nvSpPr>
          <p:cNvPr id="39" name="Shape 37"/>
          <p:cNvSpPr/>
          <p:nvPr/>
        </p:nvSpPr>
        <p:spPr>
          <a:xfrm>
            <a:off x="2790825" y="7250385"/>
            <a:ext cx="2973958" cy="171450"/>
          </a:xfrm>
          <a:prstGeom prst="rect">
            <a:avLst/>
          </a:prstGeom>
          <a:solidFill>
            <a:srgbClr val="0A0A0A"/>
          </a:solidFill>
          <a:ln/>
        </p:spPr>
        <p:txBody>
          <a:bodyPr/>
          <a:lstStyle/>
          <a:p>
            <a:endParaRPr lang="en-US"/>
          </a:p>
        </p:txBody>
      </p:sp>
      <p:sp>
        <p:nvSpPr>
          <p:cNvPr id="40" name="Shape 38"/>
          <p:cNvSpPr/>
          <p:nvPr/>
        </p:nvSpPr>
        <p:spPr>
          <a:xfrm>
            <a:off x="5764783" y="7250385"/>
            <a:ext cx="881137" cy="361950"/>
          </a:xfrm>
          <a:prstGeom prst="rect">
            <a:avLst/>
          </a:prstGeom>
          <a:solidFill>
            <a:srgbClr val="FF5A1F"/>
          </a:solidFill>
          <a:ln w="9525">
            <a:solidFill>
              <a:srgbClr val="E2DFD8"/>
            </a:solidFill>
            <a:prstDash val="solid"/>
          </a:ln>
        </p:spPr>
        <p:txBody>
          <a:bodyPr/>
          <a:lstStyle/>
          <a:p>
            <a:endParaRPr lang="en-US"/>
          </a:p>
        </p:txBody>
      </p:sp>
      <p:sp>
        <p:nvSpPr>
          <p:cNvPr id="41" name="Text 39"/>
          <p:cNvSpPr/>
          <p:nvPr/>
        </p:nvSpPr>
        <p:spPr>
          <a:xfrm>
            <a:off x="8336310" y="7248004"/>
            <a:ext cx="838200" cy="214313"/>
          </a:xfrm>
          <a:prstGeom prst="rect">
            <a:avLst/>
          </a:prstGeom>
          <a:noFill/>
          <a:ln/>
        </p:spPr>
        <p:txBody>
          <a:bodyPr wrap="square" lIns="25400" tIns="25400" rIns="25400" bIns="25400" rtlCol="0" anchor="t">
            <a:normAutofit/>
          </a:bodyPr>
          <a:lstStyle/>
          <a:p>
            <a:pPr marL="0" indent="0" algn="r">
              <a:buNone/>
            </a:pPr>
            <a:r>
              <a:rPr lang="en-US" sz="1050" dirty="0">
                <a:solidFill>
                  <a:srgbClr val="0A0A0A"/>
                </a:solidFill>
                <a:latin typeface="JetBrains Mono" pitchFamily="34" charset="0"/>
                <a:ea typeface="JetBrains Mono" pitchFamily="34" charset="-122"/>
                <a:cs typeface="JetBrains Mono" pitchFamily="34" charset="-120"/>
              </a:rPr>
              <a:t>10.9</a:t>
            </a:r>
            <a:endParaRPr lang="en-US" sz="1050" dirty="0"/>
          </a:p>
        </p:txBody>
      </p:sp>
      <p:sp>
        <p:nvSpPr>
          <p:cNvPr id="42" name="Text 40"/>
          <p:cNvSpPr/>
          <p:nvPr/>
        </p:nvSpPr>
        <p:spPr>
          <a:xfrm>
            <a:off x="1152525" y="7612335"/>
            <a:ext cx="1600200" cy="209550"/>
          </a:xfrm>
          <a:prstGeom prst="rect">
            <a:avLst/>
          </a:prstGeom>
          <a:noFill/>
          <a:ln/>
        </p:spPr>
        <p:txBody>
          <a:bodyPr wrap="square" lIns="25400" tIns="25400" rIns="25400" bIns="25400" rtlCol="0" anchor="t">
            <a:normAutofit lnSpcReduction="10000"/>
          </a:bodyPr>
          <a:lstStyle/>
          <a:p>
            <a:pPr marL="0" indent="0" algn="l">
              <a:buNone/>
            </a:pPr>
            <a:r>
              <a:rPr lang="en-US" sz="1050" dirty="0">
                <a:solidFill>
                  <a:srgbClr val="3A3A3A"/>
                </a:solidFill>
                <a:latin typeface="Space Grotesk" pitchFamily="34" charset="0"/>
                <a:ea typeface="Space Grotesk" pitchFamily="34" charset="-122"/>
                <a:cs typeface="Space Grotesk" pitchFamily="34" charset="-120"/>
              </a:rPr>
              <a:t>+ Option 03</a:t>
            </a:r>
            <a:endParaRPr lang="en-US" sz="1050" dirty="0"/>
          </a:p>
        </p:txBody>
      </p:sp>
      <p:sp>
        <p:nvSpPr>
          <p:cNvPr id="43" name="Shape 41"/>
          <p:cNvSpPr/>
          <p:nvPr/>
        </p:nvSpPr>
        <p:spPr>
          <a:xfrm>
            <a:off x="2790825" y="7612335"/>
            <a:ext cx="5507385" cy="171450"/>
          </a:xfrm>
          <a:prstGeom prst="rect">
            <a:avLst/>
          </a:prstGeom>
          <a:solidFill>
            <a:srgbClr val="EDEBE6"/>
          </a:solidFill>
          <a:ln/>
        </p:spPr>
        <p:txBody>
          <a:bodyPr/>
          <a:lstStyle/>
          <a:p>
            <a:endParaRPr lang="en-US"/>
          </a:p>
        </p:txBody>
      </p:sp>
      <p:sp>
        <p:nvSpPr>
          <p:cNvPr id="44" name="Shape 42"/>
          <p:cNvSpPr/>
          <p:nvPr/>
        </p:nvSpPr>
        <p:spPr>
          <a:xfrm>
            <a:off x="2790825" y="7612335"/>
            <a:ext cx="2973958" cy="171450"/>
          </a:xfrm>
          <a:prstGeom prst="rect">
            <a:avLst/>
          </a:prstGeom>
          <a:solidFill>
            <a:srgbClr val="0A0A0A"/>
          </a:solidFill>
          <a:ln/>
        </p:spPr>
        <p:txBody>
          <a:bodyPr/>
          <a:lstStyle/>
          <a:p>
            <a:endParaRPr lang="en-US"/>
          </a:p>
        </p:txBody>
      </p:sp>
      <p:sp>
        <p:nvSpPr>
          <p:cNvPr id="45" name="Shape 43"/>
          <p:cNvSpPr/>
          <p:nvPr/>
        </p:nvSpPr>
        <p:spPr>
          <a:xfrm>
            <a:off x="5764783" y="7612335"/>
            <a:ext cx="1073869" cy="361950"/>
          </a:xfrm>
          <a:prstGeom prst="rect">
            <a:avLst/>
          </a:prstGeom>
          <a:solidFill>
            <a:srgbClr val="FF5A1F"/>
          </a:solidFill>
          <a:ln w="9525">
            <a:solidFill>
              <a:srgbClr val="E2DFD8"/>
            </a:solidFill>
            <a:prstDash val="solid"/>
          </a:ln>
        </p:spPr>
        <p:txBody>
          <a:bodyPr/>
          <a:lstStyle/>
          <a:p>
            <a:endParaRPr lang="en-US"/>
          </a:p>
        </p:txBody>
      </p:sp>
      <p:sp>
        <p:nvSpPr>
          <p:cNvPr id="46" name="Text 44"/>
          <p:cNvSpPr/>
          <p:nvPr/>
        </p:nvSpPr>
        <p:spPr>
          <a:xfrm>
            <a:off x="8336310" y="7609954"/>
            <a:ext cx="838200" cy="214313"/>
          </a:xfrm>
          <a:prstGeom prst="rect">
            <a:avLst/>
          </a:prstGeom>
          <a:noFill/>
          <a:ln/>
        </p:spPr>
        <p:txBody>
          <a:bodyPr wrap="square" lIns="25400" tIns="25400" rIns="25400" bIns="25400" rtlCol="0" anchor="t">
            <a:normAutofit/>
          </a:bodyPr>
          <a:lstStyle/>
          <a:p>
            <a:pPr marL="0" indent="0" algn="r">
              <a:buNone/>
            </a:pPr>
            <a:r>
              <a:rPr lang="en-US" sz="1050" dirty="0">
                <a:solidFill>
                  <a:srgbClr val="0A0A0A"/>
                </a:solidFill>
                <a:latin typeface="JetBrains Mono" pitchFamily="34" charset="0"/>
                <a:ea typeface="JetBrains Mono" pitchFamily="34" charset="-122"/>
                <a:cs typeface="JetBrains Mono" pitchFamily="34" charset="-120"/>
              </a:rPr>
              <a:t>11.4</a:t>
            </a:r>
            <a:endParaRPr lang="en-US" sz="1050" dirty="0"/>
          </a:p>
        </p:txBody>
      </p:sp>
      <p:sp>
        <p:nvSpPr>
          <p:cNvPr id="47" name="Shape 45"/>
          <p:cNvSpPr/>
          <p:nvPr/>
        </p:nvSpPr>
        <p:spPr>
          <a:xfrm>
            <a:off x="9755535" y="3135585"/>
            <a:ext cx="7579891" cy="3348038"/>
          </a:xfrm>
          <a:prstGeom prst="rect">
            <a:avLst/>
          </a:prstGeom>
          <a:ln w="9525">
            <a:solidFill>
              <a:srgbClr val="E2DFD8"/>
            </a:solidFill>
            <a:prstDash val="solid"/>
          </a:ln>
        </p:spPr>
        <p:txBody>
          <a:bodyPr/>
          <a:lstStyle/>
          <a:p>
            <a:endParaRPr lang="en-US"/>
          </a:p>
        </p:txBody>
      </p:sp>
      <p:sp>
        <p:nvSpPr>
          <p:cNvPr id="48" name="Shape 46"/>
          <p:cNvSpPr/>
          <p:nvPr/>
        </p:nvSpPr>
        <p:spPr>
          <a:xfrm>
            <a:off x="9765060" y="3145110"/>
            <a:ext cx="7560841" cy="395288"/>
          </a:xfrm>
          <a:prstGeom prst="rect">
            <a:avLst/>
          </a:prstGeom>
          <a:solidFill>
            <a:srgbClr val="0A0A0A"/>
          </a:solidFill>
          <a:ln/>
        </p:spPr>
        <p:txBody>
          <a:bodyPr/>
          <a:lstStyle/>
          <a:p>
            <a:endParaRPr lang="en-US"/>
          </a:p>
        </p:txBody>
      </p:sp>
      <p:sp>
        <p:nvSpPr>
          <p:cNvPr id="49" name="Text 47"/>
          <p:cNvSpPr/>
          <p:nvPr/>
        </p:nvSpPr>
        <p:spPr>
          <a:xfrm>
            <a:off x="9955560" y="3259410"/>
            <a:ext cx="7406666" cy="204788"/>
          </a:xfrm>
          <a:prstGeom prst="rect">
            <a:avLst/>
          </a:prstGeom>
          <a:noFill/>
          <a:ln/>
        </p:spPr>
        <p:txBody>
          <a:bodyPr wrap="square" lIns="25400" tIns="25400" rIns="25400" bIns="25400" rtlCol="0" anchor="t">
            <a:normAutofit/>
          </a:bodyPr>
          <a:lstStyle/>
          <a:p>
            <a:pPr marL="0" indent="0" algn="l">
              <a:buNone/>
            </a:pPr>
            <a:r>
              <a:rPr lang="en-US" sz="975" kern="0" spc="156" dirty="0">
                <a:solidFill>
                  <a:srgbClr val="FFFFFF"/>
                </a:solidFill>
                <a:latin typeface="JetBrains Mono" pitchFamily="34" charset="0"/>
                <a:ea typeface="JetBrains Mono" pitchFamily="34" charset="-122"/>
                <a:cs typeface="JetBrains Mono" pitchFamily="34" charset="-120"/>
              </a:rPr>
              <a:t>STYLIZED BLACK–SCHOLES INPUTS</a:t>
            </a:r>
            <a:endParaRPr lang="en-US" sz="975" dirty="0"/>
          </a:p>
        </p:txBody>
      </p:sp>
      <p:sp>
        <p:nvSpPr>
          <p:cNvPr id="50" name="Shape 48"/>
          <p:cNvSpPr/>
          <p:nvPr/>
        </p:nvSpPr>
        <p:spPr>
          <a:xfrm>
            <a:off x="9765060" y="4021410"/>
            <a:ext cx="7560841" cy="9525"/>
          </a:xfrm>
          <a:prstGeom prst="rect">
            <a:avLst/>
          </a:prstGeom>
          <a:solidFill>
            <a:srgbClr val="E2DFD8"/>
          </a:solidFill>
          <a:ln/>
        </p:spPr>
        <p:txBody>
          <a:bodyPr/>
          <a:lstStyle/>
          <a:p>
            <a:endParaRPr lang="en-US"/>
          </a:p>
        </p:txBody>
      </p:sp>
      <p:sp>
        <p:nvSpPr>
          <p:cNvPr id="51" name="Text 49"/>
          <p:cNvSpPr/>
          <p:nvPr/>
        </p:nvSpPr>
        <p:spPr>
          <a:xfrm>
            <a:off x="9955560" y="3654698"/>
            <a:ext cx="552450" cy="290513"/>
          </a:xfrm>
          <a:prstGeom prst="rect">
            <a:avLst/>
          </a:prstGeom>
          <a:noFill/>
          <a:ln/>
        </p:spPr>
        <p:txBody>
          <a:bodyPr wrap="square" lIns="25400" tIns="25400" rIns="25400" bIns="25400" rtlCol="0" anchor="t">
            <a:normAutofit/>
          </a:bodyPr>
          <a:lstStyle/>
          <a:p>
            <a:pPr marL="0" indent="0" algn="l">
              <a:buNone/>
            </a:pPr>
            <a:r>
              <a:rPr lang="en-US" sz="1500" b="1" dirty="0">
                <a:solidFill>
                  <a:srgbClr val="FF5A1F"/>
                </a:solidFill>
                <a:latin typeface="JetBrains Mono" pitchFamily="34" charset="0"/>
                <a:ea typeface="JetBrains Mono" pitchFamily="34" charset="-122"/>
                <a:cs typeface="JetBrains Mono" pitchFamily="34" charset="-120"/>
              </a:rPr>
              <a:t>S</a:t>
            </a:r>
            <a:endParaRPr lang="en-US" sz="1500" dirty="0"/>
          </a:p>
        </p:txBody>
      </p:sp>
      <p:sp>
        <p:nvSpPr>
          <p:cNvPr id="52" name="Text 50"/>
          <p:cNvSpPr/>
          <p:nvPr/>
        </p:nvSpPr>
        <p:spPr>
          <a:xfrm>
            <a:off x="10546110" y="3702323"/>
            <a:ext cx="6198325"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3A3A3A"/>
                </a:solidFill>
                <a:latin typeface="Space Grotesk" pitchFamily="34" charset="0"/>
                <a:ea typeface="Space Grotesk" pitchFamily="34" charset="-122"/>
                <a:cs typeface="Space Grotesk" pitchFamily="34" charset="-120"/>
              </a:rPr>
              <a:t>Underlying — PV of expansion-business cash flows if exercised</a:t>
            </a:r>
            <a:endParaRPr lang="en-US" sz="1200" dirty="0"/>
          </a:p>
        </p:txBody>
      </p:sp>
      <p:sp>
        <p:nvSpPr>
          <p:cNvPr id="53" name="Text 51"/>
          <p:cNvSpPr/>
          <p:nvPr/>
        </p:nvSpPr>
        <p:spPr>
          <a:xfrm>
            <a:off x="16678201" y="3692798"/>
            <a:ext cx="533400" cy="242888"/>
          </a:xfrm>
          <a:prstGeom prst="rect">
            <a:avLst/>
          </a:prstGeom>
          <a:noFill/>
          <a:ln/>
        </p:spPr>
        <p:txBody>
          <a:bodyPr wrap="square" lIns="25400" tIns="25400" rIns="25400" bIns="25400" rtlCol="0" anchor="t">
            <a:normAutofit/>
          </a:bodyPr>
          <a:lstStyle/>
          <a:p>
            <a:pPr marL="0" indent="0" algn="l">
              <a:buNone/>
            </a:pPr>
            <a:r>
              <a:rPr lang="en-US" sz="1200" dirty="0">
                <a:solidFill>
                  <a:srgbClr val="0A0A0A"/>
                </a:solidFill>
                <a:latin typeface="JetBrains Mono" pitchFamily="34" charset="0"/>
                <a:ea typeface="JetBrains Mono" pitchFamily="34" charset="-122"/>
                <a:cs typeface="JetBrains Mono" pitchFamily="34" charset="-120"/>
              </a:rPr>
              <a:t>$3.4B</a:t>
            </a:r>
            <a:endParaRPr lang="en-US" sz="1200" dirty="0"/>
          </a:p>
        </p:txBody>
      </p:sp>
      <p:sp>
        <p:nvSpPr>
          <p:cNvPr id="54" name="Shape 52"/>
          <p:cNvSpPr/>
          <p:nvPr/>
        </p:nvSpPr>
        <p:spPr>
          <a:xfrm>
            <a:off x="9765060" y="4511948"/>
            <a:ext cx="7560841" cy="9525"/>
          </a:xfrm>
          <a:prstGeom prst="rect">
            <a:avLst/>
          </a:prstGeom>
          <a:solidFill>
            <a:srgbClr val="E2DFD8"/>
          </a:solidFill>
          <a:ln/>
        </p:spPr>
        <p:txBody>
          <a:bodyPr/>
          <a:lstStyle/>
          <a:p>
            <a:endParaRPr lang="en-US"/>
          </a:p>
        </p:txBody>
      </p:sp>
      <p:sp>
        <p:nvSpPr>
          <p:cNvPr id="55" name="Text 53"/>
          <p:cNvSpPr/>
          <p:nvPr/>
        </p:nvSpPr>
        <p:spPr>
          <a:xfrm>
            <a:off x="9955560" y="4145235"/>
            <a:ext cx="552450" cy="290513"/>
          </a:xfrm>
          <a:prstGeom prst="rect">
            <a:avLst/>
          </a:prstGeom>
          <a:noFill/>
          <a:ln/>
        </p:spPr>
        <p:txBody>
          <a:bodyPr wrap="square" lIns="25400" tIns="25400" rIns="25400" bIns="25400" rtlCol="0" anchor="t">
            <a:normAutofit/>
          </a:bodyPr>
          <a:lstStyle/>
          <a:p>
            <a:pPr marL="0" indent="0" algn="l">
              <a:buNone/>
            </a:pPr>
            <a:r>
              <a:rPr lang="en-US" sz="1500" b="1" dirty="0">
                <a:solidFill>
                  <a:srgbClr val="FF5A1F"/>
                </a:solidFill>
                <a:latin typeface="JetBrains Mono" pitchFamily="34" charset="0"/>
                <a:ea typeface="JetBrains Mono" pitchFamily="34" charset="-122"/>
                <a:cs typeface="JetBrains Mono" pitchFamily="34" charset="-120"/>
              </a:rPr>
              <a:t>K</a:t>
            </a:r>
            <a:endParaRPr lang="en-US" sz="1500" dirty="0"/>
          </a:p>
        </p:txBody>
      </p:sp>
      <p:sp>
        <p:nvSpPr>
          <p:cNvPr id="56" name="Text 54"/>
          <p:cNvSpPr/>
          <p:nvPr/>
        </p:nvSpPr>
        <p:spPr>
          <a:xfrm>
            <a:off x="10546110" y="4192860"/>
            <a:ext cx="6198325"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3A3A3A"/>
                </a:solidFill>
                <a:latin typeface="Space Grotesk" pitchFamily="34" charset="0"/>
                <a:ea typeface="Space Grotesk" pitchFamily="34" charset="-122"/>
                <a:cs typeface="Space Grotesk" pitchFamily="34" charset="-120"/>
              </a:rPr>
              <a:t>Strike — investment required to enter (R&amp;D + go-to-market)</a:t>
            </a:r>
            <a:endParaRPr lang="en-US" sz="1200" dirty="0"/>
          </a:p>
        </p:txBody>
      </p:sp>
      <p:sp>
        <p:nvSpPr>
          <p:cNvPr id="57" name="Text 55"/>
          <p:cNvSpPr/>
          <p:nvPr/>
        </p:nvSpPr>
        <p:spPr>
          <a:xfrm>
            <a:off x="16678201" y="4183335"/>
            <a:ext cx="533400" cy="242888"/>
          </a:xfrm>
          <a:prstGeom prst="rect">
            <a:avLst/>
          </a:prstGeom>
          <a:noFill/>
          <a:ln/>
        </p:spPr>
        <p:txBody>
          <a:bodyPr wrap="square" lIns="25400" tIns="25400" rIns="25400" bIns="25400" rtlCol="0" anchor="t">
            <a:normAutofit/>
          </a:bodyPr>
          <a:lstStyle/>
          <a:p>
            <a:pPr marL="0" indent="0" algn="l">
              <a:buNone/>
            </a:pPr>
            <a:r>
              <a:rPr lang="en-US" sz="1200" dirty="0">
                <a:solidFill>
                  <a:srgbClr val="0A0A0A"/>
                </a:solidFill>
                <a:latin typeface="JetBrains Mono" pitchFamily="34" charset="0"/>
                <a:ea typeface="JetBrains Mono" pitchFamily="34" charset="-122"/>
                <a:cs typeface="JetBrains Mono" pitchFamily="34" charset="-120"/>
              </a:rPr>
              <a:t>$1.8B</a:t>
            </a:r>
            <a:endParaRPr lang="en-US" sz="1200" dirty="0"/>
          </a:p>
        </p:txBody>
      </p:sp>
      <p:sp>
        <p:nvSpPr>
          <p:cNvPr id="58" name="Shape 56"/>
          <p:cNvSpPr/>
          <p:nvPr/>
        </p:nvSpPr>
        <p:spPr>
          <a:xfrm>
            <a:off x="9765060" y="5002485"/>
            <a:ext cx="7560841" cy="9525"/>
          </a:xfrm>
          <a:prstGeom prst="rect">
            <a:avLst/>
          </a:prstGeom>
          <a:solidFill>
            <a:srgbClr val="E2DFD8"/>
          </a:solidFill>
          <a:ln/>
        </p:spPr>
        <p:txBody>
          <a:bodyPr/>
          <a:lstStyle/>
          <a:p>
            <a:endParaRPr lang="en-US"/>
          </a:p>
        </p:txBody>
      </p:sp>
      <p:sp>
        <p:nvSpPr>
          <p:cNvPr id="59" name="Text 57"/>
          <p:cNvSpPr/>
          <p:nvPr/>
        </p:nvSpPr>
        <p:spPr>
          <a:xfrm>
            <a:off x="9955560" y="4635773"/>
            <a:ext cx="552450" cy="290513"/>
          </a:xfrm>
          <a:prstGeom prst="rect">
            <a:avLst/>
          </a:prstGeom>
          <a:noFill/>
          <a:ln/>
        </p:spPr>
        <p:txBody>
          <a:bodyPr wrap="square" lIns="25400" tIns="25400" rIns="25400" bIns="25400" rtlCol="0" anchor="t">
            <a:normAutofit/>
          </a:bodyPr>
          <a:lstStyle/>
          <a:p>
            <a:pPr marL="0" indent="0" algn="l">
              <a:buNone/>
            </a:pPr>
            <a:r>
              <a:rPr lang="en-US" sz="1500" b="1" dirty="0">
                <a:solidFill>
                  <a:srgbClr val="FF5A1F"/>
                </a:solidFill>
                <a:latin typeface="JetBrains Mono" pitchFamily="34" charset="0"/>
                <a:ea typeface="JetBrains Mono" pitchFamily="34" charset="-122"/>
                <a:cs typeface="JetBrains Mono" pitchFamily="34" charset="-120"/>
              </a:rPr>
              <a:t>σ</a:t>
            </a:r>
            <a:endParaRPr lang="en-US" sz="1500" dirty="0"/>
          </a:p>
        </p:txBody>
      </p:sp>
      <p:sp>
        <p:nvSpPr>
          <p:cNvPr id="60" name="Text 58"/>
          <p:cNvSpPr/>
          <p:nvPr/>
        </p:nvSpPr>
        <p:spPr>
          <a:xfrm>
            <a:off x="10546110" y="4683398"/>
            <a:ext cx="6386645"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3A3A3A"/>
                </a:solidFill>
                <a:latin typeface="Space Grotesk" pitchFamily="34" charset="0"/>
                <a:ea typeface="Space Grotesk" pitchFamily="34" charset="-122"/>
                <a:cs typeface="Space Grotesk" pitchFamily="34" charset="-120"/>
              </a:rPr>
              <a:t>Volatility — comparable health-tech equity vol</a:t>
            </a:r>
            <a:endParaRPr lang="en-US" sz="1200" dirty="0"/>
          </a:p>
        </p:txBody>
      </p:sp>
      <p:sp>
        <p:nvSpPr>
          <p:cNvPr id="61" name="Text 59"/>
          <p:cNvSpPr/>
          <p:nvPr/>
        </p:nvSpPr>
        <p:spPr>
          <a:xfrm>
            <a:off x="16861036" y="4673873"/>
            <a:ext cx="350565" cy="242888"/>
          </a:xfrm>
          <a:prstGeom prst="rect">
            <a:avLst/>
          </a:prstGeom>
          <a:noFill/>
          <a:ln/>
        </p:spPr>
        <p:txBody>
          <a:bodyPr wrap="square" lIns="25400" tIns="25400" rIns="25400" bIns="25400" rtlCol="0" anchor="t">
            <a:normAutofit/>
          </a:bodyPr>
          <a:lstStyle/>
          <a:p>
            <a:pPr marL="0" indent="0" algn="l">
              <a:buNone/>
            </a:pPr>
            <a:r>
              <a:rPr lang="en-US" sz="1200" dirty="0">
                <a:solidFill>
                  <a:srgbClr val="0A0A0A"/>
                </a:solidFill>
                <a:latin typeface="JetBrains Mono" pitchFamily="34" charset="0"/>
                <a:ea typeface="JetBrains Mono" pitchFamily="34" charset="-122"/>
                <a:cs typeface="JetBrains Mono" pitchFamily="34" charset="-120"/>
              </a:rPr>
              <a:t>52%</a:t>
            </a:r>
            <a:endParaRPr lang="en-US" sz="1200" dirty="0"/>
          </a:p>
        </p:txBody>
      </p:sp>
      <p:sp>
        <p:nvSpPr>
          <p:cNvPr id="62" name="Shape 60"/>
          <p:cNvSpPr/>
          <p:nvPr/>
        </p:nvSpPr>
        <p:spPr>
          <a:xfrm>
            <a:off x="9765060" y="5493023"/>
            <a:ext cx="7560841" cy="9525"/>
          </a:xfrm>
          <a:prstGeom prst="rect">
            <a:avLst/>
          </a:prstGeom>
          <a:solidFill>
            <a:srgbClr val="E2DFD8"/>
          </a:solidFill>
          <a:ln/>
        </p:spPr>
        <p:txBody>
          <a:bodyPr/>
          <a:lstStyle/>
          <a:p>
            <a:endParaRPr lang="en-US"/>
          </a:p>
        </p:txBody>
      </p:sp>
      <p:sp>
        <p:nvSpPr>
          <p:cNvPr id="63" name="Text 61"/>
          <p:cNvSpPr/>
          <p:nvPr/>
        </p:nvSpPr>
        <p:spPr>
          <a:xfrm>
            <a:off x="9955560" y="5126310"/>
            <a:ext cx="552450" cy="290513"/>
          </a:xfrm>
          <a:prstGeom prst="rect">
            <a:avLst/>
          </a:prstGeom>
          <a:noFill/>
          <a:ln/>
        </p:spPr>
        <p:txBody>
          <a:bodyPr wrap="square" lIns="25400" tIns="25400" rIns="25400" bIns="25400" rtlCol="0" anchor="t">
            <a:normAutofit/>
          </a:bodyPr>
          <a:lstStyle/>
          <a:p>
            <a:pPr marL="0" indent="0" algn="l">
              <a:buNone/>
            </a:pPr>
            <a:r>
              <a:rPr lang="en-US" sz="1500" b="1" dirty="0">
                <a:solidFill>
                  <a:srgbClr val="FF5A1F"/>
                </a:solidFill>
                <a:latin typeface="JetBrains Mono" pitchFamily="34" charset="0"/>
                <a:ea typeface="JetBrains Mono" pitchFamily="34" charset="-122"/>
                <a:cs typeface="JetBrains Mono" pitchFamily="34" charset="-120"/>
              </a:rPr>
              <a:t>T</a:t>
            </a:r>
            <a:endParaRPr lang="en-US" sz="1500" dirty="0"/>
          </a:p>
        </p:txBody>
      </p:sp>
      <p:sp>
        <p:nvSpPr>
          <p:cNvPr id="64" name="Text 62"/>
          <p:cNvSpPr/>
          <p:nvPr/>
        </p:nvSpPr>
        <p:spPr>
          <a:xfrm>
            <a:off x="10546110" y="5173935"/>
            <a:ext cx="6009927"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3A3A3A"/>
                </a:solidFill>
                <a:latin typeface="Space Grotesk" pitchFamily="34" charset="0"/>
                <a:ea typeface="Space Grotesk" pitchFamily="34" charset="-122"/>
                <a:cs typeface="Space Grotesk" pitchFamily="34" charset="-120"/>
              </a:rPr>
              <a:t>Time to decision window</a:t>
            </a:r>
            <a:endParaRPr lang="en-US" sz="1200" dirty="0"/>
          </a:p>
        </p:txBody>
      </p:sp>
      <p:sp>
        <p:nvSpPr>
          <p:cNvPr id="65" name="Text 63"/>
          <p:cNvSpPr/>
          <p:nvPr/>
        </p:nvSpPr>
        <p:spPr>
          <a:xfrm>
            <a:off x="16495291" y="5164410"/>
            <a:ext cx="716310" cy="242888"/>
          </a:xfrm>
          <a:prstGeom prst="rect">
            <a:avLst/>
          </a:prstGeom>
          <a:noFill/>
          <a:ln/>
        </p:spPr>
        <p:txBody>
          <a:bodyPr wrap="square" lIns="25400" tIns="25400" rIns="25400" bIns="25400" rtlCol="0" anchor="t">
            <a:normAutofit/>
          </a:bodyPr>
          <a:lstStyle/>
          <a:p>
            <a:pPr marL="0" indent="0" algn="l">
              <a:buNone/>
            </a:pPr>
            <a:r>
              <a:rPr lang="en-US" sz="1200" dirty="0">
                <a:solidFill>
                  <a:srgbClr val="0A0A0A"/>
                </a:solidFill>
                <a:latin typeface="JetBrains Mono" pitchFamily="34" charset="0"/>
                <a:ea typeface="JetBrains Mono" pitchFamily="34" charset="-122"/>
                <a:cs typeface="JetBrains Mono" pitchFamily="34" charset="-120"/>
              </a:rPr>
              <a:t>5.0 yrs</a:t>
            </a:r>
            <a:endParaRPr lang="en-US" sz="1200" dirty="0"/>
          </a:p>
        </p:txBody>
      </p:sp>
      <p:sp>
        <p:nvSpPr>
          <p:cNvPr id="66" name="Shape 64"/>
          <p:cNvSpPr/>
          <p:nvPr/>
        </p:nvSpPr>
        <p:spPr>
          <a:xfrm>
            <a:off x="9765060" y="5983560"/>
            <a:ext cx="7560841" cy="9525"/>
          </a:xfrm>
          <a:prstGeom prst="rect">
            <a:avLst/>
          </a:prstGeom>
          <a:solidFill>
            <a:srgbClr val="E2DFD8"/>
          </a:solidFill>
          <a:ln/>
        </p:spPr>
        <p:txBody>
          <a:bodyPr/>
          <a:lstStyle/>
          <a:p>
            <a:endParaRPr lang="en-US"/>
          </a:p>
        </p:txBody>
      </p:sp>
      <p:sp>
        <p:nvSpPr>
          <p:cNvPr id="67" name="Text 65"/>
          <p:cNvSpPr/>
          <p:nvPr/>
        </p:nvSpPr>
        <p:spPr>
          <a:xfrm>
            <a:off x="9955560" y="5616848"/>
            <a:ext cx="552450" cy="290513"/>
          </a:xfrm>
          <a:prstGeom prst="rect">
            <a:avLst/>
          </a:prstGeom>
          <a:noFill/>
          <a:ln/>
        </p:spPr>
        <p:txBody>
          <a:bodyPr wrap="square" lIns="25400" tIns="25400" rIns="25400" bIns="25400" rtlCol="0" anchor="t">
            <a:normAutofit/>
          </a:bodyPr>
          <a:lstStyle/>
          <a:p>
            <a:pPr marL="0" indent="0" algn="l">
              <a:buNone/>
            </a:pPr>
            <a:r>
              <a:rPr lang="en-US" sz="1500" b="1" dirty="0">
                <a:solidFill>
                  <a:srgbClr val="FF5A1F"/>
                </a:solidFill>
                <a:latin typeface="JetBrains Mono" pitchFamily="34" charset="0"/>
                <a:ea typeface="JetBrains Mono" pitchFamily="34" charset="-122"/>
                <a:cs typeface="JetBrains Mono" pitchFamily="34" charset="-120"/>
              </a:rPr>
              <a:t>r</a:t>
            </a:r>
            <a:endParaRPr lang="en-US" sz="1500" dirty="0"/>
          </a:p>
        </p:txBody>
      </p:sp>
      <p:sp>
        <p:nvSpPr>
          <p:cNvPr id="68" name="Text 66"/>
          <p:cNvSpPr/>
          <p:nvPr/>
        </p:nvSpPr>
        <p:spPr>
          <a:xfrm>
            <a:off x="10546110" y="5664473"/>
            <a:ext cx="6292446"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3A3A3A"/>
                </a:solidFill>
                <a:latin typeface="Space Grotesk" pitchFamily="34" charset="0"/>
                <a:ea typeface="Space Grotesk" pitchFamily="34" charset="-122"/>
                <a:cs typeface="Space Grotesk" pitchFamily="34" charset="-120"/>
              </a:rPr>
              <a:t>Risk-free rate (5Y Treasury)</a:t>
            </a:r>
            <a:endParaRPr lang="en-US" sz="1200" dirty="0"/>
          </a:p>
        </p:txBody>
      </p:sp>
      <p:sp>
        <p:nvSpPr>
          <p:cNvPr id="69" name="Text 67"/>
          <p:cNvSpPr/>
          <p:nvPr/>
        </p:nvSpPr>
        <p:spPr>
          <a:xfrm>
            <a:off x="16769581" y="5654948"/>
            <a:ext cx="442020" cy="242888"/>
          </a:xfrm>
          <a:prstGeom prst="rect">
            <a:avLst/>
          </a:prstGeom>
          <a:noFill/>
          <a:ln/>
        </p:spPr>
        <p:txBody>
          <a:bodyPr wrap="square" lIns="25400" tIns="25400" rIns="25400" bIns="25400" rtlCol="0" anchor="t">
            <a:normAutofit/>
          </a:bodyPr>
          <a:lstStyle/>
          <a:p>
            <a:pPr marL="0" indent="0" algn="l">
              <a:buNone/>
            </a:pPr>
            <a:r>
              <a:rPr lang="en-US" sz="1200" dirty="0">
                <a:solidFill>
                  <a:srgbClr val="0A0A0A"/>
                </a:solidFill>
                <a:latin typeface="JetBrains Mono" pitchFamily="34" charset="0"/>
                <a:ea typeface="JetBrains Mono" pitchFamily="34" charset="-122"/>
                <a:cs typeface="JetBrains Mono" pitchFamily="34" charset="-120"/>
              </a:rPr>
              <a:t>4.2%</a:t>
            </a:r>
            <a:endParaRPr lang="en-US" sz="1200" dirty="0"/>
          </a:p>
        </p:txBody>
      </p:sp>
      <p:sp>
        <p:nvSpPr>
          <p:cNvPr id="70" name="Shape 68"/>
          <p:cNvSpPr/>
          <p:nvPr/>
        </p:nvSpPr>
        <p:spPr>
          <a:xfrm>
            <a:off x="9765060" y="5993085"/>
            <a:ext cx="7560841" cy="481012"/>
          </a:xfrm>
          <a:prstGeom prst="rect">
            <a:avLst/>
          </a:prstGeom>
          <a:solidFill>
            <a:srgbClr val="F6F5F2"/>
          </a:solidFill>
          <a:ln/>
        </p:spPr>
        <p:txBody>
          <a:bodyPr/>
          <a:lstStyle/>
          <a:p>
            <a:endParaRPr lang="en-US"/>
          </a:p>
        </p:txBody>
      </p:sp>
      <p:sp>
        <p:nvSpPr>
          <p:cNvPr id="71" name="Text 69"/>
          <p:cNvSpPr/>
          <p:nvPr/>
        </p:nvSpPr>
        <p:spPr>
          <a:xfrm>
            <a:off x="9955560" y="6107385"/>
            <a:ext cx="552450" cy="290513"/>
          </a:xfrm>
          <a:prstGeom prst="rect">
            <a:avLst/>
          </a:prstGeom>
          <a:noFill/>
          <a:ln/>
        </p:spPr>
        <p:txBody>
          <a:bodyPr wrap="square" lIns="25400" tIns="25400" rIns="25400" bIns="25400" rtlCol="0" anchor="t">
            <a:normAutofit/>
          </a:bodyPr>
          <a:lstStyle/>
          <a:p>
            <a:pPr marL="0" indent="0" algn="l">
              <a:buNone/>
            </a:pPr>
            <a:r>
              <a:rPr lang="en-US" sz="1500" b="1" dirty="0">
                <a:solidFill>
                  <a:srgbClr val="FF5A1F"/>
                </a:solidFill>
                <a:latin typeface="JetBrains Mono" pitchFamily="34" charset="0"/>
                <a:ea typeface="JetBrains Mono" pitchFamily="34" charset="-122"/>
                <a:cs typeface="JetBrains Mono" pitchFamily="34" charset="-120"/>
              </a:rPr>
              <a:t>C</a:t>
            </a:r>
            <a:endParaRPr lang="en-US" sz="1500" dirty="0"/>
          </a:p>
        </p:txBody>
      </p:sp>
      <p:sp>
        <p:nvSpPr>
          <p:cNvPr id="72" name="Text 70"/>
          <p:cNvSpPr/>
          <p:nvPr/>
        </p:nvSpPr>
        <p:spPr>
          <a:xfrm>
            <a:off x="10546110" y="6155010"/>
            <a:ext cx="6104126" cy="228600"/>
          </a:xfrm>
          <a:prstGeom prst="rect">
            <a:avLst/>
          </a:prstGeom>
          <a:noFill/>
          <a:ln/>
        </p:spPr>
        <p:txBody>
          <a:bodyPr wrap="square" lIns="25400" tIns="25400" rIns="25400" bIns="25400" rtlCol="0" anchor="t">
            <a:normAutofit lnSpcReduction="10000"/>
          </a:bodyPr>
          <a:lstStyle/>
          <a:p>
            <a:pPr marL="0" indent="0" algn="l">
              <a:buNone/>
            </a:pPr>
            <a:r>
              <a:rPr lang="en-US" sz="1200" dirty="0">
                <a:solidFill>
                  <a:srgbClr val="0A0A0A"/>
                </a:solidFill>
                <a:latin typeface="Space Grotesk" pitchFamily="34" charset="0"/>
                <a:ea typeface="Space Grotesk" pitchFamily="34" charset="-122"/>
                <a:cs typeface="Space Grotesk" pitchFamily="34" charset="-120"/>
              </a:rPr>
              <a:t>Aggregate option premium</a:t>
            </a:r>
            <a:endParaRPr lang="en-US" sz="1200" dirty="0"/>
          </a:p>
        </p:txBody>
      </p:sp>
      <p:sp>
        <p:nvSpPr>
          <p:cNvPr id="73" name="Text 71"/>
          <p:cNvSpPr/>
          <p:nvPr/>
        </p:nvSpPr>
        <p:spPr>
          <a:xfrm>
            <a:off x="16586746" y="6145485"/>
            <a:ext cx="624855" cy="242888"/>
          </a:xfrm>
          <a:prstGeom prst="rect">
            <a:avLst/>
          </a:prstGeom>
          <a:noFill/>
          <a:ln/>
        </p:spPr>
        <p:txBody>
          <a:bodyPr wrap="square" lIns="25400" tIns="25400" rIns="25400" bIns="25400" rtlCol="0" anchor="t">
            <a:normAutofit/>
          </a:bodyPr>
          <a:lstStyle/>
          <a:p>
            <a:pPr marL="0" indent="0" algn="l">
              <a:buNone/>
            </a:pPr>
            <a:r>
              <a:rPr lang="en-US" sz="1200" b="1" dirty="0">
                <a:solidFill>
                  <a:srgbClr val="FF5A1F"/>
                </a:solidFill>
                <a:latin typeface="JetBrains Mono" pitchFamily="34" charset="0"/>
                <a:ea typeface="JetBrains Mono" pitchFamily="34" charset="-122"/>
                <a:cs typeface="JetBrains Mono" pitchFamily="34" charset="-120"/>
              </a:rPr>
              <a:t>+$3.0B</a:t>
            </a:r>
            <a:endParaRPr lang="en-US" sz="1200" dirty="0"/>
          </a:p>
        </p:txBody>
      </p:sp>
      <p:sp>
        <p:nvSpPr>
          <p:cNvPr id="74" name="Text 72"/>
          <p:cNvSpPr/>
          <p:nvPr/>
        </p:nvSpPr>
        <p:spPr>
          <a:xfrm>
            <a:off x="952500" y="9767888"/>
            <a:ext cx="12908264"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FF5A1F"/>
                </a:solidFill>
                <a:latin typeface="JetBrains Mono" pitchFamily="34" charset="0"/>
                <a:ea typeface="JetBrains Mono" pitchFamily="34" charset="-122"/>
                <a:cs typeface="JetBrains Mono" pitchFamily="34" charset="-120"/>
              </a:rPr>
              <a:t>LECTURE 3B / ARUNDEL </a:t>
            </a:r>
            <a:r>
              <a:rPr lang="en-US" sz="1050" kern="0" spc="147" dirty="0">
                <a:solidFill>
                  <a:srgbClr val="7A776E"/>
                </a:solidFill>
                <a:latin typeface="JetBrains Mono" pitchFamily="34" charset="0"/>
                <a:ea typeface="JetBrains Mono" pitchFamily="34" charset="-122"/>
                <a:cs typeface="JetBrains Mono" pitchFamily="34" charset="-120"/>
              </a:rPr>
              <a:t>— LIKE ARUNDEL'S SEQUEL RIGHTS, WHOOP'S EXPANSION OPTIONS ARE CALL OPTIONS ON UNCERTAIN FUTURE CASH FLOWS.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5922675"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07 / 12</a:t>
            </a:r>
            <a:endParaRPr lang="en-US" sz="1050" dirty="0"/>
          </a:p>
        </p:txBody>
      </p:sp>
      <p:sp>
        <p:nvSpPr>
          <p:cNvPr id="4" name="Text 2"/>
          <p:cNvSpPr/>
          <p:nvPr/>
        </p:nvSpPr>
        <p:spPr>
          <a:xfrm>
            <a:off x="16842060" y="342900"/>
            <a:ext cx="569640"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COMPS</a:t>
            </a:r>
            <a:endParaRPr lang="en-US" sz="1050" dirty="0"/>
          </a:p>
        </p:txBody>
      </p:sp>
      <p:sp>
        <p:nvSpPr>
          <p:cNvPr id="5" name="Text 3"/>
          <p:cNvSpPr/>
          <p:nvPr/>
        </p:nvSpPr>
        <p:spPr>
          <a:xfrm>
            <a:off x="952500" y="1047750"/>
            <a:ext cx="16874490"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FF5A1F"/>
                </a:solidFill>
                <a:latin typeface="JetBrains Mono" pitchFamily="34" charset="0"/>
                <a:ea typeface="JetBrains Mono" pitchFamily="34" charset="-122"/>
                <a:cs typeface="JetBrains Mono" pitchFamily="34" charset="-120"/>
              </a:rPr>
              <a:t>SLIDE 07 · TRADING COMPS</a:t>
            </a:r>
            <a:endParaRPr lang="en-US" sz="1350" dirty="0"/>
          </a:p>
        </p:txBody>
      </p:sp>
      <p:sp>
        <p:nvSpPr>
          <p:cNvPr id="6" name="Text 4"/>
          <p:cNvSpPr/>
          <p:nvPr/>
        </p:nvSpPr>
        <p:spPr>
          <a:xfrm>
            <a:off x="952500" y="1409700"/>
            <a:ext cx="16874490" cy="63244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b="1" kern="0" spc="-81" dirty="0">
                <a:solidFill>
                  <a:srgbClr val="0A0A0A"/>
                </a:solidFill>
                <a:latin typeface="Space Grotesk" pitchFamily="34" charset="0"/>
                <a:ea typeface="Space Grotesk" pitchFamily="34" charset="-122"/>
                <a:cs typeface="Space Grotesk" pitchFamily="34" charset="-120"/>
              </a:rPr>
              <a:t>The comp range </a:t>
            </a:r>
            <a:r>
              <a:rPr lang="en-US" sz="4500" b="1" kern="0" spc="-81" dirty="0">
                <a:solidFill>
                  <a:srgbClr val="FF5A1F"/>
                </a:solidFill>
                <a:latin typeface="Space Grotesk" pitchFamily="34" charset="0"/>
                <a:ea typeface="Space Grotesk" pitchFamily="34" charset="-122"/>
                <a:cs typeface="Space Grotesk" pitchFamily="34" charset="-120"/>
              </a:rPr>
              <a:t>is </a:t>
            </a:r>
            <a:r>
              <a:rPr lang="en-US" sz="4500" b="1" kern="0" spc="-81" dirty="0">
                <a:solidFill>
                  <a:srgbClr val="0A0A0A"/>
                </a:solidFill>
                <a:latin typeface="Space Grotesk" pitchFamily="34" charset="0"/>
                <a:ea typeface="Space Grotesk" pitchFamily="34" charset="-122"/>
                <a:cs typeface="Space Grotesk" pitchFamily="34" charset="-120"/>
              </a:rPr>
              <a:t>the analysis.</a:t>
            </a:r>
            <a:endParaRPr lang="en-US" sz="4500" dirty="0"/>
          </a:p>
        </p:txBody>
      </p:sp>
      <p:sp>
        <p:nvSpPr>
          <p:cNvPr id="7" name="Text 5"/>
          <p:cNvSpPr/>
          <p:nvPr/>
        </p:nvSpPr>
        <p:spPr>
          <a:xfrm>
            <a:off x="952500" y="2137395"/>
            <a:ext cx="14716125" cy="731490"/>
          </a:xfrm>
          <a:prstGeom prst="rect">
            <a:avLst/>
          </a:prstGeom>
          <a:noFill/>
          <a:ln/>
        </p:spPr>
        <p:txBody>
          <a:bodyPr wrap="square" lIns="25400" tIns="25400" rIns="25400" bIns="25400" rtlCol="0" anchor="t">
            <a:normAutofit/>
          </a:bodyPr>
          <a:lstStyle/>
          <a:p>
            <a:pPr marL="0" indent="0" algn="l">
              <a:lnSpc>
                <a:spcPct val="140000"/>
              </a:lnSpc>
              <a:buNone/>
            </a:pPr>
            <a:r>
              <a:rPr lang="en-US" sz="1950" kern="0" spc="-10" dirty="0">
                <a:solidFill>
                  <a:srgbClr val="3A3A3A"/>
                </a:solidFill>
                <a:latin typeface="Space Grotesk" pitchFamily="34" charset="0"/>
                <a:ea typeface="Space Grotesk" pitchFamily="34" charset="-122"/>
                <a:cs typeface="Space Grotesk" pitchFamily="34" charset="-120"/>
              </a:rPr>
              <a:t>Each bucket implies a different valuation; the spread quantifies the identity question — and not all comps survive the public-market test equally.</a:t>
            </a:r>
            <a:endParaRPr lang="en-US" sz="1950" dirty="0"/>
          </a:p>
        </p:txBody>
      </p:sp>
      <p:sp>
        <p:nvSpPr>
          <p:cNvPr id="8" name="Shape 6"/>
          <p:cNvSpPr/>
          <p:nvPr/>
        </p:nvSpPr>
        <p:spPr>
          <a:xfrm>
            <a:off x="952500" y="3135585"/>
            <a:ext cx="9601200" cy="4953000"/>
          </a:xfrm>
          <a:prstGeom prst="rect">
            <a:avLst/>
          </a:prstGeom>
          <a:solidFill>
            <a:srgbClr val="F6F5F2"/>
          </a:solidFill>
          <a:ln w="9525">
            <a:solidFill>
              <a:srgbClr val="E2DFD8"/>
            </a:solidFill>
            <a:prstDash val="solid"/>
          </a:ln>
        </p:spPr>
        <p:txBody>
          <a:bodyPr/>
          <a:lstStyle/>
          <a:p>
            <a:endParaRPr lang="en-US"/>
          </a:p>
        </p:txBody>
      </p:sp>
      <p:sp>
        <p:nvSpPr>
          <p:cNvPr id="9" name="Text 7"/>
          <p:cNvSpPr/>
          <p:nvPr/>
        </p:nvSpPr>
        <p:spPr>
          <a:xfrm rot="-5400000">
            <a:off x="1077106" y="5526360"/>
            <a:ext cx="1724025" cy="209550"/>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7A776E"/>
                </a:solidFill>
                <a:latin typeface="JetBrains Mono" pitchFamily="34" charset="0"/>
                <a:ea typeface="JetBrains Mono" pitchFamily="34" charset="-122"/>
                <a:cs typeface="JetBrains Mono" pitchFamily="34" charset="-120"/>
              </a:rPr>
              <a:t>EV / REVENUE (NTM)</a:t>
            </a:r>
            <a:endParaRPr lang="en-US" sz="975" dirty="0"/>
          </a:p>
        </p:txBody>
      </p:sp>
      <p:sp>
        <p:nvSpPr>
          <p:cNvPr id="10" name="Text 8"/>
          <p:cNvSpPr/>
          <p:nvPr/>
        </p:nvSpPr>
        <p:spPr>
          <a:xfrm>
            <a:off x="4653521" y="7836173"/>
            <a:ext cx="2275359" cy="204787"/>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7A776E"/>
                </a:solidFill>
                <a:latin typeface="JetBrains Mono" pitchFamily="34" charset="0"/>
                <a:ea typeface="JetBrains Mono" pitchFamily="34" charset="-122"/>
                <a:cs typeface="JetBrains Mono" pitchFamily="34" charset="-120"/>
              </a:rPr>
              <a:t>REVENUE GROWTH — NTM YOY</a:t>
            </a:r>
            <a:endParaRPr lang="en-US" sz="975" dirty="0"/>
          </a:p>
        </p:txBody>
      </p:sp>
      <p:sp>
        <p:nvSpPr>
          <p:cNvPr id="11" name="Text 9"/>
          <p:cNvSpPr/>
          <p:nvPr/>
        </p:nvSpPr>
        <p:spPr>
          <a:xfrm>
            <a:off x="1426815" y="7407548"/>
            <a:ext cx="20196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0×</a:t>
            </a:r>
            <a:endParaRPr lang="en-US" sz="825" dirty="0"/>
          </a:p>
        </p:txBody>
      </p:sp>
      <p:sp>
        <p:nvSpPr>
          <p:cNvPr id="12" name="Text 10"/>
          <p:cNvSpPr/>
          <p:nvPr/>
        </p:nvSpPr>
        <p:spPr>
          <a:xfrm>
            <a:off x="1426815" y="6399088"/>
            <a:ext cx="20196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3×</a:t>
            </a:r>
            <a:endParaRPr lang="en-US" sz="825" dirty="0"/>
          </a:p>
        </p:txBody>
      </p:sp>
      <p:sp>
        <p:nvSpPr>
          <p:cNvPr id="13" name="Text 11"/>
          <p:cNvSpPr/>
          <p:nvPr/>
        </p:nvSpPr>
        <p:spPr>
          <a:xfrm>
            <a:off x="1426815" y="5390629"/>
            <a:ext cx="20196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6×</a:t>
            </a:r>
            <a:endParaRPr lang="en-US" sz="825" dirty="0"/>
          </a:p>
        </p:txBody>
      </p:sp>
      <p:sp>
        <p:nvSpPr>
          <p:cNvPr id="14" name="Text 12"/>
          <p:cNvSpPr/>
          <p:nvPr/>
        </p:nvSpPr>
        <p:spPr>
          <a:xfrm>
            <a:off x="1426815" y="4382170"/>
            <a:ext cx="20196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9×</a:t>
            </a:r>
            <a:endParaRPr lang="en-US" sz="825" dirty="0"/>
          </a:p>
        </p:txBody>
      </p:sp>
      <p:sp>
        <p:nvSpPr>
          <p:cNvPr id="15" name="Text 13"/>
          <p:cNvSpPr/>
          <p:nvPr/>
        </p:nvSpPr>
        <p:spPr>
          <a:xfrm>
            <a:off x="1363935" y="3373710"/>
            <a:ext cx="26484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12×</a:t>
            </a:r>
            <a:endParaRPr lang="en-US" sz="825" dirty="0"/>
          </a:p>
        </p:txBody>
      </p:sp>
      <p:sp>
        <p:nvSpPr>
          <p:cNvPr id="16" name="Text 14"/>
          <p:cNvSpPr/>
          <p:nvPr/>
        </p:nvSpPr>
        <p:spPr>
          <a:xfrm>
            <a:off x="1571625" y="7598048"/>
            <a:ext cx="20196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0%</a:t>
            </a:r>
            <a:endParaRPr lang="en-US" sz="825" dirty="0"/>
          </a:p>
        </p:txBody>
      </p:sp>
      <p:sp>
        <p:nvSpPr>
          <p:cNvPr id="17" name="Text 15"/>
          <p:cNvSpPr/>
          <p:nvPr/>
        </p:nvSpPr>
        <p:spPr>
          <a:xfrm>
            <a:off x="3663330" y="7598048"/>
            <a:ext cx="26484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15%</a:t>
            </a:r>
            <a:endParaRPr lang="en-US" sz="825" dirty="0"/>
          </a:p>
        </p:txBody>
      </p:sp>
      <p:sp>
        <p:nvSpPr>
          <p:cNvPr id="18" name="Text 16"/>
          <p:cNvSpPr/>
          <p:nvPr/>
        </p:nvSpPr>
        <p:spPr>
          <a:xfrm>
            <a:off x="5817840" y="7598048"/>
            <a:ext cx="26484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30%</a:t>
            </a:r>
            <a:endParaRPr lang="en-US" sz="825" dirty="0"/>
          </a:p>
        </p:txBody>
      </p:sp>
      <p:sp>
        <p:nvSpPr>
          <p:cNvPr id="19" name="Text 17"/>
          <p:cNvSpPr/>
          <p:nvPr/>
        </p:nvSpPr>
        <p:spPr>
          <a:xfrm>
            <a:off x="7972425" y="7598048"/>
            <a:ext cx="26484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45%</a:t>
            </a:r>
            <a:endParaRPr lang="en-US" sz="825" dirty="0"/>
          </a:p>
        </p:txBody>
      </p:sp>
      <p:sp>
        <p:nvSpPr>
          <p:cNvPr id="20" name="Text 18"/>
          <p:cNvSpPr/>
          <p:nvPr/>
        </p:nvSpPr>
        <p:spPr>
          <a:xfrm>
            <a:off x="10126935" y="7598048"/>
            <a:ext cx="264840" cy="176212"/>
          </a:xfrm>
          <a:prstGeom prst="rect">
            <a:avLst/>
          </a:prstGeom>
          <a:noFill/>
          <a:ln/>
        </p:spPr>
        <p:txBody>
          <a:bodyPr wrap="square" lIns="25400" tIns="25400" rIns="25400" bIns="25400" rtlCol="0" anchor="t">
            <a:normAutofit lnSpcReduction="10000"/>
          </a:bodyPr>
          <a:lstStyle/>
          <a:p>
            <a:pPr marL="0" indent="0" algn="l">
              <a:buNone/>
            </a:pPr>
            <a:r>
              <a:rPr lang="en-US" sz="825" dirty="0">
                <a:solidFill>
                  <a:srgbClr val="7A776E"/>
                </a:solidFill>
                <a:latin typeface="JetBrains Mono" pitchFamily="34" charset="0"/>
                <a:ea typeface="JetBrains Mono" pitchFamily="34" charset="-122"/>
                <a:cs typeface="JetBrains Mono" pitchFamily="34" charset="-120"/>
              </a:rPr>
              <a:t>60%</a:t>
            </a:r>
            <a:endParaRPr lang="en-US" sz="825" dirty="0"/>
          </a:p>
        </p:txBody>
      </p:sp>
      <p:sp>
        <p:nvSpPr>
          <p:cNvPr id="21" name="Shape 19"/>
          <p:cNvSpPr/>
          <p:nvPr/>
        </p:nvSpPr>
        <p:spPr>
          <a:xfrm>
            <a:off x="1571625" y="3373710"/>
            <a:ext cx="8743950" cy="4171950"/>
          </a:xfrm>
          <a:prstGeom prst="rect">
            <a:avLst/>
          </a:prstGeom>
          <a:solidFill>
            <a:srgbClr val="000000">
              <a:alpha val="4000"/>
            </a:srgbClr>
          </a:solidFill>
          <a:ln/>
        </p:spPr>
        <p:txBody>
          <a:bodyPr/>
          <a:lstStyle/>
          <a:p>
            <a:endParaRPr lang="en-US"/>
          </a:p>
        </p:txBody>
      </p:sp>
      <p:sp>
        <p:nvSpPr>
          <p:cNvPr id="22" name="Shape 20"/>
          <p:cNvSpPr/>
          <p:nvPr/>
        </p:nvSpPr>
        <p:spPr>
          <a:xfrm>
            <a:off x="3059757" y="6291783"/>
            <a:ext cx="171450" cy="171450"/>
          </a:xfrm>
          <a:prstGeom prst="ellipse">
            <a:avLst/>
          </a:prstGeom>
          <a:solidFill>
            <a:srgbClr val="D14B2A"/>
          </a:solidFill>
          <a:ln w="19050">
            <a:solidFill>
              <a:srgbClr val="FFFFFF"/>
            </a:solidFill>
            <a:prstDash val="solid"/>
          </a:ln>
          <a:effectLst>
            <a:outerShdw blurRad="101600" dist="50800" dir="16200000" algn="bl" rotWithShape="0">
              <a:srgbClr val="D14B2A">
                <a:alpha val="100000"/>
              </a:srgbClr>
            </a:outerShdw>
          </a:effectLst>
        </p:spPr>
        <p:txBody>
          <a:bodyPr/>
          <a:lstStyle/>
          <a:p>
            <a:endParaRPr lang="en-US"/>
          </a:p>
        </p:txBody>
      </p:sp>
      <p:sp>
        <p:nvSpPr>
          <p:cNvPr id="23" name="Text 21"/>
          <p:cNvSpPr/>
          <p:nvPr/>
        </p:nvSpPr>
        <p:spPr>
          <a:xfrm>
            <a:off x="3193107" y="6425133"/>
            <a:ext cx="975196"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Garmin · 2.4×</a:t>
            </a:r>
            <a:endParaRPr lang="en-US" sz="825" dirty="0"/>
          </a:p>
        </p:txBody>
      </p:sp>
      <p:sp>
        <p:nvSpPr>
          <p:cNvPr id="24" name="Shape 22"/>
          <p:cNvSpPr/>
          <p:nvPr/>
        </p:nvSpPr>
        <p:spPr>
          <a:xfrm>
            <a:off x="2185392" y="6625530"/>
            <a:ext cx="171450" cy="171450"/>
          </a:xfrm>
          <a:prstGeom prst="ellipse">
            <a:avLst/>
          </a:prstGeom>
          <a:solidFill>
            <a:srgbClr val="D14B2A"/>
          </a:solidFill>
          <a:ln w="19050">
            <a:solidFill>
              <a:srgbClr val="FFFFFF"/>
            </a:solidFill>
            <a:prstDash val="solid"/>
          </a:ln>
          <a:effectLst>
            <a:outerShdw blurRad="101600" dist="50800" dir="16200000" algn="bl" rotWithShape="0">
              <a:srgbClr val="D14B2A">
                <a:alpha val="100000"/>
              </a:srgbClr>
            </a:outerShdw>
          </a:effectLst>
        </p:spPr>
        <p:txBody>
          <a:bodyPr/>
          <a:lstStyle/>
          <a:p>
            <a:endParaRPr lang="en-US"/>
          </a:p>
        </p:txBody>
      </p:sp>
      <p:sp>
        <p:nvSpPr>
          <p:cNvPr id="25" name="Text 23"/>
          <p:cNvSpPr/>
          <p:nvPr/>
        </p:nvSpPr>
        <p:spPr>
          <a:xfrm>
            <a:off x="2318742" y="6758880"/>
            <a:ext cx="906066"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GoPro · 0.9×</a:t>
            </a:r>
            <a:endParaRPr lang="en-US" sz="825" dirty="0"/>
          </a:p>
        </p:txBody>
      </p:sp>
      <p:sp>
        <p:nvSpPr>
          <p:cNvPr id="26" name="Shape 24"/>
          <p:cNvSpPr/>
          <p:nvPr/>
        </p:nvSpPr>
        <p:spPr>
          <a:xfrm>
            <a:off x="2710011" y="6208291"/>
            <a:ext cx="171450" cy="171450"/>
          </a:xfrm>
          <a:prstGeom prst="ellipse">
            <a:avLst/>
          </a:prstGeom>
          <a:solidFill>
            <a:srgbClr val="D14B2A"/>
          </a:solidFill>
          <a:ln w="19050">
            <a:solidFill>
              <a:srgbClr val="FFFFFF"/>
            </a:solidFill>
            <a:prstDash val="solid"/>
          </a:ln>
          <a:effectLst>
            <a:outerShdw blurRad="101600" dist="50800" dir="16200000" algn="bl" rotWithShape="0">
              <a:srgbClr val="D14B2A">
                <a:alpha val="100000"/>
              </a:srgbClr>
            </a:outerShdw>
          </a:effectLst>
        </p:spPr>
        <p:txBody>
          <a:bodyPr/>
          <a:lstStyle/>
          <a:p>
            <a:endParaRPr lang="en-US"/>
          </a:p>
        </p:txBody>
      </p:sp>
      <p:sp>
        <p:nvSpPr>
          <p:cNvPr id="27" name="Text 25"/>
          <p:cNvSpPr/>
          <p:nvPr/>
        </p:nvSpPr>
        <p:spPr>
          <a:xfrm>
            <a:off x="2843361" y="5998741"/>
            <a:ext cx="975196"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Fitbit · 1.6×</a:t>
            </a:r>
            <a:endParaRPr lang="en-US" sz="825" dirty="0"/>
          </a:p>
        </p:txBody>
      </p:sp>
      <p:sp>
        <p:nvSpPr>
          <p:cNvPr id="28" name="Shape 26"/>
          <p:cNvSpPr/>
          <p:nvPr/>
        </p:nvSpPr>
        <p:spPr>
          <a:xfrm>
            <a:off x="4283943" y="5582543"/>
            <a:ext cx="171450" cy="171450"/>
          </a:xfrm>
          <a:prstGeom prst="ellipse">
            <a:avLst/>
          </a:prstGeom>
          <a:solidFill>
            <a:srgbClr val="1F4FB5"/>
          </a:solidFill>
          <a:ln w="19050">
            <a:solidFill>
              <a:srgbClr val="FFFFFF"/>
            </a:solidFill>
            <a:prstDash val="solid"/>
          </a:ln>
          <a:effectLst>
            <a:outerShdw blurRad="101600" dist="50800" dir="16200000" algn="bl" rotWithShape="0">
              <a:srgbClr val="1F4FB5">
                <a:alpha val="100000"/>
              </a:srgbClr>
            </a:outerShdw>
          </a:effectLst>
        </p:spPr>
        <p:txBody>
          <a:bodyPr/>
          <a:lstStyle/>
          <a:p>
            <a:endParaRPr lang="en-US"/>
          </a:p>
        </p:txBody>
      </p:sp>
      <p:sp>
        <p:nvSpPr>
          <p:cNvPr id="29" name="Text 27"/>
          <p:cNvSpPr/>
          <p:nvPr/>
        </p:nvSpPr>
        <p:spPr>
          <a:xfrm>
            <a:off x="4417293" y="5715893"/>
            <a:ext cx="906066"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Sonos · 3.2×</a:t>
            </a:r>
            <a:endParaRPr lang="en-US" sz="825" dirty="0"/>
          </a:p>
        </p:txBody>
      </p:sp>
      <p:sp>
        <p:nvSpPr>
          <p:cNvPr id="30" name="Shape 28"/>
          <p:cNvSpPr/>
          <p:nvPr/>
        </p:nvSpPr>
        <p:spPr>
          <a:xfrm>
            <a:off x="3584377" y="5874544"/>
            <a:ext cx="171450" cy="171450"/>
          </a:xfrm>
          <a:prstGeom prst="ellipse">
            <a:avLst/>
          </a:prstGeom>
          <a:solidFill>
            <a:srgbClr val="1F4FB5"/>
          </a:solidFill>
          <a:ln w="19050">
            <a:solidFill>
              <a:srgbClr val="FFFFFF"/>
            </a:solidFill>
            <a:prstDash val="solid"/>
          </a:ln>
          <a:effectLst>
            <a:outerShdw blurRad="101600" dist="50800" dir="16200000" algn="bl" rotWithShape="0">
              <a:srgbClr val="1F4FB5">
                <a:alpha val="100000"/>
              </a:srgbClr>
            </a:outerShdw>
          </a:effectLst>
        </p:spPr>
        <p:txBody>
          <a:bodyPr/>
          <a:lstStyle/>
          <a:p>
            <a:endParaRPr lang="en-US"/>
          </a:p>
        </p:txBody>
      </p:sp>
      <p:sp>
        <p:nvSpPr>
          <p:cNvPr id="31" name="Text 29"/>
          <p:cNvSpPr/>
          <p:nvPr/>
        </p:nvSpPr>
        <p:spPr>
          <a:xfrm>
            <a:off x="3717727" y="6007894"/>
            <a:ext cx="1044327"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Peloton · 2.6×</a:t>
            </a:r>
            <a:endParaRPr lang="en-US" sz="825" dirty="0"/>
          </a:p>
        </p:txBody>
      </p:sp>
      <p:sp>
        <p:nvSpPr>
          <p:cNvPr id="32" name="Shape 30"/>
          <p:cNvSpPr/>
          <p:nvPr/>
        </p:nvSpPr>
        <p:spPr>
          <a:xfrm>
            <a:off x="4808562" y="5290468"/>
            <a:ext cx="171450" cy="171450"/>
          </a:xfrm>
          <a:prstGeom prst="ellipse">
            <a:avLst/>
          </a:prstGeom>
          <a:solidFill>
            <a:srgbClr val="1F4FB5"/>
          </a:solidFill>
          <a:ln w="19050">
            <a:solidFill>
              <a:srgbClr val="FFFFFF"/>
            </a:solidFill>
            <a:prstDash val="solid"/>
          </a:ln>
          <a:effectLst>
            <a:outerShdw blurRad="101600" dist="50800" dir="16200000" algn="bl" rotWithShape="0">
              <a:srgbClr val="1F4FB5">
                <a:alpha val="100000"/>
              </a:srgbClr>
            </a:outerShdw>
          </a:effectLst>
        </p:spPr>
        <p:txBody>
          <a:bodyPr/>
          <a:lstStyle/>
          <a:p>
            <a:endParaRPr lang="en-US"/>
          </a:p>
        </p:txBody>
      </p:sp>
      <p:sp>
        <p:nvSpPr>
          <p:cNvPr id="33" name="Text 31"/>
          <p:cNvSpPr/>
          <p:nvPr/>
        </p:nvSpPr>
        <p:spPr>
          <a:xfrm>
            <a:off x="4941912" y="5423818"/>
            <a:ext cx="836935"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Roku · 4.1×</a:t>
            </a:r>
            <a:endParaRPr lang="en-US" sz="825" dirty="0"/>
          </a:p>
        </p:txBody>
      </p:sp>
      <p:sp>
        <p:nvSpPr>
          <p:cNvPr id="34" name="Shape 32"/>
          <p:cNvSpPr/>
          <p:nvPr/>
        </p:nvSpPr>
        <p:spPr>
          <a:xfrm>
            <a:off x="5682928" y="4205808"/>
            <a:ext cx="171450" cy="171450"/>
          </a:xfrm>
          <a:prstGeom prst="ellipse">
            <a:avLst/>
          </a:prstGeom>
          <a:solidFill>
            <a:srgbClr val="1F7A3D"/>
          </a:solidFill>
          <a:ln w="19050">
            <a:solidFill>
              <a:srgbClr val="FFFFFF"/>
            </a:solidFill>
            <a:prstDash val="solid"/>
          </a:ln>
          <a:effectLst>
            <a:outerShdw blurRad="101600" dist="50800" dir="16200000" algn="bl" rotWithShape="0">
              <a:srgbClr val="1F7A3D">
                <a:alpha val="100000"/>
              </a:srgbClr>
            </a:outerShdw>
          </a:effectLst>
        </p:spPr>
        <p:txBody>
          <a:bodyPr/>
          <a:lstStyle/>
          <a:p>
            <a:endParaRPr lang="en-US"/>
          </a:p>
        </p:txBody>
      </p:sp>
      <p:sp>
        <p:nvSpPr>
          <p:cNvPr id="35" name="Text 33"/>
          <p:cNvSpPr/>
          <p:nvPr/>
        </p:nvSpPr>
        <p:spPr>
          <a:xfrm>
            <a:off x="5816278" y="4339158"/>
            <a:ext cx="975196"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Dexcom · 9.4×</a:t>
            </a:r>
            <a:endParaRPr lang="en-US" sz="825" dirty="0"/>
          </a:p>
        </p:txBody>
      </p:sp>
      <p:sp>
        <p:nvSpPr>
          <p:cNvPr id="36" name="Shape 34"/>
          <p:cNvSpPr/>
          <p:nvPr/>
        </p:nvSpPr>
        <p:spPr>
          <a:xfrm>
            <a:off x="5158308" y="4539555"/>
            <a:ext cx="171450" cy="171450"/>
          </a:xfrm>
          <a:prstGeom prst="ellipse">
            <a:avLst/>
          </a:prstGeom>
          <a:solidFill>
            <a:srgbClr val="1F7A3D"/>
          </a:solidFill>
          <a:ln w="19050">
            <a:solidFill>
              <a:srgbClr val="FFFFFF"/>
            </a:solidFill>
            <a:prstDash val="solid"/>
          </a:ln>
          <a:effectLst>
            <a:outerShdw blurRad="101600" dist="50800" dir="16200000" algn="bl" rotWithShape="0">
              <a:srgbClr val="1F7A3D">
                <a:alpha val="100000"/>
              </a:srgbClr>
            </a:outerShdw>
          </a:effectLst>
        </p:spPr>
        <p:txBody>
          <a:bodyPr/>
          <a:lstStyle/>
          <a:p>
            <a:endParaRPr lang="en-US"/>
          </a:p>
        </p:txBody>
      </p:sp>
      <p:sp>
        <p:nvSpPr>
          <p:cNvPr id="37" name="Text 35"/>
          <p:cNvSpPr/>
          <p:nvPr/>
        </p:nvSpPr>
        <p:spPr>
          <a:xfrm>
            <a:off x="5291658" y="4672905"/>
            <a:ext cx="975196"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Masimo · 7.8×</a:t>
            </a:r>
            <a:endParaRPr lang="en-US" sz="825" dirty="0"/>
          </a:p>
        </p:txBody>
      </p:sp>
      <p:sp>
        <p:nvSpPr>
          <p:cNvPr id="38" name="Shape 36"/>
          <p:cNvSpPr/>
          <p:nvPr/>
        </p:nvSpPr>
        <p:spPr>
          <a:xfrm>
            <a:off x="6207621" y="4038898"/>
            <a:ext cx="171450" cy="171450"/>
          </a:xfrm>
          <a:prstGeom prst="ellipse">
            <a:avLst/>
          </a:prstGeom>
          <a:solidFill>
            <a:srgbClr val="1F7A3D"/>
          </a:solidFill>
          <a:ln w="19050">
            <a:solidFill>
              <a:srgbClr val="FFFFFF"/>
            </a:solidFill>
            <a:prstDash val="solid"/>
          </a:ln>
          <a:effectLst>
            <a:outerShdw blurRad="101600" dist="50800" dir="16200000" algn="bl" rotWithShape="0">
              <a:srgbClr val="1F7A3D">
                <a:alpha val="100000"/>
              </a:srgbClr>
            </a:outerShdw>
          </a:effectLst>
        </p:spPr>
        <p:txBody>
          <a:bodyPr/>
          <a:lstStyle/>
          <a:p>
            <a:endParaRPr lang="en-US"/>
          </a:p>
        </p:txBody>
      </p:sp>
      <p:sp>
        <p:nvSpPr>
          <p:cNvPr id="39" name="Text 37"/>
          <p:cNvSpPr/>
          <p:nvPr/>
        </p:nvSpPr>
        <p:spPr>
          <a:xfrm>
            <a:off x="6340971" y="4172248"/>
            <a:ext cx="1113532"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iRhythm · 10.2×</a:t>
            </a:r>
            <a:endParaRPr lang="en-US" sz="825" dirty="0"/>
          </a:p>
        </p:txBody>
      </p:sp>
      <p:sp>
        <p:nvSpPr>
          <p:cNvPr id="40" name="Shape 38"/>
          <p:cNvSpPr/>
          <p:nvPr/>
        </p:nvSpPr>
        <p:spPr>
          <a:xfrm>
            <a:off x="4633689" y="4372645"/>
            <a:ext cx="171450" cy="171450"/>
          </a:xfrm>
          <a:prstGeom prst="ellipse">
            <a:avLst/>
          </a:prstGeom>
          <a:solidFill>
            <a:srgbClr val="1F7A3D"/>
          </a:solidFill>
          <a:ln w="19050">
            <a:solidFill>
              <a:srgbClr val="FFFFFF"/>
            </a:solidFill>
            <a:prstDash val="solid"/>
          </a:ln>
          <a:effectLst>
            <a:outerShdw blurRad="101600" dist="50800" dir="16200000" algn="bl" rotWithShape="0">
              <a:srgbClr val="1F7A3D">
                <a:alpha val="100000"/>
              </a:srgbClr>
            </a:outerShdw>
          </a:effectLst>
        </p:spPr>
        <p:txBody>
          <a:bodyPr/>
          <a:lstStyle/>
          <a:p>
            <a:endParaRPr lang="en-US"/>
          </a:p>
        </p:txBody>
      </p:sp>
      <p:sp>
        <p:nvSpPr>
          <p:cNvPr id="41" name="Text 39"/>
          <p:cNvSpPr/>
          <p:nvPr/>
        </p:nvSpPr>
        <p:spPr>
          <a:xfrm>
            <a:off x="4767039" y="4505995"/>
            <a:ext cx="1044327" cy="176212"/>
          </a:xfrm>
          <a:prstGeom prst="rect">
            <a:avLst/>
          </a:prstGeom>
          <a:noFill/>
          <a:ln/>
        </p:spPr>
        <p:txBody>
          <a:bodyPr wrap="square" lIns="25400" tIns="25400" rIns="25400" bIns="25400" rtlCol="0" anchor="t">
            <a:normAutofit lnSpcReduction="10000"/>
          </a:bodyPr>
          <a:lstStyle/>
          <a:p>
            <a:pPr marL="0" indent="0" algn="l">
              <a:buNone/>
            </a:pPr>
            <a:r>
              <a:rPr lang="en-US" sz="825" kern="0" spc="50" dirty="0">
                <a:solidFill>
                  <a:srgbClr val="3A3A3A"/>
                </a:solidFill>
                <a:latin typeface="JetBrains Mono" pitchFamily="34" charset="0"/>
                <a:ea typeface="JetBrains Mono" pitchFamily="34" charset="-122"/>
                <a:cs typeface="JetBrains Mono" pitchFamily="34" charset="-120"/>
              </a:rPr>
              <a:t>Inspire · 8.6×</a:t>
            </a:r>
            <a:endParaRPr lang="en-US" sz="825" dirty="0"/>
          </a:p>
        </p:txBody>
      </p:sp>
      <p:sp>
        <p:nvSpPr>
          <p:cNvPr id="42" name="Shape 40"/>
          <p:cNvSpPr/>
          <p:nvPr/>
        </p:nvSpPr>
        <p:spPr>
          <a:xfrm>
            <a:off x="7384107" y="6160666"/>
            <a:ext cx="266700" cy="266700"/>
          </a:xfrm>
          <a:prstGeom prst="ellipse">
            <a:avLst/>
          </a:prstGeom>
          <a:solidFill>
            <a:srgbClr val="FF5A1F"/>
          </a:solidFill>
          <a:ln w="28575">
            <a:solidFill>
              <a:srgbClr val="FFFFFF"/>
            </a:solidFill>
            <a:prstDash val="solid"/>
          </a:ln>
          <a:effectLst>
            <a:outerShdw blurRad="101600" dist="50800" dir="16200000" algn="bl" rotWithShape="0">
              <a:srgbClr val="FF5A1F">
                <a:alpha val="100000"/>
              </a:srgbClr>
            </a:outerShdw>
          </a:effectLst>
        </p:spPr>
        <p:txBody>
          <a:bodyPr/>
          <a:lstStyle/>
          <a:p>
            <a:endParaRPr lang="en-US"/>
          </a:p>
        </p:txBody>
      </p:sp>
      <p:sp>
        <p:nvSpPr>
          <p:cNvPr id="43" name="Shape 41"/>
          <p:cNvSpPr/>
          <p:nvPr/>
        </p:nvSpPr>
        <p:spPr>
          <a:xfrm>
            <a:off x="6971667" y="6075893"/>
            <a:ext cx="824880" cy="195263"/>
          </a:xfrm>
          <a:prstGeom prst="rect">
            <a:avLst/>
          </a:prstGeom>
          <a:solidFill>
            <a:srgbClr val="FFFFFF"/>
          </a:solidFill>
          <a:ln w="9525">
            <a:solidFill>
              <a:srgbClr val="FF5A1F"/>
            </a:solidFill>
            <a:prstDash val="solid"/>
          </a:ln>
        </p:spPr>
        <p:txBody>
          <a:bodyPr/>
          <a:lstStyle/>
          <a:p>
            <a:endParaRPr lang="en-US"/>
          </a:p>
        </p:txBody>
      </p:sp>
      <p:sp>
        <p:nvSpPr>
          <p:cNvPr id="44" name="Text 42"/>
          <p:cNvSpPr/>
          <p:nvPr/>
        </p:nvSpPr>
        <p:spPr>
          <a:xfrm>
            <a:off x="7038342" y="6104468"/>
            <a:ext cx="767730" cy="176212"/>
          </a:xfrm>
          <a:prstGeom prst="rect">
            <a:avLst/>
          </a:prstGeom>
          <a:noFill/>
          <a:ln/>
        </p:spPr>
        <p:txBody>
          <a:bodyPr wrap="square" lIns="25400" tIns="25400" rIns="25400" bIns="25400" rtlCol="0" anchor="t">
            <a:normAutofit fontScale="92500"/>
          </a:bodyPr>
          <a:lstStyle/>
          <a:p>
            <a:pPr marL="0" indent="0" algn="l">
              <a:buNone/>
            </a:pPr>
            <a:r>
              <a:rPr lang="en-US" sz="825" b="1" kern="0" spc="50" dirty="0">
                <a:solidFill>
                  <a:srgbClr val="FF5A1F"/>
                </a:solidFill>
                <a:latin typeface="JetBrains Mono" pitchFamily="34" charset="0"/>
                <a:ea typeface="JetBrains Mono" pitchFamily="34" charset="-122"/>
                <a:cs typeface="JetBrains Mono" pitchFamily="34" charset="-120"/>
              </a:rPr>
              <a:t>WHOOP — HW</a:t>
            </a:r>
            <a:endParaRPr lang="en-US" sz="825" dirty="0"/>
          </a:p>
        </p:txBody>
      </p:sp>
      <p:sp>
        <p:nvSpPr>
          <p:cNvPr id="45" name="Shape 43"/>
          <p:cNvSpPr/>
          <p:nvPr/>
        </p:nvSpPr>
        <p:spPr>
          <a:xfrm>
            <a:off x="7384107" y="5242843"/>
            <a:ext cx="266700" cy="266700"/>
          </a:xfrm>
          <a:prstGeom prst="ellipse">
            <a:avLst/>
          </a:prstGeom>
          <a:solidFill>
            <a:srgbClr val="FF5A1F"/>
          </a:solidFill>
          <a:ln w="28575">
            <a:solidFill>
              <a:srgbClr val="FFFFFF"/>
            </a:solidFill>
            <a:prstDash val="solid"/>
          </a:ln>
          <a:effectLst>
            <a:outerShdw blurRad="101600" dist="50800" dir="16200000" algn="bl" rotWithShape="0">
              <a:srgbClr val="FF5A1F">
                <a:alpha val="100000"/>
              </a:srgbClr>
            </a:outerShdw>
          </a:effectLst>
        </p:spPr>
        <p:txBody>
          <a:bodyPr/>
          <a:lstStyle/>
          <a:p>
            <a:endParaRPr lang="en-US"/>
          </a:p>
        </p:txBody>
      </p:sp>
      <p:sp>
        <p:nvSpPr>
          <p:cNvPr id="46" name="Shape 44"/>
          <p:cNvSpPr/>
          <p:nvPr/>
        </p:nvSpPr>
        <p:spPr>
          <a:xfrm>
            <a:off x="6937102" y="5158070"/>
            <a:ext cx="894011" cy="195263"/>
          </a:xfrm>
          <a:prstGeom prst="rect">
            <a:avLst/>
          </a:prstGeom>
          <a:solidFill>
            <a:srgbClr val="FFFFFF"/>
          </a:solidFill>
          <a:ln w="9525">
            <a:solidFill>
              <a:srgbClr val="FF5A1F"/>
            </a:solidFill>
            <a:prstDash val="solid"/>
          </a:ln>
        </p:spPr>
        <p:txBody>
          <a:bodyPr/>
          <a:lstStyle/>
          <a:p>
            <a:endParaRPr lang="en-US"/>
          </a:p>
        </p:txBody>
      </p:sp>
      <p:sp>
        <p:nvSpPr>
          <p:cNvPr id="47" name="Text 45"/>
          <p:cNvSpPr/>
          <p:nvPr/>
        </p:nvSpPr>
        <p:spPr>
          <a:xfrm>
            <a:off x="7003777" y="5186645"/>
            <a:ext cx="836861" cy="176212"/>
          </a:xfrm>
          <a:prstGeom prst="rect">
            <a:avLst/>
          </a:prstGeom>
          <a:noFill/>
          <a:ln/>
        </p:spPr>
        <p:txBody>
          <a:bodyPr wrap="square" lIns="25400" tIns="25400" rIns="25400" bIns="25400" rtlCol="0" anchor="t">
            <a:normAutofit lnSpcReduction="10000"/>
          </a:bodyPr>
          <a:lstStyle/>
          <a:p>
            <a:pPr marL="0" indent="0" algn="l">
              <a:buNone/>
            </a:pPr>
            <a:r>
              <a:rPr lang="en-US" sz="825" b="1" kern="0" spc="50" dirty="0">
                <a:solidFill>
                  <a:srgbClr val="FF5A1F"/>
                </a:solidFill>
                <a:latin typeface="JetBrains Mono" pitchFamily="34" charset="0"/>
                <a:ea typeface="JetBrains Mono" pitchFamily="34" charset="-122"/>
                <a:cs typeface="JetBrains Mono" pitchFamily="34" charset="-120"/>
              </a:rPr>
              <a:t>WHOOP — SUB</a:t>
            </a:r>
            <a:endParaRPr lang="en-US" sz="825" dirty="0"/>
          </a:p>
        </p:txBody>
      </p:sp>
      <p:sp>
        <p:nvSpPr>
          <p:cNvPr id="48" name="Shape 46"/>
          <p:cNvSpPr/>
          <p:nvPr/>
        </p:nvSpPr>
        <p:spPr>
          <a:xfrm>
            <a:off x="7384107" y="3991273"/>
            <a:ext cx="266700" cy="266700"/>
          </a:xfrm>
          <a:prstGeom prst="ellipse">
            <a:avLst/>
          </a:prstGeom>
          <a:solidFill>
            <a:srgbClr val="FF5A1F"/>
          </a:solidFill>
          <a:ln w="28575">
            <a:solidFill>
              <a:srgbClr val="FFFFFF"/>
            </a:solidFill>
            <a:prstDash val="solid"/>
          </a:ln>
          <a:effectLst>
            <a:outerShdw blurRad="101600" dist="50800" dir="16200000" algn="bl" rotWithShape="0">
              <a:srgbClr val="FF5A1F">
                <a:alpha val="100000"/>
              </a:srgbClr>
            </a:outerShdw>
          </a:effectLst>
        </p:spPr>
        <p:txBody>
          <a:bodyPr/>
          <a:lstStyle/>
          <a:p>
            <a:endParaRPr lang="en-US"/>
          </a:p>
        </p:txBody>
      </p:sp>
      <p:sp>
        <p:nvSpPr>
          <p:cNvPr id="49" name="Shape 47"/>
          <p:cNvSpPr/>
          <p:nvPr/>
        </p:nvSpPr>
        <p:spPr>
          <a:xfrm>
            <a:off x="6833369" y="3906500"/>
            <a:ext cx="1101477" cy="195263"/>
          </a:xfrm>
          <a:prstGeom prst="rect">
            <a:avLst/>
          </a:prstGeom>
          <a:solidFill>
            <a:srgbClr val="FFFFFF"/>
          </a:solidFill>
          <a:ln w="9525">
            <a:solidFill>
              <a:srgbClr val="FF5A1F"/>
            </a:solidFill>
            <a:prstDash val="solid"/>
          </a:ln>
        </p:spPr>
        <p:txBody>
          <a:bodyPr/>
          <a:lstStyle/>
          <a:p>
            <a:endParaRPr lang="en-US"/>
          </a:p>
        </p:txBody>
      </p:sp>
      <p:sp>
        <p:nvSpPr>
          <p:cNvPr id="50" name="Text 48"/>
          <p:cNvSpPr/>
          <p:nvPr/>
        </p:nvSpPr>
        <p:spPr>
          <a:xfrm>
            <a:off x="6900044" y="3935075"/>
            <a:ext cx="1044327" cy="176212"/>
          </a:xfrm>
          <a:prstGeom prst="rect">
            <a:avLst/>
          </a:prstGeom>
          <a:noFill/>
          <a:ln/>
        </p:spPr>
        <p:txBody>
          <a:bodyPr wrap="square" lIns="25400" tIns="25400" rIns="25400" bIns="25400" rtlCol="0" anchor="t">
            <a:normAutofit lnSpcReduction="10000"/>
          </a:bodyPr>
          <a:lstStyle/>
          <a:p>
            <a:pPr marL="0" indent="0" algn="l">
              <a:buNone/>
            </a:pPr>
            <a:r>
              <a:rPr lang="en-US" sz="825" b="1" kern="0" spc="50" dirty="0">
                <a:solidFill>
                  <a:srgbClr val="FF5A1F"/>
                </a:solidFill>
                <a:latin typeface="JetBrains Mono" pitchFamily="34" charset="0"/>
                <a:ea typeface="JetBrains Mono" pitchFamily="34" charset="-122"/>
                <a:cs typeface="JetBrains Mono" pitchFamily="34" charset="-120"/>
              </a:rPr>
              <a:t>WHOOP — HEALTH</a:t>
            </a:r>
            <a:endParaRPr lang="en-US" sz="825" dirty="0"/>
          </a:p>
        </p:txBody>
      </p:sp>
      <p:sp>
        <p:nvSpPr>
          <p:cNvPr id="51" name="Shape 49"/>
          <p:cNvSpPr/>
          <p:nvPr/>
        </p:nvSpPr>
        <p:spPr>
          <a:xfrm>
            <a:off x="10934700" y="3135585"/>
            <a:ext cx="6400800" cy="2457450"/>
          </a:xfrm>
          <a:prstGeom prst="rect">
            <a:avLst/>
          </a:prstGeom>
          <a:ln w="9525">
            <a:solidFill>
              <a:srgbClr val="E2DFD8"/>
            </a:solidFill>
            <a:prstDash val="solid"/>
          </a:ln>
        </p:spPr>
        <p:txBody>
          <a:bodyPr/>
          <a:lstStyle/>
          <a:p>
            <a:endParaRPr lang="en-US"/>
          </a:p>
        </p:txBody>
      </p:sp>
      <p:sp>
        <p:nvSpPr>
          <p:cNvPr id="52" name="Shape 50"/>
          <p:cNvSpPr/>
          <p:nvPr/>
        </p:nvSpPr>
        <p:spPr>
          <a:xfrm>
            <a:off x="10944225" y="3145110"/>
            <a:ext cx="6381750" cy="404813"/>
          </a:xfrm>
          <a:prstGeom prst="rect">
            <a:avLst/>
          </a:prstGeom>
          <a:solidFill>
            <a:srgbClr val="F6F5F2"/>
          </a:solidFill>
          <a:ln/>
        </p:spPr>
        <p:txBody>
          <a:bodyPr/>
          <a:lstStyle/>
          <a:p>
            <a:endParaRPr lang="en-US"/>
          </a:p>
        </p:txBody>
      </p:sp>
      <p:sp>
        <p:nvSpPr>
          <p:cNvPr id="53" name="Shape 51"/>
          <p:cNvSpPr/>
          <p:nvPr/>
        </p:nvSpPr>
        <p:spPr>
          <a:xfrm>
            <a:off x="10944225" y="3540398"/>
            <a:ext cx="6381750" cy="9525"/>
          </a:xfrm>
          <a:prstGeom prst="rect">
            <a:avLst/>
          </a:prstGeom>
          <a:solidFill>
            <a:srgbClr val="E2DFD8"/>
          </a:solidFill>
          <a:ln/>
        </p:spPr>
        <p:txBody>
          <a:bodyPr/>
          <a:lstStyle/>
          <a:p>
            <a:endParaRPr lang="en-US"/>
          </a:p>
        </p:txBody>
      </p:sp>
      <p:sp>
        <p:nvSpPr>
          <p:cNvPr id="54" name="Text 52"/>
          <p:cNvSpPr/>
          <p:nvPr/>
        </p:nvSpPr>
        <p:spPr>
          <a:xfrm>
            <a:off x="11115675" y="3259410"/>
            <a:ext cx="6230303" cy="204787"/>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7A776E"/>
                </a:solidFill>
                <a:latin typeface="JetBrains Mono" pitchFamily="34" charset="0"/>
                <a:ea typeface="JetBrains Mono" pitchFamily="34" charset="-122"/>
                <a:cs typeface="JetBrains Mono" pitchFamily="34" charset="-120"/>
              </a:rPr>
              <a:t>IMPLIED EQUITY VALUE AT BUCKET MEDIAN</a:t>
            </a:r>
            <a:endParaRPr lang="en-US" sz="975" dirty="0"/>
          </a:p>
        </p:txBody>
      </p:sp>
      <p:sp>
        <p:nvSpPr>
          <p:cNvPr id="55" name="Shape 53"/>
          <p:cNvSpPr/>
          <p:nvPr/>
        </p:nvSpPr>
        <p:spPr>
          <a:xfrm>
            <a:off x="10944225" y="4221435"/>
            <a:ext cx="6381750" cy="9525"/>
          </a:xfrm>
          <a:prstGeom prst="rect">
            <a:avLst/>
          </a:prstGeom>
          <a:solidFill>
            <a:srgbClr val="E2DFD8"/>
          </a:solidFill>
          <a:ln/>
        </p:spPr>
        <p:txBody>
          <a:bodyPr/>
          <a:lstStyle/>
          <a:p>
            <a:endParaRPr lang="en-US"/>
          </a:p>
        </p:txBody>
      </p:sp>
      <p:sp>
        <p:nvSpPr>
          <p:cNvPr id="56" name="Shape 54"/>
          <p:cNvSpPr/>
          <p:nvPr/>
        </p:nvSpPr>
        <p:spPr>
          <a:xfrm>
            <a:off x="11115675" y="3819004"/>
            <a:ext cx="133350" cy="133350"/>
          </a:xfrm>
          <a:prstGeom prst="ellipse">
            <a:avLst/>
          </a:prstGeom>
          <a:solidFill>
            <a:srgbClr val="D14B2A"/>
          </a:solidFill>
          <a:ln/>
        </p:spPr>
        <p:txBody>
          <a:bodyPr/>
          <a:lstStyle/>
          <a:p>
            <a:endParaRPr lang="en-US"/>
          </a:p>
        </p:txBody>
      </p:sp>
      <p:sp>
        <p:nvSpPr>
          <p:cNvPr id="57" name="Text 55"/>
          <p:cNvSpPr/>
          <p:nvPr/>
        </p:nvSpPr>
        <p:spPr>
          <a:xfrm>
            <a:off x="11401425" y="3683273"/>
            <a:ext cx="1483296" cy="257175"/>
          </a:xfrm>
          <a:prstGeom prst="rect">
            <a:avLst/>
          </a:prstGeom>
          <a:noFill/>
          <a:ln/>
        </p:spPr>
        <p:txBody>
          <a:bodyPr wrap="square" lIns="0" tIns="0" rIns="0" bIns="0" rtlCol="0" anchor="t">
            <a:normAutofit/>
          </a:bodyPr>
          <a:lstStyle/>
          <a:p>
            <a:pPr marL="0" indent="0" algn="l">
              <a:buNone/>
            </a:pPr>
            <a:r>
              <a:rPr lang="en-US" sz="1350" dirty="0">
                <a:solidFill>
                  <a:srgbClr val="0A0A0A"/>
                </a:solidFill>
                <a:latin typeface="Space Grotesk" pitchFamily="34" charset="0"/>
                <a:ea typeface="Space Grotesk" pitchFamily="34" charset="-122"/>
                <a:cs typeface="Space Grotesk" pitchFamily="34" charset="-120"/>
              </a:rPr>
              <a:t>Hardware bucket</a:t>
            </a:r>
            <a:endParaRPr lang="en-US" sz="1350" dirty="0"/>
          </a:p>
        </p:txBody>
      </p:sp>
      <p:sp>
        <p:nvSpPr>
          <p:cNvPr id="58" name="Text 56"/>
          <p:cNvSpPr/>
          <p:nvPr/>
        </p:nvSpPr>
        <p:spPr>
          <a:xfrm>
            <a:off x="11401425" y="3921398"/>
            <a:ext cx="5160455" cy="204787"/>
          </a:xfrm>
          <a:prstGeom prst="rect">
            <a:avLst/>
          </a:prstGeom>
          <a:noFill/>
          <a:ln/>
        </p:spPr>
        <p:txBody>
          <a:bodyPr wrap="square" lIns="25400" tIns="25400" rIns="25400" bIns="25400" rtlCol="0" anchor="t">
            <a:normAutofit/>
          </a:bodyPr>
          <a:lstStyle/>
          <a:p>
            <a:pPr marL="0" indent="0" algn="l">
              <a:buNone/>
            </a:pPr>
            <a:r>
              <a:rPr lang="en-US" sz="975" kern="0" spc="59" dirty="0">
                <a:solidFill>
                  <a:srgbClr val="7A776E"/>
                </a:solidFill>
                <a:latin typeface="JetBrains Mono" pitchFamily="34" charset="0"/>
                <a:ea typeface="JetBrains Mono" pitchFamily="34" charset="-122"/>
                <a:cs typeface="JetBrains Mono" pitchFamily="34" charset="-120"/>
              </a:rPr>
              <a:t>2× rev · ~$1.1B rev</a:t>
            </a:r>
            <a:endParaRPr lang="en-US" sz="975" dirty="0"/>
          </a:p>
        </p:txBody>
      </p:sp>
      <p:sp>
        <p:nvSpPr>
          <p:cNvPr id="59" name="Text 57"/>
          <p:cNvSpPr/>
          <p:nvPr/>
        </p:nvSpPr>
        <p:spPr>
          <a:xfrm>
            <a:off x="16525875" y="3747567"/>
            <a:ext cx="704850" cy="314325"/>
          </a:xfrm>
          <a:prstGeom prst="rect">
            <a:avLst/>
          </a:prstGeom>
          <a:noFill/>
          <a:ln/>
        </p:spPr>
        <p:txBody>
          <a:bodyPr wrap="square" lIns="25400" tIns="25400" rIns="25400" bIns="25400" rtlCol="0" anchor="t">
            <a:normAutofit/>
          </a:bodyPr>
          <a:lstStyle/>
          <a:p>
            <a:pPr marL="0" indent="0" algn="l">
              <a:buNone/>
            </a:pPr>
            <a:r>
              <a:rPr lang="en-US" sz="1650" b="1" dirty="0">
                <a:solidFill>
                  <a:srgbClr val="0A0A0A"/>
                </a:solidFill>
                <a:latin typeface="JetBrains Mono" pitchFamily="34" charset="0"/>
                <a:ea typeface="JetBrains Mono" pitchFamily="34" charset="-122"/>
                <a:cs typeface="JetBrains Mono" pitchFamily="34" charset="-120"/>
              </a:rPr>
              <a:t>$2.2B</a:t>
            </a:r>
            <a:endParaRPr lang="en-US" sz="1650" dirty="0"/>
          </a:p>
        </p:txBody>
      </p:sp>
      <p:sp>
        <p:nvSpPr>
          <p:cNvPr id="60" name="Shape 58"/>
          <p:cNvSpPr/>
          <p:nvPr/>
        </p:nvSpPr>
        <p:spPr>
          <a:xfrm>
            <a:off x="10944225" y="4902473"/>
            <a:ext cx="6381750" cy="9525"/>
          </a:xfrm>
          <a:prstGeom prst="rect">
            <a:avLst/>
          </a:prstGeom>
          <a:solidFill>
            <a:srgbClr val="E2DFD8"/>
          </a:solidFill>
          <a:ln/>
        </p:spPr>
        <p:txBody>
          <a:bodyPr/>
          <a:lstStyle/>
          <a:p>
            <a:endParaRPr lang="en-US"/>
          </a:p>
        </p:txBody>
      </p:sp>
      <p:sp>
        <p:nvSpPr>
          <p:cNvPr id="61" name="Shape 59"/>
          <p:cNvSpPr/>
          <p:nvPr/>
        </p:nvSpPr>
        <p:spPr>
          <a:xfrm>
            <a:off x="11115675" y="4500042"/>
            <a:ext cx="133350" cy="133350"/>
          </a:xfrm>
          <a:prstGeom prst="ellipse">
            <a:avLst/>
          </a:prstGeom>
          <a:solidFill>
            <a:srgbClr val="1F4FB5"/>
          </a:solidFill>
          <a:ln/>
        </p:spPr>
        <p:txBody>
          <a:bodyPr/>
          <a:lstStyle/>
          <a:p>
            <a:endParaRPr lang="en-US"/>
          </a:p>
        </p:txBody>
      </p:sp>
      <p:sp>
        <p:nvSpPr>
          <p:cNvPr id="62" name="Text 60"/>
          <p:cNvSpPr/>
          <p:nvPr/>
        </p:nvSpPr>
        <p:spPr>
          <a:xfrm>
            <a:off x="11401425" y="4364310"/>
            <a:ext cx="1761679" cy="257175"/>
          </a:xfrm>
          <a:prstGeom prst="rect">
            <a:avLst/>
          </a:prstGeom>
          <a:noFill/>
          <a:ln/>
        </p:spPr>
        <p:txBody>
          <a:bodyPr wrap="square" lIns="0" tIns="0" rIns="0" bIns="0" rtlCol="0" anchor="t">
            <a:normAutofit/>
          </a:bodyPr>
          <a:lstStyle/>
          <a:p>
            <a:pPr marL="0" indent="0" algn="l">
              <a:buNone/>
            </a:pPr>
            <a:r>
              <a:rPr lang="en-US" sz="1350" dirty="0">
                <a:solidFill>
                  <a:srgbClr val="0A0A0A"/>
                </a:solidFill>
                <a:latin typeface="Space Grotesk" pitchFamily="34" charset="0"/>
                <a:ea typeface="Space Grotesk" pitchFamily="34" charset="-122"/>
                <a:cs typeface="Space Grotesk" pitchFamily="34" charset="-120"/>
              </a:rPr>
              <a:t>Subscription bucket</a:t>
            </a:r>
            <a:endParaRPr lang="en-US" sz="1350" dirty="0"/>
          </a:p>
        </p:txBody>
      </p:sp>
      <p:sp>
        <p:nvSpPr>
          <p:cNvPr id="63" name="Text 61"/>
          <p:cNvSpPr/>
          <p:nvPr/>
        </p:nvSpPr>
        <p:spPr>
          <a:xfrm>
            <a:off x="11401425" y="4602435"/>
            <a:ext cx="5160455" cy="204787"/>
          </a:xfrm>
          <a:prstGeom prst="rect">
            <a:avLst/>
          </a:prstGeom>
          <a:noFill/>
          <a:ln/>
        </p:spPr>
        <p:txBody>
          <a:bodyPr wrap="square" lIns="25400" tIns="25400" rIns="25400" bIns="25400" rtlCol="0" anchor="t">
            <a:normAutofit/>
          </a:bodyPr>
          <a:lstStyle/>
          <a:p>
            <a:pPr marL="0" indent="0" algn="l">
              <a:buNone/>
            </a:pPr>
            <a:r>
              <a:rPr lang="en-US" sz="975" kern="0" spc="59" dirty="0">
                <a:solidFill>
                  <a:srgbClr val="7A776E"/>
                </a:solidFill>
                <a:latin typeface="JetBrains Mono" pitchFamily="34" charset="0"/>
                <a:ea typeface="JetBrains Mono" pitchFamily="34" charset="-122"/>
                <a:cs typeface="JetBrains Mono" pitchFamily="34" charset="-120"/>
              </a:rPr>
              <a:t>3.5× rev</a:t>
            </a:r>
            <a:endParaRPr lang="en-US" sz="975" dirty="0"/>
          </a:p>
        </p:txBody>
      </p:sp>
      <p:sp>
        <p:nvSpPr>
          <p:cNvPr id="64" name="Text 62"/>
          <p:cNvSpPr/>
          <p:nvPr/>
        </p:nvSpPr>
        <p:spPr>
          <a:xfrm>
            <a:off x="16525875" y="4428604"/>
            <a:ext cx="704850" cy="314325"/>
          </a:xfrm>
          <a:prstGeom prst="rect">
            <a:avLst/>
          </a:prstGeom>
          <a:noFill/>
          <a:ln/>
        </p:spPr>
        <p:txBody>
          <a:bodyPr wrap="square" lIns="25400" tIns="25400" rIns="25400" bIns="25400" rtlCol="0" anchor="t">
            <a:normAutofit/>
          </a:bodyPr>
          <a:lstStyle/>
          <a:p>
            <a:pPr marL="0" indent="0" algn="l">
              <a:buNone/>
            </a:pPr>
            <a:r>
              <a:rPr lang="en-US" sz="1650" b="1" dirty="0">
                <a:solidFill>
                  <a:srgbClr val="0A0A0A"/>
                </a:solidFill>
                <a:latin typeface="JetBrains Mono" pitchFamily="34" charset="0"/>
                <a:ea typeface="JetBrains Mono" pitchFamily="34" charset="-122"/>
                <a:cs typeface="JetBrains Mono" pitchFamily="34" charset="-120"/>
              </a:rPr>
              <a:t>$3.9B</a:t>
            </a:r>
            <a:endParaRPr lang="en-US" sz="1650" dirty="0"/>
          </a:p>
        </p:txBody>
      </p:sp>
      <p:sp>
        <p:nvSpPr>
          <p:cNvPr id="65" name="Shape 63"/>
          <p:cNvSpPr/>
          <p:nvPr/>
        </p:nvSpPr>
        <p:spPr>
          <a:xfrm>
            <a:off x="11115675" y="5181079"/>
            <a:ext cx="133350" cy="133350"/>
          </a:xfrm>
          <a:prstGeom prst="ellipse">
            <a:avLst/>
          </a:prstGeom>
          <a:solidFill>
            <a:srgbClr val="1F7A3D"/>
          </a:solidFill>
          <a:ln/>
        </p:spPr>
        <p:txBody>
          <a:bodyPr/>
          <a:lstStyle/>
          <a:p>
            <a:endParaRPr lang="en-US"/>
          </a:p>
        </p:txBody>
      </p:sp>
      <p:sp>
        <p:nvSpPr>
          <p:cNvPr id="66" name="Text 64"/>
          <p:cNvSpPr/>
          <p:nvPr/>
        </p:nvSpPr>
        <p:spPr>
          <a:xfrm>
            <a:off x="11401425" y="5045348"/>
            <a:ext cx="1699989" cy="257175"/>
          </a:xfrm>
          <a:prstGeom prst="rect">
            <a:avLst/>
          </a:prstGeom>
          <a:noFill/>
          <a:ln/>
        </p:spPr>
        <p:txBody>
          <a:bodyPr wrap="square" lIns="0" tIns="0" rIns="0" bIns="0" rtlCol="0" anchor="t">
            <a:normAutofit/>
          </a:bodyPr>
          <a:lstStyle/>
          <a:p>
            <a:pPr marL="0" indent="0" algn="l">
              <a:buNone/>
            </a:pPr>
            <a:r>
              <a:rPr lang="en-US" sz="1350" dirty="0">
                <a:solidFill>
                  <a:srgbClr val="0A0A0A"/>
                </a:solidFill>
                <a:latin typeface="Space Grotesk" pitchFamily="34" charset="0"/>
                <a:ea typeface="Space Grotesk" pitchFamily="34" charset="-122"/>
                <a:cs typeface="Space Grotesk" pitchFamily="34" charset="-120"/>
              </a:rPr>
              <a:t>Health-data bucket</a:t>
            </a:r>
            <a:endParaRPr lang="en-US" sz="1350" dirty="0"/>
          </a:p>
        </p:txBody>
      </p:sp>
      <p:sp>
        <p:nvSpPr>
          <p:cNvPr id="67" name="Text 65"/>
          <p:cNvSpPr/>
          <p:nvPr/>
        </p:nvSpPr>
        <p:spPr>
          <a:xfrm>
            <a:off x="11401425" y="5283473"/>
            <a:ext cx="5160455" cy="204787"/>
          </a:xfrm>
          <a:prstGeom prst="rect">
            <a:avLst/>
          </a:prstGeom>
          <a:noFill/>
          <a:ln/>
        </p:spPr>
        <p:txBody>
          <a:bodyPr wrap="square" lIns="25400" tIns="25400" rIns="25400" bIns="25400" rtlCol="0" anchor="t">
            <a:normAutofit/>
          </a:bodyPr>
          <a:lstStyle/>
          <a:p>
            <a:pPr marL="0" indent="0" algn="l">
              <a:buNone/>
            </a:pPr>
            <a:r>
              <a:rPr lang="en-US" sz="975" kern="0" spc="59" dirty="0">
                <a:solidFill>
                  <a:srgbClr val="7A776E"/>
                </a:solidFill>
                <a:latin typeface="JetBrains Mono" pitchFamily="34" charset="0"/>
                <a:ea typeface="JetBrains Mono" pitchFamily="34" charset="-122"/>
                <a:cs typeface="JetBrains Mono" pitchFamily="34" charset="-120"/>
              </a:rPr>
              <a:t>8.5× rev</a:t>
            </a:r>
            <a:endParaRPr lang="en-US" sz="975" dirty="0"/>
          </a:p>
        </p:txBody>
      </p:sp>
      <p:sp>
        <p:nvSpPr>
          <p:cNvPr id="68" name="Text 66"/>
          <p:cNvSpPr/>
          <p:nvPr/>
        </p:nvSpPr>
        <p:spPr>
          <a:xfrm>
            <a:off x="16525875" y="5109642"/>
            <a:ext cx="704850" cy="314325"/>
          </a:xfrm>
          <a:prstGeom prst="rect">
            <a:avLst/>
          </a:prstGeom>
          <a:noFill/>
          <a:ln/>
        </p:spPr>
        <p:txBody>
          <a:bodyPr wrap="square" lIns="25400" tIns="25400" rIns="25400" bIns="25400" rtlCol="0" anchor="t">
            <a:normAutofit/>
          </a:bodyPr>
          <a:lstStyle/>
          <a:p>
            <a:pPr marL="0" indent="0" algn="l">
              <a:buNone/>
            </a:pPr>
            <a:r>
              <a:rPr lang="en-US" sz="1650" b="1" dirty="0">
                <a:solidFill>
                  <a:srgbClr val="1F7A3D"/>
                </a:solidFill>
                <a:latin typeface="JetBrains Mono" pitchFamily="34" charset="0"/>
                <a:ea typeface="JetBrains Mono" pitchFamily="34" charset="-122"/>
                <a:cs typeface="JetBrains Mono" pitchFamily="34" charset="-120"/>
              </a:rPr>
              <a:t>$9.4B</a:t>
            </a:r>
            <a:endParaRPr lang="en-US" sz="1650" dirty="0"/>
          </a:p>
        </p:txBody>
      </p:sp>
      <p:sp>
        <p:nvSpPr>
          <p:cNvPr id="69" name="Shape 67"/>
          <p:cNvSpPr/>
          <p:nvPr/>
        </p:nvSpPr>
        <p:spPr>
          <a:xfrm>
            <a:off x="10934700" y="5745435"/>
            <a:ext cx="6400800" cy="1347788"/>
          </a:xfrm>
          <a:prstGeom prst="rect">
            <a:avLst/>
          </a:prstGeom>
          <a:solidFill>
            <a:srgbClr val="F6F5F2"/>
          </a:solidFill>
          <a:ln w="9525">
            <a:solidFill>
              <a:srgbClr val="E2DFD8"/>
            </a:solidFill>
            <a:prstDash val="solid"/>
          </a:ln>
        </p:spPr>
        <p:txBody>
          <a:bodyPr/>
          <a:lstStyle/>
          <a:p>
            <a:endParaRPr lang="en-US"/>
          </a:p>
        </p:txBody>
      </p:sp>
      <p:sp>
        <p:nvSpPr>
          <p:cNvPr id="70" name="Text 68"/>
          <p:cNvSpPr/>
          <p:nvPr/>
        </p:nvSpPr>
        <p:spPr>
          <a:xfrm>
            <a:off x="11115675" y="5888310"/>
            <a:ext cx="6220016" cy="176212"/>
          </a:xfrm>
          <a:prstGeom prst="rect">
            <a:avLst/>
          </a:prstGeom>
          <a:noFill/>
          <a:ln/>
        </p:spPr>
        <p:txBody>
          <a:bodyPr wrap="square" lIns="25400" tIns="25400" rIns="25400" bIns="25400" rtlCol="0" anchor="t">
            <a:normAutofit lnSpcReduction="10000"/>
          </a:bodyPr>
          <a:lstStyle/>
          <a:p>
            <a:pPr marL="0" indent="0" algn="l">
              <a:buNone/>
            </a:pPr>
            <a:r>
              <a:rPr lang="en-US" sz="825" kern="0" spc="132" dirty="0">
                <a:solidFill>
                  <a:srgbClr val="7A776E"/>
                </a:solidFill>
                <a:latin typeface="JetBrains Mono" pitchFamily="34" charset="0"/>
                <a:ea typeface="JetBrains Mono" pitchFamily="34" charset="-122"/>
                <a:cs typeface="JetBrains Mono" pitchFamily="34" charset="-120"/>
              </a:rPr>
              <a:t>POST-IPO FATES OF NAMED COMPS</a:t>
            </a:r>
            <a:endParaRPr lang="en-US" sz="825" dirty="0"/>
          </a:p>
        </p:txBody>
      </p:sp>
      <p:sp>
        <p:nvSpPr>
          <p:cNvPr id="71" name="Shape 69"/>
          <p:cNvSpPr/>
          <p:nvPr/>
        </p:nvSpPr>
        <p:spPr>
          <a:xfrm>
            <a:off x="11115675" y="6121673"/>
            <a:ext cx="28575" cy="590550"/>
          </a:xfrm>
          <a:prstGeom prst="rect">
            <a:avLst/>
          </a:prstGeom>
          <a:solidFill>
            <a:srgbClr val="1F4FB5"/>
          </a:solidFill>
          <a:ln/>
        </p:spPr>
        <p:txBody>
          <a:bodyPr/>
          <a:lstStyle/>
          <a:p>
            <a:endParaRPr lang="en-US"/>
          </a:p>
        </p:txBody>
      </p:sp>
      <p:sp>
        <p:nvSpPr>
          <p:cNvPr id="72" name="Text 70"/>
          <p:cNvSpPr/>
          <p:nvPr/>
        </p:nvSpPr>
        <p:spPr>
          <a:xfrm>
            <a:off x="11258550" y="6121673"/>
            <a:ext cx="1755725" cy="176212"/>
          </a:xfrm>
          <a:prstGeom prst="rect">
            <a:avLst/>
          </a:prstGeom>
          <a:noFill/>
          <a:ln/>
        </p:spPr>
        <p:txBody>
          <a:bodyPr wrap="square" lIns="25400" tIns="25400" rIns="25400" bIns="25400" rtlCol="0" anchor="t">
            <a:normAutofit lnSpcReduction="10000"/>
          </a:bodyPr>
          <a:lstStyle/>
          <a:p>
            <a:pPr marL="0" indent="0" algn="l">
              <a:buNone/>
            </a:pPr>
            <a:r>
              <a:rPr lang="en-US" sz="825" kern="0" spc="83" dirty="0">
                <a:solidFill>
                  <a:srgbClr val="7A776E"/>
                </a:solidFill>
                <a:latin typeface="JetBrains Mono" pitchFamily="34" charset="0"/>
                <a:ea typeface="JetBrains Mono" pitchFamily="34" charset="-122"/>
                <a:cs typeface="JetBrains Mono" pitchFamily="34" charset="-120"/>
              </a:rPr>
              <a:t>PELOTON (SUB)</a:t>
            </a:r>
            <a:endParaRPr lang="en-US" sz="825" dirty="0"/>
          </a:p>
        </p:txBody>
      </p:sp>
      <p:sp>
        <p:nvSpPr>
          <p:cNvPr id="73" name="Text 71"/>
          <p:cNvSpPr/>
          <p:nvPr/>
        </p:nvSpPr>
        <p:spPr>
          <a:xfrm>
            <a:off x="11258550" y="6278835"/>
            <a:ext cx="1755725" cy="304800"/>
          </a:xfrm>
          <a:prstGeom prst="rect">
            <a:avLst/>
          </a:prstGeom>
          <a:noFill/>
          <a:ln/>
        </p:spPr>
        <p:txBody>
          <a:bodyPr wrap="square" lIns="25400" tIns="25400" rIns="25400" bIns="25400" rtlCol="0" anchor="t">
            <a:normAutofit/>
          </a:bodyPr>
          <a:lstStyle/>
          <a:p>
            <a:pPr marL="0" indent="0" algn="l">
              <a:buNone/>
            </a:pPr>
            <a:r>
              <a:rPr lang="en-US" sz="1650" b="1" kern="0" spc="-16" dirty="0">
                <a:solidFill>
                  <a:srgbClr val="FF5A1F"/>
                </a:solidFill>
                <a:latin typeface="Space Grotesk" pitchFamily="34" charset="0"/>
                <a:ea typeface="Space Grotesk" pitchFamily="34" charset="-122"/>
                <a:cs typeface="Space Grotesk" pitchFamily="34" charset="-120"/>
              </a:rPr>
              <a:t>−70%</a:t>
            </a:r>
            <a:endParaRPr lang="en-US" sz="1650" dirty="0"/>
          </a:p>
        </p:txBody>
      </p:sp>
      <p:sp>
        <p:nvSpPr>
          <p:cNvPr id="74" name="Text 72"/>
          <p:cNvSpPr/>
          <p:nvPr/>
        </p:nvSpPr>
        <p:spPr>
          <a:xfrm>
            <a:off x="11258550" y="6564585"/>
            <a:ext cx="175572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Space Grotesk" pitchFamily="34" charset="0"/>
                <a:ea typeface="Space Grotesk" pitchFamily="34" charset="-122"/>
                <a:cs typeface="Space Grotesk" pitchFamily="34" charset="-120"/>
              </a:rPr>
              <a:t>From IPO peak</a:t>
            </a:r>
            <a:endParaRPr lang="en-US" sz="900" dirty="0"/>
          </a:p>
        </p:txBody>
      </p:sp>
      <p:sp>
        <p:nvSpPr>
          <p:cNvPr id="75" name="Shape 73"/>
          <p:cNvSpPr/>
          <p:nvPr/>
        </p:nvSpPr>
        <p:spPr>
          <a:xfrm>
            <a:off x="13166675" y="6121673"/>
            <a:ext cx="28575" cy="590550"/>
          </a:xfrm>
          <a:prstGeom prst="rect">
            <a:avLst/>
          </a:prstGeom>
          <a:solidFill>
            <a:srgbClr val="D14B2A"/>
          </a:solidFill>
          <a:ln/>
        </p:spPr>
        <p:txBody>
          <a:bodyPr/>
          <a:lstStyle/>
          <a:p>
            <a:endParaRPr lang="en-US"/>
          </a:p>
        </p:txBody>
      </p:sp>
      <p:sp>
        <p:nvSpPr>
          <p:cNvPr id="76" name="Text 74"/>
          <p:cNvSpPr/>
          <p:nvPr/>
        </p:nvSpPr>
        <p:spPr>
          <a:xfrm>
            <a:off x="13309550" y="6121673"/>
            <a:ext cx="1755800" cy="176212"/>
          </a:xfrm>
          <a:prstGeom prst="rect">
            <a:avLst/>
          </a:prstGeom>
          <a:noFill/>
          <a:ln/>
        </p:spPr>
        <p:txBody>
          <a:bodyPr wrap="square" lIns="25400" tIns="25400" rIns="25400" bIns="25400" rtlCol="0" anchor="t">
            <a:normAutofit lnSpcReduction="10000"/>
          </a:bodyPr>
          <a:lstStyle/>
          <a:p>
            <a:pPr marL="0" indent="0" algn="l">
              <a:buNone/>
            </a:pPr>
            <a:r>
              <a:rPr lang="en-US" sz="825" kern="0" spc="83" dirty="0">
                <a:solidFill>
                  <a:srgbClr val="7A776E"/>
                </a:solidFill>
                <a:latin typeface="JetBrains Mono" pitchFamily="34" charset="0"/>
                <a:ea typeface="JetBrains Mono" pitchFamily="34" charset="-122"/>
                <a:cs typeface="JetBrains Mono" pitchFamily="34" charset="-120"/>
              </a:rPr>
              <a:t>GARMIN (HW)</a:t>
            </a:r>
            <a:endParaRPr lang="en-US" sz="825" dirty="0"/>
          </a:p>
        </p:txBody>
      </p:sp>
      <p:sp>
        <p:nvSpPr>
          <p:cNvPr id="77" name="Text 75"/>
          <p:cNvSpPr/>
          <p:nvPr/>
        </p:nvSpPr>
        <p:spPr>
          <a:xfrm>
            <a:off x="13309550" y="6278835"/>
            <a:ext cx="1755800" cy="304800"/>
          </a:xfrm>
          <a:prstGeom prst="rect">
            <a:avLst/>
          </a:prstGeom>
          <a:noFill/>
          <a:ln/>
        </p:spPr>
        <p:txBody>
          <a:bodyPr wrap="square" lIns="25400" tIns="25400" rIns="25400" bIns="25400" rtlCol="0" anchor="t">
            <a:normAutofit/>
          </a:bodyPr>
          <a:lstStyle/>
          <a:p>
            <a:pPr marL="0" indent="0" algn="l">
              <a:buNone/>
            </a:pPr>
            <a:r>
              <a:rPr lang="en-US" sz="1650" b="1" kern="0" spc="-16" dirty="0">
                <a:solidFill>
                  <a:srgbClr val="1F7A3D"/>
                </a:solidFill>
                <a:latin typeface="Space Grotesk" pitchFamily="34" charset="0"/>
                <a:ea typeface="Space Grotesk" pitchFamily="34" charset="-122"/>
                <a:cs typeface="Space Grotesk" pitchFamily="34" charset="-120"/>
              </a:rPr>
              <a:t>+85%</a:t>
            </a:r>
            <a:endParaRPr lang="en-US" sz="1650" dirty="0"/>
          </a:p>
        </p:txBody>
      </p:sp>
      <p:sp>
        <p:nvSpPr>
          <p:cNvPr id="78" name="Text 76"/>
          <p:cNvSpPr/>
          <p:nvPr/>
        </p:nvSpPr>
        <p:spPr>
          <a:xfrm>
            <a:off x="13309550" y="6564585"/>
            <a:ext cx="1755800"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Space Grotesk" pitchFamily="34" charset="0"/>
                <a:ea typeface="Space Grotesk" pitchFamily="34" charset="-122"/>
                <a:cs typeface="Space Grotesk" pitchFamily="34" charset="-120"/>
              </a:rPr>
              <a:t>5-year total return</a:t>
            </a:r>
            <a:endParaRPr lang="en-US" sz="900" dirty="0"/>
          </a:p>
        </p:txBody>
      </p:sp>
      <p:sp>
        <p:nvSpPr>
          <p:cNvPr id="79" name="Shape 77"/>
          <p:cNvSpPr/>
          <p:nvPr/>
        </p:nvSpPr>
        <p:spPr>
          <a:xfrm>
            <a:off x="15217750" y="6121673"/>
            <a:ext cx="28575" cy="590550"/>
          </a:xfrm>
          <a:prstGeom prst="rect">
            <a:avLst/>
          </a:prstGeom>
          <a:solidFill>
            <a:srgbClr val="1F7A3D"/>
          </a:solidFill>
          <a:ln/>
        </p:spPr>
        <p:txBody>
          <a:bodyPr/>
          <a:lstStyle/>
          <a:p>
            <a:endParaRPr lang="en-US"/>
          </a:p>
        </p:txBody>
      </p:sp>
      <p:sp>
        <p:nvSpPr>
          <p:cNvPr id="80" name="Text 78"/>
          <p:cNvSpPr/>
          <p:nvPr/>
        </p:nvSpPr>
        <p:spPr>
          <a:xfrm>
            <a:off x="15360625" y="6121673"/>
            <a:ext cx="1755725" cy="176212"/>
          </a:xfrm>
          <a:prstGeom prst="rect">
            <a:avLst/>
          </a:prstGeom>
          <a:noFill/>
          <a:ln/>
        </p:spPr>
        <p:txBody>
          <a:bodyPr wrap="square" lIns="25400" tIns="25400" rIns="25400" bIns="25400" rtlCol="0" anchor="t">
            <a:normAutofit lnSpcReduction="10000"/>
          </a:bodyPr>
          <a:lstStyle/>
          <a:p>
            <a:pPr marL="0" indent="0" algn="l">
              <a:buNone/>
            </a:pPr>
            <a:r>
              <a:rPr lang="en-US" sz="825" kern="0" spc="83" dirty="0">
                <a:solidFill>
                  <a:srgbClr val="7A776E"/>
                </a:solidFill>
                <a:latin typeface="JetBrains Mono" pitchFamily="34" charset="0"/>
                <a:ea typeface="JetBrains Mono" pitchFamily="34" charset="-122"/>
                <a:cs typeface="JetBrains Mono" pitchFamily="34" charset="-120"/>
              </a:rPr>
              <a:t>DEXCOM (HD)</a:t>
            </a:r>
            <a:endParaRPr lang="en-US" sz="825" dirty="0"/>
          </a:p>
        </p:txBody>
      </p:sp>
      <p:sp>
        <p:nvSpPr>
          <p:cNvPr id="81" name="Text 79"/>
          <p:cNvSpPr/>
          <p:nvPr/>
        </p:nvSpPr>
        <p:spPr>
          <a:xfrm>
            <a:off x="15360625" y="6278835"/>
            <a:ext cx="1755725" cy="304800"/>
          </a:xfrm>
          <a:prstGeom prst="rect">
            <a:avLst/>
          </a:prstGeom>
          <a:noFill/>
          <a:ln/>
        </p:spPr>
        <p:txBody>
          <a:bodyPr wrap="square" lIns="25400" tIns="25400" rIns="25400" bIns="25400" rtlCol="0" anchor="t">
            <a:normAutofit/>
          </a:bodyPr>
          <a:lstStyle/>
          <a:p>
            <a:pPr marL="0" indent="0" algn="l">
              <a:buNone/>
            </a:pPr>
            <a:r>
              <a:rPr lang="en-US" sz="1650" b="1" kern="0" spc="-16" dirty="0">
                <a:solidFill>
                  <a:srgbClr val="1F7A3D"/>
                </a:solidFill>
                <a:latin typeface="Space Grotesk" pitchFamily="34" charset="0"/>
                <a:ea typeface="Space Grotesk" pitchFamily="34" charset="-122"/>
                <a:cs typeface="Space Grotesk" pitchFamily="34" charset="-120"/>
              </a:rPr>
              <a:t>+400%</a:t>
            </a:r>
            <a:endParaRPr lang="en-US" sz="1650" dirty="0"/>
          </a:p>
        </p:txBody>
      </p:sp>
      <p:sp>
        <p:nvSpPr>
          <p:cNvPr id="82" name="Text 80"/>
          <p:cNvSpPr/>
          <p:nvPr/>
        </p:nvSpPr>
        <p:spPr>
          <a:xfrm>
            <a:off x="15360625" y="6564585"/>
            <a:ext cx="1755725" cy="185738"/>
          </a:xfrm>
          <a:prstGeom prst="rect">
            <a:avLst/>
          </a:prstGeom>
          <a:noFill/>
          <a:ln/>
        </p:spPr>
        <p:txBody>
          <a:bodyPr wrap="square" lIns="25400" tIns="25400" rIns="25400" bIns="25400" rtlCol="0" anchor="t">
            <a:normAutofit lnSpcReduction="10000"/>
          </a:bodyPr>
          <a:lstStyle/>
          <a:p>
            <a:pPr marL="0" indent="0" algn="l">
              <a:buNone/>
            </a:pPr>
            <a:r>
              <a:rPr lang="en-US" sz="900" dirty="0">
                <a:solidFill>
                  <a:srgbClr val="7A776E"/>
                </a:solidFill>
                <a:latin typeface="Space Grotesk" pitchFamily="34" charset="0"/>
                <a:ea typeface="Space Grotesk" pitchFamily="34" charset="-122"/>
                <a:cs typeface="Space Grotesk" pitchFamily="34" charset="-120"/>
              </a:rPr>
              <a:t>10-year from IPO</a:t>
            </a:r>
            <a:endParaRPr lang="en-US" sz="900" dirty="0"/>
          </a:p>
        </p:txBody>
      </p:sp>
      <p:sp>
        <p:nvSpPr>
          <p:cNvPr id="83" name="Text 81"/>
          <p:cNvSpPr/>
          <p:nvPr/>
        </p:nvSpPr>
        <p:spPr>
          <a:xfrm>
            <a:off x="11115675" y="6788423"/>
            <a:ext cx="6220016" cy="200025"/>
          </a:xfrm>
          <a:prstGeom prst="rect">
            <a:avLst/>
          </a:prstGeom>
          <a:noFill/>
          <a:ln/>
        </p:spPr>
        <p:txBody>
          <a:bodyPr wrap="square" lIns="25400" tIns="25400" rIns="25400" bIns="25400" rtlCol="0" anchor="t">
            <a:normAutofit/>
          </a:bodyPr>
          <a:lstStyle/>
          <a:p>
            <a:pPr marL="0" indent="0" algn="l">
              <a:buNone/>
            </a:pPr>
            <a:r>
              <a:rPr lang="en-US" sz="975" i="1" dirty="0">
                <a:solidFill>
                  <a:srgbClr val="3A3A3A"/>
                </a:solidFill>
                <a:latin typeface="Space Grotesk" pitchFamily="34" charset="0"/>
                <a:ea typeface="Space Grotesk" pitchFamily="34" charset="-122"/>
                <a:cs typeface="Space Grotesk" pitchFamily="34" charset="-120"/>
              </a:rPr>
              <a:t>Comps imply different multiples — and different fates.</a:t>
            </a:r>
            <a:endParaRPr lang="en-US" sz="975" dirty="0"/>
          </a:p>
        </p:txBody>
      </p:sp>
      <p:sp>
        <p:nvSpPr>
          <p:cNvPr id="84" name="Text 82"/>
          <p:cNvSpPr/>
          <p:nvPr/>
        </p:nvSpPr>
        <p:spPr>
          <a:xfrm>
            <a:off x="952500" y="9767888"/>
            <a:ext cx="8334539"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TRADING MULTIPLES ARE </a:t>
            </a:r>
            <a:r>
              <a:rPr lang="en-US" sz="1050" i="1" kern="0" spc="147" dirty="0">
                <a:solidFill>
                  <a:srgbClr val="7A776E"/>
                </a:solidFill>
                <a:latin typeface="JetBrains Mono" pitchFamily="34" charset="0"/>
                <a:ea typeface="JetBrains Mono" pitchFamily="34" charset="-122"/>
                <a:cs typeface="JetBrains Mono" pitchFamily="34" charset="-120"/>
              </a:rPr>
              <a:t>RELATIVE</a:t>
            </a:r>
            <a:r>
              <a:rPr lang="en-US" sz="1050" kern="0" spc="147" dirty="0">
                <a:solidFill>
                  <a:srgbClr val="7A776E"/>
                </a:solidFill>
                <a:latin typeface="JetBrains Mono" pitchFamily="34" charset="0"/>
                <a:ea typeface="JetBrains Mono" pitchFamily="34" charset="-122"/>
                <a:cs typeface="JetBrains Mono" pitchFamily="34" charset="-120"/>
              </a:rPr>
              <a:t>-VALUE, NOT INTRINSIC. THE DISPERSION IS THE ANSWER.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4244861"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08 / 12</a:t>
            </a:r>
            <a:endParaRPr lang="en-US" sz="1050" dirty="0"/>
          </a:p>
        </p:txBody>
      </p:sp>
      <p:sp>
        <p:nvSpPr>
          <p:cNvPr id="4" name="Text 2"/>
          <p:cNvSpPr/>
          <p:nvPr/>
        </p:nvSpPr>
        <p:spPr>
          <a:xfrm>
            <a:off x="15164246" y="342900"/>
            <a:ext cx="2247454"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 NOVELTY · BACK-SOLVE</a:t>
            </a:r>
            <a:endParaRPr lang="en-US" sz="1050" dirty="0"/>
          </a:p>
        </p:txBody>
      </p:sp>
      <p:sp>
        <p:nvSpPr>
          <p:cNvPr id="5" name="Text 3"/>
          <p:cNvSpPr/>
          <p:nvPr/>
        </p:nvSpPr>
        <p:spPr>
          <a:xfrm>
            <a:off x="952500" y="1047750"/>
            <a:ext cx="16874490"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FF5A1F"/>
                </a:solidFill>
                <a:latin typeface="JetBrains Mono" pitchFamily="34" charset="0"/>
                <a:ea typeface="JetBrains Mono" pitchFamily="34" charset="-122"/>
                <a:cs typeface="JetBrains Mono" pitchFamily="34" charset="-120"/>
              </a:rPr>
              <a:t>SLIDE 08 · SERIES G BACK-SOLVE</a:t>
            </a:r>
            <a:endParaRPr lang="en-US" sz="1350" dirty="0"/>
          </a:p>
        </p:txBody>
      </p:sp>
      <p:sp>
        <p:nvSpPr>
          <p:cNvPr id="6" name="Text 4"/>
          <p:cNvSpPr/>
          <p:nvPr/>
        </p:nvSpPr>
        <p:spPr>
          <a:xfrm>
            <a:off x="952500" y="1409700"/>
            <a:ext cx="16874490" cy="63244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b="1" kern="0" spc="-81" dirty="0">
                <a:solidFill>
                  <a:srgbClr val="0A0A0A"/>
                </a:solidFill>
                <a:latin typeface="Space Grotesk" pitchFamily="34" charset="0"/>
                <a:ea typeface="Space Grotesk" pitchFamily="34" charset="-122"/>
                <a:cs typeface="Space Grotesk" pitchFamily="34" charset="-120"/>
              </a:rPr>
              <a:t>What does </a:t>
            </a:r>
            <a:r>
              <a:rPr lang="en-US" sz="4500" b="1" kern="0" spc="-81" dirty="0">
                <a:solidFill>
                  <a:srgbClr val="FF5A1F"/>
                </a:solidFill>
                <a:latin typeface="Space Grotesk" pitchFamily="34" charset="0"/>
                <a:ea typeface="Space Grotesk" pitchFamily="34" charset="-122"/>
                <a:cs typeface="Space Grotesk" pitchFamily="34" charset="-120"/>
              </a:rPr>
              <a:t>$10.1B </a:t>
            </a:r>
            <a:r>
              <a:rPr lang="en-US" sz="4500" b="1" kern="0" spc="-81" dirty="0">
                <a:solidFill>
                  <a:srgbClr val="0A0A0A"/>
                </a:solidFill>
                <a:latin typeface="Space Grotesk" pitchFamily="34" charset="0"/>
                <a:ea typeface="Space Grotesk" pitchFamily="34" charset="-122"/>
                <a:cs typeface="Space Grotesk" pitchFamily="34" charset="-120"/>
              </a:rPr>
              <a:t>actually mean?</a:t>
            </a:r>
            <a:endParaRPr lang="en-US" sz="4500" dirty="0"/>
          </a:p>
        </p:txBody>
      </p:sp>
      <p:sp>
        <p:nvSpPr>
          <p:cNvPr id="7" name="Text 5"/>
          <p:cNvSpPr/>
          <p:nvPr/>
        </p:nvSpPr>
        <p:spPr>
          <a:xfrm>
            <a:off x="952500" y="2099295"/>
            <a:ext cx="14716125" cy="73149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10" dirty="0">
                <a:solidFill>
                  <a:srgbClr val="3A3A3A"/>
                </a:solidFill>
                <a:latin typeface="Space Grotesk" pitchFamily="34" charset="0"/>
                <a:ea typeface="Space Grotesk" pitchFamily="34" charset="-122"/>
                <a:cs typeface="Space Grotesk" pitchFamily="34" charset="-120"/>
              </a:rPr>
              <a:t>Headline post-money ≠ common-equivalent value. Adjusted for preferences, the Series G implies operating assumptions that may or may not be defensible.</a:t>
            </a:r>
            <a:endParaRPr lang="en-US" sz="1950" dirty="0"/>
          </a:p>
        </p:txBody>
      </p:sp>
      <p:sp>
        <p:nvSpPr>
          <p:cNvPr id="8" name="Shape 6"/>
          <p:cNvSpPr/>
          <p:nvPr/>
        </p:nvSpPr>
        <p:spPr>
          <a:xfrm>
            <a:off x="952500" y="3021285"/>
            <a:ext cx="16383000" cy="2857500"/>
          </a:xfrm>
          <a:prstGeom prst="rect">
            <a:avLst/>
          </a:prstGeom>
          <a:ln w="9525">
            <a:solidFill>
              <a:srgbClr val="E2DFD8"/>
            </a:solidFill>
            <a:prstDash val="solid"/>
          </a:ln>
        </p:spPr>
        <p:txBody>
          <a:bodyPr/>
          <a:lstStyle/>
          <a:p>
            <a:endParaRPr lang="en-US"/>
          </a:p>
        </p:txBody>
      </p:sp>
      <p:sp>
        <p:nvSpPr>
          <p:cNvPr id="9" name="Text 7"/>
          <p:cNvSpPr/>
          <p:nvPr/>
        </p:nvSpPr>
        <p:spPr>
          <a:xfrm>
            <a:off x="1720155" y="2897460"/>
            <a:ext cx="693465" cy="266700"/>
          </a:xfrm>
          <a:prstGeom prst="rect">
            <a:avLst/>
          </a:prstGeom>
          <a:noFill/>
          <a:ln/>
        </p:spPr>
        <p:txBody>
          <a:bodyPr wrap="square" lIns="25400" tIns="25400" rIns="25400" bIns="25400" rtlCol="0" anchor="t">
            <a:normAutofit/>
          </a:bodyPr>
          <a:lstStyle/>
          <a:p>
            <a:pPr marL="0" indent="0" algn="l">
              <a:buNone/>
            </a:pPr>
            <a:r>
              <a:rPr lang="en-US" sz="1350" b="1" dirty="0">
                <a:solidFill>
                  <a:srgbClr val="0A0A0A"/>
                </a:solidFill>
                <a:latin typeface="JetBrains Mono" pitchFamily="34" charset="0"/>
                <a:ea typeface="JetBrains Mono" pitchFamily="34" charset="-122"/>
                <a:cs typeface="JetBrains Mono" pitchFamily="34" charset="-120"/>
              </a:rPr>
              <a:t>$10.1B</a:t>
            </a:r>
            <a:endParaRPr lang="en-US" sz="1350" dirty="0"/>
          </a:p>
        </p:txBody>
      </p:sp>
      <p:sp>
        <p:nvSpPr>
          <p:cNvPr id="10" name="Shape 8"/>
          <p:cNvSpPr/>
          <p:nvPr/>
        </p:nvSpPr>
        <p:spPr>
          <a:xfrm>
            <a:off x="1266825" y="3221310"/>
            <a:ext cx="1524000" cy="1905000"/>
          </a:xfrm>
          <a:prstGeom prst="rect">
            <a:avLst/>
          </a:prstGeom>
          <a:solidFill>
            <a:srgbClr val="0A0A0A"/>
          </a:solidFill>
          <a:ln/>
        </p:spPr>
        <p:txBody>
          <a:bodyPr/>
          <a:lstStyle/>
          <a:p>
            <a:endParaRPr lang="en-US"/>
          </a:p>
        </p:txBody>
      </p:sp>
      <p:sp>
        <p:nvSpPr>
          <p:cNvPr id="11" name="Text 9"/>
          <p:cNvSpPr/>
          <p:nvPr/>
        </p:nvSpPr>
        <p:spPr>
          <a:xfrm>
            <a:off x="1621036" y="5221560"/>
            <a:ext cx="815504" cy="381000"/>
          </a:xfrm>
          <a:prstGeom prst="rect">
            <a:avLst/>
          </a:prstGeom>
          <a:noFill/>
          <a:ln/>
        </p:spPr>
        <p:txBody>
          <a:bodyPr wrap="square" lIns="25400" tIns="25400" rIns="25400" bIns="25400" rtlCol="0" anchor="t">
            <a:normAutofit lnSpcReduction="10000"/>
          </a:bodyPr>
          <a:lstStyle/>
          <a:p>
            <a:pPr marL="0" indent="0" algn="ctr">
              <a:lnSpc>
                <a:spcPct val="120000"/>
              </a:lnSpc>
              <a:buNone/>
            </a:pPr>
            <a:r>
              <a:rPr lang="en-US" sz="975" dirty="0">
                <a:solidFill>
                  <a:srgbClr val="3A3A3A"/>
                </a:solidFill>
                <a:latin typeface="Space Grotesk" pitchFamily="34" charset="0"/>
                <a:ea typeface="Space Grotesk" pitchFamily="34" charset="-122"/>
                <a:cs typeface="Space Grotesk" pitchFamily="34" charset="-120"/>
              </a:rPr>
              <a:t>Headline post-money</a:t>
            </a:r>
            <a:endParaRPr lang="en-US" sz="975" dirty="0"/>
          </a:p>
        </p:txBody>
      </p:sp>
      <p:sp>
        <p:nvSpPr>
          <p:cNvPr id="12" name="Text 10"/>
          <p:cNvSpPr/>
          <p:nvPr/>
        </p:nvSpPr>
        <p:spPr>
          <a:xfrm>
            <a:off x="5226323" y="2897460"/>
            <a:ext cx="796305" cy="266700"/>
          </a:xfrm>
          <a:prstGeom prst="rect">
            <a:avLst/>
          </a:prstGeom>
          <a:noFill/>
          <a:ln/>
        </p:spPr>
        <p:txBody>
          <a:bodyPr wrap="square" lIns="25400" tIns="25400" rIns="25400" bIns="25400" rtlCol="0" anchor="t">
            <a:normAutofit/>
          </a:bodyPr>
          <a:lstStyle/>
          <a:p>
            <a:pPr marL="0" indent="0" algn="l">
              <a:buNone/>
            </a:pPr>
            <a:r>
              <a:rPr lang="en-US" sz="1350" b="1" dirty="0">
                <a:solidFill>
                  <a:srgbClr val="FF5A1F"/>
                </a:solidFill>
                <a:latin typeface="JetBrains Mono" pitchFamily="34" charset="0"/>
                <a:ea typeface="JetBrains Mono" pitchFamily="34" charset="-122"/>
                <a:cs typeface="JetBrains Mono" pitchFamily="34" charset="-120"/>
              </a:rPr>
              <a:t>− $0.9B</a:t>
            </a:r>
            <a:endParaRPr lang="en-US" sz="1350" dirty="0"/>
          </a:p>
        </p:txBody>
      </p:sp>
      <p:sp>
        <p:nvSpPr>
          <p:cNvPr id="13" name="Shape 11"/>
          <p:cNvSpPr/>
          <p:nvPr/>
        </p:nvSpPr>
        <p:spPr>
          <a:xfrm>
            <a:off x="4824413" y="3526110"/>
            <a:ext cx="1524000" cy="171450"/>
          </a:xfrm>
          <a:prstGeom prst="rect">
            <a:avLst/>
          </a:prstGeom>
          <a:solidFill>
            <a:srgbClr val="FF5A1F"/>
          </a:solidFill>
          <a:ln/>
        </p:spPr>
        <p:txBody>
          <a:bodyPr/>
          <a:lstStyle/>
          <a:p>
            <a:endParaRPr lang="en-US"/>
          </a:p>
        </p:txBody>
      </p:sp>
      <p:sp>
        <p:nvSpPr>
          <p:cNvPr id="14" name="Text 12"/>
          <p:cNvSpPr/>
          <p:nvPr/>
        </p:nvSpPr>
        <p:spPr>
          <a:xfrm>
            <a:off x="4885283" y="5221560"/>
            <a:ext cx="1402184" cy="381000"/>
          </a:xfrm>
          <a:prstGeom prst="rect">
            <a:avLst/>
          </a:prstGeom>
          <a:noFill/>
          <a:ln/>
        </p:spPr>
        <p:txBody>
          <a:bodyPr wrap="square" lIns="25400" tIns="25400" rIns="25400" bIns="25400" rtlCol="0" anchor="t">
            <a:normAutofit lnSpcReduction="10000"/>
          </a:bodyPr>
          <a:lstStyle/>
          <a:p>
            <a:pPr marL="0" indent="0" algn="ctr">
              <a:lnSpc>
                <a:spcPct val="120000"/>
              </a:lnSpc>
              <a:buNone/>
            </a:pPr>
            <a:r>
              <a:rPr lang="en-US" sz="975" dirty="0">
                <a:solidFill>
                  <a:srgbClr val="3A3A3A"/>
                </a:solidFill>
                <a:latin typeface="Space Grotesk" pitchFamily="34" charset="0"/>
                <a:ea typeface="Space Grotesk" pitchFamily="34" charset="-122"/>
                <a:cs typeface="Space Grotesk" pitchFamily="34" charset="-120"/>
              </a:rPr>
              <a:t>1× non-participating liquidation preference</a:t>
            </a:r>
            <a:endParaRPr lang="en-US" sz="975" dirty="0"/>
          </a:p>
        </p:txBody>
      </p:sp>
      <p:sp>
        <p:nvSpPr>
          <p:cNvPr id="15" name="Text 13"/>
          <p:cNvSpPr/>
          <p:nvPr/>
        </p:nvSpPr>
        <p:spPr>
          <a:xfrm>
            <a:off x="8783910" y="2897460"/>
            <a:ext cx="796305" cy="266700"/>
          </a:xfrm>
          <a:prstGeom prst="rect">
            <a:avLst/>
          </a:prstGeom>
          <a:noFill/>
          <a:ln/>
        </p:spPr>
        <p:txBody>
          <a:bodyPr wrap="square" lIns="25400" tIns="25400" rIns="25400" bIns="25400" rtlCol="0" anchor="t">
            <a:normAutofit/>
          </a:bodyPr>
          <a:lstStyle/>
          <a:p>
            <a:pPr marL="0" indent="0" algn="l">
              <a:buNone/>
            </a:pPr>
            <a:r>
              <a:rPr lang="en-US" sz="1350" b="1" dirty="0">
                <a:solidFill>
                  <a:srgbClr val="FF5A1F"/>
                </a:solidFill>
                <a:latin typeface="JetBrains Mono" pitchFamily="34" charset="0"/>
                <a:ea typeface="JetBrains Mono" pitchFamily="34" charset="-122"/>
                <a:cs typeface="JetBrains Mono" pitchFamily="34" charset="-120"/>
              </a:rPr>
              <a:t>− $0.6B</a:t>
            </a:r>
            <a:endParaRPr lang="en-US" sz="1350" dirty="0"/>
          </a:p>
        </p:txBody>
      </p:sp>
      <p:sp>
        <p:nvSpPr>
          <p:cNvPr id="16" name="Shape 14"/>
          <p:cNvSpPr/>
          <p:nvPr/>
        </p:nvSpPr>
        <p:spPr>
          <a:xfrm>
            <a:off x="8382000" y="3697560"/>
            <a:ext cx="1524000" cy="114300"/>
          </a:xfrm>
          <a:prstGeom prst="rect">
            <a:avLst/>
          </a:prstGeom>
          <a:solidFill>
            <a:srgbClr val="FF5A1F"/>
          </a:solidFill>
          <a:ln/>
        </p:spPr>
        <p:txBody>
          <a:bodyPr/>
          <a:lstStyle/>
          <a:p>
            <a:endParaRPr lang="en-US"/>
          </a:p>
        </p:txBody>
      </p:sp>
      <p:sp>
        <p:nvSpPr>
          <p:cNvPr id="17" name="Text 15"/>
          <p:cNvSpPr/>
          <p:nvPr/>
        </p:nvSpPr>
        <p:spPr>
          <a:xfrm>
            <a:off x="8559775" y="5221560"/>
            <a:ext cx="1168450" cy="381000"/>
          </a:xfrm>
          <a:prstGeom prst="rect">
            <a:avLst/>
          </a:prstGeom>
          <a:noFill/>
          <a:ln/>
        </p:spPr>
        <p:txBody>
          <a:bodyPr wrap="square" lIns="25400" tIns="25400" rIns="25400" bIns="25400" rtlCol="0" anchor="t">
            <a:normAutofit lnSpcReduction="10000"/>
          </a:bodyPr>
          <a:lstStyle/>
          <a:p>
            <a:pPr marL="0" indent="0" algn="ctr">
              <a:lnSpc>
                <a:spcPct val="120000"/>
              </a:lnSpc>
              <a:buNone/>
            </a:pPr>
            <a:r>
              <a:rPr lang="en-US" sz="975" dirty="0">
                <a:solidFill>
                  <a:srgbClr val="3A3A3A"/>
                </a:solidFill>
                <a:latin typeface="Space Grotesk" pitchFamily="34" charset="0"/>
                <a:ea typeface="Space Grotesk" pitchFamily="34" charset="-122"/>
                <a:cs typeface="Space Grotesk" pitchFamily="34" charset="-120"/>
              </a:rPr>
              <a:t>Ratchet / anti-dilution value</a:t>
            </a:r>
            <a:endParaRPr lang="en-US" sz="975" dirty="0"/>
          </a:p>
        </p:txBody>
      </p:sp>
      <p:sp>
        <p:nvSpPr>
          <p:cNvPr id="18" name="Text 16"/>
          <p:cNvSpPr/>
          <p:nvPr/>
        </p:nvSpPr>
        <p:spPr>
          <a:xfrm>
            <a:off x="12341498" y="2897460"/>
            <a:ext cx="796305" cy="266700"/>
          </a:xfrm>
          <a:prstGeom prst="rect">
            <a:avLst/>
          </a:prstGeom>
          <a:noFill/>
          <a:ln/>
        </p:spPr>
        <p:txBody>
          <a:bodyPr wrap="square" lIns="25400" tIns="25400" rIns="25400" bIns="25400" rtlCol="0" anchor="t">
            <a:normAutofit/>
          </a:bodyPr>
          <a:lstStyle/>
          <a:p>
            <a:pPr marL="0" indent="0" algn="l">
              <a:buNone/>
            </a:pPr>
            <a:r>
              <a:rPr lang="en-US" sz="1350" b="1" dirty="0">
                <a:solidFill>
                  <a:srgbClr val="FF5A1F"/>
                </a:solidFill>
                <a:latin typeface="JetBrains Mono" pitchFamily="34" charset="0"/>
                <a:ea typeface="JetBrains Mono" pitchFamily="34" charset="-122"/>
                <a:cs typeface="JetBrains Mono" pitchFamily="34" charset="-120"/>
              </a:rPr>
              <a:t>− $0.4B</a:t>
            </a:r>
            <a:endParaRPr lang="en-US" sz="1350" dirty="0"/>
          </a:p>
        </p:txBody>
      </p:sp>
      <p:sp>
        <p:nvSpPr>
          <p:cNvPr id="19" name="Shape 17"/>
          <p:cNvSpPr/>
          <p:nvPr/>
        </p:nvSpPr>
        <p:spPr>
          <a:xfrm>
            <a:off x="11939588" y="3811860"/>
            <a:ext cx="1524000" cy="76200"/>
          </a:xfrm>
          <a:prstGeom prst="rect">
            <a:avLst/>
          </a:prstGeom>
          <a:solidFill>
            <a:srgbClr val="FF5A1F"/>
          </a:solidFill>
          <a:ln/>
        </p:spPr>
        <p:txBody>
          <a:bodyPr/>
          <a:lstStyle/>
          <a:p>
            <a:endParaRPr lang="en-US"/>
          </a:p>
        </p:txBody>
      </p:sp>
      <p:sp>
        <p:nvSpPr>
          <p:cNvPr id="20" name="Text 18"/>
          <p:cNvSpPr/>
          <p:nvPr/>
        </p:nvSpPr>
        <p:spPr>
          <a:xfrm>
            <a:off x="12205618" y="5221560"/>
            <a:ext cx="991939" cy="381000"/>
          </a:xfrm>
          <a:prstGeom prst="rect">
            <a:avLst/>
          </a:prstGeom>
          <a:noFill/>
          <a:ln/>
        </p:spPr>
        <p:txBody>
          <a:bodyPr wrap="square" lIns="25400" tIns="25400" rIns="25400" bIns="25400" rtlCol="0" anchor="t">
            <a:normAutofit lnSpcReduction="10000"/>
          </a:bodyPr>
          <a:lstStyle/>
          <a:p>
            <a:pPr marL="0" indent="0" algn="ctr">
              <a:lnSpc>
                <a:spcPct val="120000"/>
              </a:lnSpc>
              <a:buNone/>
            </a:pPr>
            <a:r>
              <a:rPr lang="en-US" sz="975" dirty="0">
                <a:solidFill>
                  <a:srgbClr val="3A3A3A"/>
                </a:solidFill>
                <a:latin typeface="Space Grotesk" pitchFamily="34" charset="0"/>
                <a:ea typeface="Space Grotesk" pitchFamily="34" charset="-122"/>
                <a:cs typeface="Space Grotesk" pitchFamily="34" charset="-120"/>
              </a:rPr>
              <a:t>Participation / seniority rights</a:t>
            </a:r>
            <a:endParaRPr lang="en-US" sz="975" dirty="0"/>
          </a:p>
        </p:txBody>
      </p:sp>
      <p:sp>
        <p:nvSpPr>
          <p:cNvPr id="21" name="Text 19"/>
          <p:cNvSpPr/>
          <p:nvPr/>
        </p:nvSpPr>
        <p:spPr>
          <a:xfrm>
            <a:off x="16002000" y="2897460"/>
            <a:ext cx="590550" cy="266700"/>
          </a:xfrm>
          <a:prstGeom prst="rect">
            <a:avLst/>
          </a:prstGeom>
          <a:noFill/>
          <a:ln/>
        </p:spPr>
        <p:txBody>
          <a:bodyPr wrap="square" lIns="25400" tIns="25400" rIns="25400" bIns="25400" rtlCol="0" anchor="t">
            <a:normAutofit/>
          </a:bodyPr>
          <a:lstStyle/>
          <a:p>
            <a:pPr marL="0" indent="0" algn="l">
              <a:buNone/>
            </a:pPr>
            <a:r>
              <a:rPr lang="en-US" sz="1350" b="1" dirty="0">
                <a:solidFill>
                  <a:srgbClr val="FF5A1F"/>
                </a:solidFill>
                <a:latin typeface="JetBrains Mono" pitchFamily="34" charset="0"/>
                <a:ea typeface="JetBrains Mono" pitchFamily="34" charset="-122"/>
                <a:cs typeface="JetBrains Mono" pitchFamily="34" charset="-120"/>
              </a:rPr>
              <a:t>$8.2B</a:t>
            </a:r>
            <a:endParaRPr lang="en-US" sz="1350" dirty="0"/>
          </a:p>
        </p:txBody>
      </p:sp>
      <p:sp>
        <p:nvSpPr>
          <p:cNvPr id="22" name="Shape 20"/>
          <p:cNvSpPr/>
          <p:nvPr/>
        </p:nvSpPr>
        <p:spPr>
          <a:xfrm>
            <a:off x="15497175" y="3583260"/>
            <a:ext cx="1524000" cy="1543050"/>
          </a:xfrm>
          <a:prstGeom prst="rect">
            <a:avLst/>
          </a:prstGeom>
          <a:solidFill>
            <a:srgbClr val="FF5A1F"/>
          </a:solidFill>
          <a:ln/>
        </p:spPr>
        <p:txBody>
          <a:bodyPr/>
          <a:lstStyle/>
          <a:p>
            <a:endParaRPr lang="en-US"/>
          </a:p>
        </p:txBody>
      </p:sp>
      <p:sp>
        <p:nvSpPr>
          <p:cNvPr id="23" name="Text 21"/>
          <p:cNvSpPr/>
          <p:nvPr/>
        </p:nvSpPr>
        <p:spPr>
          <a:xfrm>
            <a:off x="15618247" y="5221560"/>
            <a:ext cx="1281782" cy="381000"/>
          </a:xfrm>
          <a:prstGeom prst="rect">
            <a:avLst/>
          </a:prstGeom>
          <a:noFill/>
          <a:ln/>
        </p:spPr>
        <p:txBody>
          <a:bodyPr wrap="square" lIns="25400" tIns="25400" rIns="25400" bIns="25400" rtlCol="0" anchor="t">
            <a:normAutofit lnSpcReduction="10000"/>
          </a:bodyPr>
          <a:lstStyle/>
          <a:p>
            <a:pPr marL="0" indent="0" algn="ctr">
              <a:lnSpc>
                <a:spcPct val="120000"/>
              </a:lnSpc>
              <a:buNone/>
            </a:pPr>
            <a:r>
              <a:rPr lang="en-US" sz="975" b="1" dirty="0">
                <a:solidFill>
                  <a:srgbClr val="FF5A1F"/>
                </a:solidFill>
                <a:latin typeface="Space Grotesk" pitchFamily="34" charset="0"/>
                <a:ea typeface="Space Grotesk" pitchFamily="34" charset="-122"/>
                <a:cs typeface="Space Grotesk" pitchFamily="34" charset="-120"/>
              </a:rPr>
              <a:t>Common-equivalent </a:t>
            </a:r>
            <a:r>
              <a:rPr lang="en-US" sz="975" dirty="0">
                <a:solidFill>
                  <a:srgbClr val="3A3A3A"/>
                </a:solidFill>
                <a:latin typeface="Space Grotesk" pitchFamily="34" charset="0"/>
                <a:ea typeface="Space Grotesk" pitchFamily="34" charset="-122"/>
                <a:cs typeface="Space Grotesk" pitchFamily="34" charset="-120"/>
              </a:rPr>
              <a:t>implied valuation</a:t>
            </a:r>
            <a:endParaRPr lang="en-US" sz="975" dirty="0"/>
          </a:p>
        </p:txBody>
      </p:sp>
      <p:sp>
        <p:nvSpPr>
          <p:cNvPr id="24" name="Shape 22"/>
          <p:cNvSpPr/>
          <p:nvPr/>
        </p:nvSpPr>
        <p:spPr>
          <a:xfrm>
            <a:off x="952500" y="6125468"/>
            <a:ext cx="8811444" cy="3018532"/>
          </a:xfrm>
          <a:prstGeom prst="rect">
            <a:avLst/>
          </a:prstGeom>
          <a:ln w="9525">
            <a:solidFill>
              <a:srgbClr val="E2DFD8"/>
            </a:solidFill>
            <a:prstDash val="solid"/>
          </a:ln>
        </p:spPr>
        <p:txBody>
          <a:bodyPr/>
          <a:lstStyle/>
          <a:p>
            <a:endParaRPr lang="en-US"/>
          </a:p>
        </p:txBody>
      </p:sp>
      <p:sp>
        <p:nvSpPr>
          <p:cNvPr id="25" name="Shape 23"/>
          <p:cNvSpPr/>
          <p:nvPr/>
        </p:nvSpPr>
        <p:spPr>
          <a:xfrm>
            <a:off x="962025" y="6134993"/>
            <a:ext cx="8792394" cy="357188"/>
          </a:xfrm>
          <a:prstGeom prst="rect">
            <a:avLst/>
          </a:prstGeom>
          <a:solidFill>
            <a:srgbClr val="0A0A0A"/>
          </a:solidFill>
          <a:ln/>
        </p:spPr>
        <p:txBody>
          <a:bodyPr/>
          <a:lstStyle/>
          <a:p>
            <a:endParaRPr lang="en-US"/>
          </a:p>
        </p:txBody>
      </p:sp>
      <p:sp>
        <p:nvSpPr>
          <p:cNvPr id="26" name="Text 24"/>
          <p:cNvSpPr/>
          <p:nvPr/>
        </p:nvSpPr>
        <p:spPr>
          <a:xfrm>
            <a:off x="1133475" y="6230243"/>
            <a:ext cx="8713265" cy="204787"/>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FFFFFF"/>
                </a:solidFill>
                <a:latin typeface="JetBrains Mono" pitchFamily="34" charset="0"/>
                <a:ea typeface="JetBrains Mono" pitchFamily="34" charset="-122"/>
                <a:cs typeface="JetBrains Mono" pitchFamily="34" charset="-120"/>
              </a:rPr>
              <a:t>WHAT THE PRICE REQUIRES VS. WHAT WE MODEL</a:t>
            </a:r>
            <a:endParaRPr lang="en-US" sz="975" dirty="0"/>
          </a:p>
        </p:txBody>
      </p:sp>
      <p:sp>
        <p:nvSpPr>
          <p:cNvPr id="27" name="Shape 25"/>
          <p:cNvSpPr/>
          <p:nvPr/>
        </p:nvSpPr>
        <p:spPr>
          <a:xfrm>
            <a:off x="962025" y="6492180"/>
            <a:ext cx="8792394" cy="300038"/>
          </a:xfrm>
          <a:prstGeom prst="rect">
            <a:avLst/>
          </a:prstGeom>
          <a:solidFill>
            <a:srgbClr val="F6F5F2"/>
          </a:solidFill>
          <a:ln/>
        </p:spPr>
        <p:txBody>
          <a:bodyPr/>
          <a:lstStyle/>
          <a:p>
            <a:endParaRPr lang="en-US"/>
          </a:p>
        </p:txBody>
      </p:sp>
      <p:sp>
        <p:nvSpPr>
          <p:cNvPr id="28" name="Shape 26"/>
          <p:cNvSpPr/>
          <p:nvPr/>
        </p:nvSpPr>
        <p:spPr>
          <a:xfrm>
            <a:off x="962025" y="6782693"/>
            <a:ext cx="8792394" cy="9525"/>
          </a:xfrm>
          <a:prstGeom prst="rect">
            <a:avLst/>
          </a:prstGeom>
          <a:solidFill>
            <a:srgbClr val="E2DFD8"/>
          </a:solidFill>
          <a:ln/>
        </p:spPr>
        <p:txBody>
          <a:bodyPr/>
          <a:lstStyle/>
          <a:p>
            <a:endParaRPr lang="en-US"/>
          </a:p>
        </p:txBody>
      </p:sp>
      <p:sp>
        <p:nvSpPr>
          <p:cNvPr id="29" name="Text 27"/>
          <p:cNvSpPr/>
          <p:nvPr/>
        </p:nvSpPr>
        <p:spPr>
          <a:xfrm>
            <a:off x="7026994" y="6568380"/>
            <a:ext cx="1471836" cy="176212"/>
          </a:xfrm>
          <a:prstGeom prst="rect">
            <a:avLst/>
          </a:prstGeom>
          <a:noFill/>
          <a:ln/>
        </p:spPr>
        <p:txBody>
          <a:bodyPr wrap="square" lIns="25400" tIns="25400" rIns="25400" bIns="25400" rtlCol="0" anchor="t">
            <a:normAutofit lnSpcReduction="10000"/>
          </a:bodyPr>
          <a:lstStyle/>
          <a:p>
            <a:pPr marL="0" indent="0" algn="l">
              <a:buNone/>
            </a:pPr>
            <a:r>
              <a:rPr lang="en-US" sz="825" kern="0" spc="116" dirty="0">
                <a:solidFill>
                  <a:srgbClr val="7A776E"/>
                </a:solidFill>
                <a:latin typeface="JetBrains Mono" pitchFamily="34" charset="0"/>
                <a:ea typeface="JetBrains Mono" pitchFamily="34" charset="-122"/>
                <a:cs typeface="JetBrains Mono" pitchFamily="34" charset="-120"/>
              </a:rPr>
              <a:t>IMPLIED @ $8.2B CE</a:t>
            </a:r>
            <a:endParaRPr lang="en-US" sz="825" dirty="0"/>
          </a:p>
        </p:txBody>
      </p:sp>
      <p:sp>
        <p:nvSpPr>
          <p:cNvPr id="30" name="Text 28"/>
          <p:cNvSpPr/>
          <p:nvPr/>
        </p:nvSpPr>
        <p:spPr>
          <a:xfrm>
            <a:off x="8575030" y="6568380"/>
            <a:ext cx="1084138" cy="176212"/>
          </a:xfrm>
          <a:prstGeom prst="rect">
            <a:avLst/>
          </a:prstGeom>
          <a:noFill/>
          <a:ln/>
        </p:spPr>
        <p:txBody>
          <a:bodyPr wrap="square" lIns="25400" tIns="25400" rIns="25400" bIns="25400" rtlCol="0" anchor="t">
            <a:normAutofit lnSpcReduction="10000"/>
          </a:bodyPr>
          <a:lstStyle/>
          <a:p>
            <a:pPr marL="0" indent="0" algn="l">
              <a:buNone/>
            </a:pPr>
            <a:r>
              <a:rPr lang="en-US" sz="825" kern="0" spc="116" dirty="0">
                <a:solidFill>
                  <a:srgbClr val="7A776E"/>
                </a:solidFill>
                <a:latin typeface="JetBrains Mono" pitchFamily="34" charset="0"/>
                <a:ea typeface="JetBrains Mono" pitchFamily="34" charset="-122"/>
                <a:cs typeface="JetBrains Mono" pitchFamily="34" charset="-120"/>
              </a:rPr>
              <a:t>OUR BASE CASE</a:t>
            </a:r>
            <a:endParaRPr lang="en-US" sz="825" dirty="0"/>
          </a:p>
        </p:txBody>
      </p:sp>
      <p:sp>
        <p:nvSpPr>
          <p:cNvPr id="31" name="Shape 29"/>
          <p:cNvSpPr/>
          <p:nvPr/>
        </p:nvSpPr>
        <p:spPr>
          <a:xfrm>
            <a:off x="962025" y="7249418"/>
            <a:ext cx="8792394" cy="9525"/>
          </a:xfrm>
          <a:prstGeom prst="rect">
            <a:avLst/>
          </a:prstGeom>
          <a:solidFill>
            <a:srgbClr val="E2DFD8"/>
          </a:solidFill>
          <a:ln/>
        </p:spPr>
        <p:txBody>
          <a:bodyPr/>
          <a:lstStyle/>
          <a:p>
            <a:endParaRPr lang="en-US"/>
          </a:p>
        </p:txBody>
      </p:sp>
      <p:sp>
        <p:nvSpPr>
          <p:cNvPr id="32" name="Text 30"/>
          <p:cNvSpPr/>
          <p:nvPr/>
        </p:nvSpPr>
        <p:spPr>
          <a:xfrm>
            <a:off x="1133475" y="6925568"/>
            <a:ext cx="6034454" cy="242888"/>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3A3A3A"/>
                </a:solidFill>
                <a:latin typeface="Space Grotesk" pitchFamily="34" charset="0"/>
                <a:ea typeface="Space Grotesk" pitchFamily="34" charset="-122"/>
                <a:cs typeface="Space Grotesk" pitchFamily="34" charset="-120"/>
              </a:rPr>
              <a:t>Subscriber count by Y5</a:t>
            </a:r>
            <a:endParaRPr lang="en-US" sz="1275" dirty="0"/>
          </a:p>
        </p:txBody>
      </p:sp>
      <p:sp>
        <p:nvSpPr>
          <p:cNvPr id="33" name="Text 31"/>
          <p:cNvSpPr/>
          <p:nvPr/>
        </p:nvSpPr>
        <p:spPr>
          <a:xfrm>
            <a:off x="7068369" y="6906518"/>
            <a:ext cx="1219200" cy="266700"/>
          </a:xfrm>
          <a:prstGeom prst="rect">
            <a:avLst/>
          </a:prstGeom>
          <a:noFill/>
          <a:ln/>
        </p:spPr>
        <p:txBody>
          <a:bodyPr wrap="square" lIns="25400" tIns="25400" rIns="25400" bIns="25400" rtlCol="0" anchor="t">
            <a:normAutofit/>
          </a:bodyPr>
          <a:lstStyle/>
          <a:p>
            <a:pPr marL="0" indent="0" algn="r">
              <a:buNone/>
            </a:pPr>
            <a:r>
              <a:rPr lang="en-US" sz="1350" b="1" dirty="0">
                <a:solidFill>
                  <a:srgbClr val="FF5A1F"/>
                </a:solidFill>
                <a:latin typeface="JetBrains Mono" pitchFamily="34" charset="0"/>
                <a:ea typeface="JetBrains Mono" pitchFamily="34" charset="-122"/>
                <a:cs typeface="JetBrains Mono" pitchFamily="34" charset="-120"/>
              </a:rPr>
              <a:t>8.4M</a:t>
            </a:r>
            <a:endParaRPr lang="en-US" sz="1350" dirty="0"/>
          </a:p>
        </p:txBody>
      </p:sp>
      <p:sp>
        <p:nvSpPr>
          <p:cNvPr id="34" name="Text 32"/>
          <p:cNvSpPr/>
          <p:nvPr/>
        </p:nvSpPr>
        <p:spPr>
          <a:xfrm>
            <a:off x="8363769" y="6925568"/>
            <a:ext cx="1219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7A776E"/>
                </a:solidFill>
                <a:latin typeface="JetBrains Mono" pitchFamily="34" charset="0"/>
                <a:ea typeface="JetBrains Mono" pitchFamily="34" charset="-122"/>
                <a:cs typeface="JetBrains Mono" pitchFamily="34" charset="-120"/>
              </a:rPr>
              <a:t>7.1M</a:t>
            </a:r>
            <a:endParaRPr lang="en-US" sz="1200" dirty="0"/>
          </a:p>
        </p:txBody>
      </p:sp>
      <p:sp>
        <p:nvSpPr>
          <p:cNvPr id="35" name="Shape 33"/>
          <p:cNvSpPr/>
          <p:nvPr/>
        </p:nvSpPr>
        <p:spPr>
          <a:xfrm>
            <a:off x="962025" y="7716143"/>
            <a:ext cx="8792394" cy="9525"/>
          </a:xfrm>
          <a:prstGeom prst="rect">
            <a:avLst/>
          </a:prstGeom>
          <a:solidFill>
            <a:srgbClr val="E2DFD8"/>
          </a:solidFill>
          <a:ln/>
        </p:spPr>
        <p:txBody>
          <a:bodyPr/>
          <a:lstStyle/>
          <a:p>
            <a:endParaRPr lang="en-US"/>
          </a:p>
        </p:txBody>
      </p:sp>
      <p:sp>
        <p:nvSpPr>
          <p:cNvPr id="36" name="Text 34"/>
          <p:cNvSpPr/>
          <p:nvPr/>
        </p:nvSpPr>
        <p:spPr>
          <a:xfrm>
            <a:off x="1133475" y="7392293"/>
            <a:ext cx="6034454" cy="242888"/>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3A3A3A"/>
                </a:solidFill>
                <a:latin typeface="Space Grotesk" pitchFamily="34" charset="0"/>
                <a:ea typeface="Space Grotesk" pitchFamily="34" charset="-122"/>
                <a:cs typeface="Space Grotesk" pitchFamily="34" charset="-120"/>
              </a:rPr>
              <a:t>Terminal EBITDA margin</a:t>
            </a:r>
            <a:endParaRPr lang="en-US" sz="1275" dirty="0"/>
          </a:p>
        </p:txBody>
      </p:sp>
      <p:sp>
        <p:nvSpPr>
          <p:cNvPr id="37" name="Text 35"/>
          <p:cNvSpPr/>
          <p:nvPr/>
        </p:nvSpPr>
        <p:spPr>
          <a:xfrm>
            <a:off x="7068369" y="7373243"/>
            <a:ext cx="1219200" cy="266700"/>
          </a:xfrm>
          <a:prstGeom prst="rect">
            <a:avLst/>
          </a:prstGeom>
          <a:noFill/>
          <a:ln/>
        </p:spPr>
        <p:txBody>
          <a:bodyPr wrap="square" lIns="25400" tIns="25400" rIns="25400" bIns="25400" rtlCol="0" anchor="t">
            <a:normAutofit/>
          </a:bodyPr>
          <a:lstStyle/>
          <a:p>
            <a:pPr marL="0" indent="0" algn="r">
              <a:buNone/>
            </a:pPr>
            <a:r>
              <a:rPr lang="en-US" sz="1350" b="1" dirty="0">
                <a:solidFill>
                  <a:srgbClr val="FF5A1F"/>
                </a:solidFill>
                <a:latin typeface="JetBrains Mono" pitchFamily="34" charset="0"/>
                <a:ea typeface="JetBrains Mono" pitchFamily="34" charset="-122"/>
                <a:cs typeface="JetBrains Mono" pitchFamily="34" charset="-120"/>
              </a:rPr>
              <a:t>29%</a:t>
            </a:r>
            <a:endParaRPr lang="en-US" sz="1350" dirty="0"/>
          </a:p>
        </p:txBody>
      </p:sp>
      <p:sp>
        <p:nvSpPr>
          <p:cNvPr id="38" name="Text 36"/>
          <p:cNvSpPr/>
          <p:nvPr/>
        </p:nvSpPr>
        <p:spPr>
          <a:xfrm>
            <a:off x="8363769" y="7392293"/>
            <a:ext cx="1219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7A776E"/>
                </a:solidFill>
                <a:latin typeface="JetBrains Mono" pitchFamily="34" charset="0"/>
                <a:ea typeface="JetBrains Mono" pitchFamily="34" charset="-122"/>
                <a:cs typeface="JetBrains Mono" pitchFamily="34" charset="-120"/>
              </a:rPr>
              <a:t>26%</a:t>
            </a:r>
            <a:endParaRPr lang="en-US" sz="1200" dirty="0"/>
          </a:p>
        </p:txBody>
      </p:sp>
      <p:sp>
        <p:nvSpPr>
          <p:cNvPr id="39" name="Shape 37"/>
          <p:cNvSpPr/>
          <p:nvPr/>
        </p:nvSpPr>
        <p:spPr>
          <a:xfrm>
            <a:off x="962025" y="8182868"/>
            <a:ext cx="8792394" cy="9525"/>
          </a:xfrm>
          <a:prstGeom prst="rect">
            <a:avLst/>
          </a:prstGeom>
          <a:solidFill>
            <a:srgbClr val="E2DFD8"/>
          </a:solidFill>
          <a:ln/>
        </p:spPr>
        <p:txBody>
          <a:bodyPr/>
          <a:lstStyle/>
          <a:p>
            <a:endParaRPr lang="en-US"/>
          </a:p>
        </p:txBody>
      </p:sp>
      <p:sp>
        <p:nvSpPr>
          <p:cNvPr id="40" name="Text 38"/>
          <p:cNvSpPr/>
          <p:nvPr/>
        </p:nvSpPr>
        <p:spPr>
          <a:xfrm>
            <a:off x="1133475" y="7859018"/>
            <a:ext cx="6034454" cy="242888"/>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3A3A3A"/>
                </a:solidFill>
                <a:latin typeface="Space Grotesk" pitchFamily="34" charset="0"/>
                <a:ea typeface="Space Grotesk" pitchFamily="34" charset="-122"/>
                <a:cs typeface="Space Grotesk" pitchFamily="34" charset="-120"/>
              </a:rPr>
              <a:t>Revenue CAGR (Y1–Y7)</a:t>
            </a:r>
            <a:endParaRPr lang="en-US" sz="1275" dirty="0"/>
          </a:p>
        </p:txBody>
      </p:sp>
      <p:sp>
        <p:nvSpPr>
          <p:cNvPr id="41" name="Text 39"/>
          <p:cNvSpPr/>
          <p:nvPr/>
        </p:nvSpPr>
        <p:spPr>
          <a:xfrm>
            <a:off x="7068369" y="7839968"/>
            <a:ext cx="1219200" cy="266700"/>
          </a:xfrm>
          <a:prstGeom prst="rect">
            <a:avLst/>
          </a:prstGeom>
          <a:noFill/>
          <a:ln/>
        </p:spPr>
        <p:txBody>
          <a:bodyPr wrap="square" lIns="25400" tIns="25400" rIns="25400" bIns="25400" rtlCol="0" anchor="t">
            <a:normAutofit/>
          </a:bodyPr>
          <a:lstStyle/>
          <a:p>
            <a:pPr marL="0" indent="0" algn="r">
              <a:buNone/>
            </a:pPr>
            <a:r>
              <a:rPr lang="en-US" sz="1350" b="1" dirty="0">
                <a:solidFill>
                  <a:srgbClr val="FF5A1F"/>
                </a:solidFill>
                <a:latin typeface="JetBrains Mono" pitchFamily="34" charset="0"/>
                <a:ea typeface="JetBrains Mono" pitchFamily="34" charset="-122"/>
                <a:cs typeface="JetBrains Mono" pitchFamily="34" charset="-120"/>
              </a:rPr>
              <a:t>26%</a:t>
            </a:r>
            <a:endParaRPr lang="en-US" sz="1350" dirty="0"/>
          </a:p>
        </p:txBody>
      </p:sp>
      <p:sp>
        <p:nvSpPr>
          <p:cNvPr id="42" name="Text 40"/>
          <p:cNvSpPr/>
          <p:nvPr/>
        </p:nvSpPr>
        <p:spPr>
          <a:xfrm>
            <a:off x="8363769" y="7859018"/>
            <a:ext cx="1219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7A776E"/>
                </a:solidFill>
                <a:latin typeface="JetBrains Mono" pitchFamily="34" charset="0"/>
                <a:ea typeface="JetBrains Mono" pitchFamily="34" charset="-122"/>
                <a:cs typeface="JetBrains Mono" pitchFamily="34" charset="-120"/>
              </a:rPr>
              <a:t>22%</a:t>
            </a:r>
            <a:endParaRPr lang="en-US" sz="1200" dirty="0"/>
          </a:p>
        </p:txBody>
      </p:sp>
      <p:sp>
        <p:nvSpPr>
          <p:cNvPr id="43" name="Shape 41"/>
          <p:cNvSpPr/>
          <p:nvPr/>
        </p:nvSpPr>
        <p:spPr>
          <a:xfrm>
            <a:off x="962025" y="8649593"/>
            <a:ext cx="8792394" cy="9525"/>
          </a:xfrm>
          <a:prstGeom prst="rect">
            <a:avLst/>
          </a:prstGeom>
          <a:solidFill>
            <a:srgbClr val="E2DFD8"/>
          </a:solidFill>
          <a:ln/>
        </p:spPr>
        <p:txBody>
          <a:bodyPr/>
          <a:lstStyle/>
          <a:p>
            <a:endParaRPr lang="en-US"/>
          </a:p>
        </p:txBody>
      </p:sp>
      <p:sp>
        <p:nvSpPr>
          <p:cNvPr id="44" name="Text 42"/>
          <p:cNvSpPr/>
          <p:nvPr/>
        </p:nvSpPr>
        <p:spPr>
          <a:xfrm>
            <a:off x="1133475" y="8325743"/>
            <a:ext cx="6034454" cy="242888"/>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3A3A3A"/>
                </a:solidFill>
                <a:latin typeface="Space Grotesk" pitchFamily="34" charset="0"/>
                <a:ea typeface="Space Grotesk" pitchFamily="34" charset="-122"/>
                <a:cs typeface="Space Grotesk" pitchFamily="34" charset="-120"/>
              </a:rPr>
              <a:t>Terminal churn</a:t>
            </a:r>
            <a:endParaRPr lang="en-US" sz="1275" dirty="0"/>
          </a:p>
        </p:txBody>
      </p:sp>
      <p:sp>
        <p:nvSpPr>
          <p:cNvPr id="45" name="Text 43"/>
          <p:cNvSpPr/>
          <p:nvPr/>
        </p:nvSpPr>
        <p:spPr>
          <a:xfrm>
            <a:off x="7068369" y="8306693"/>
            <a:ext cx="1219200" cy="266700"/>
          </a:xfrm>
          <a:prstGeom prst="rect">
            <a:avLst/>
          </a:prstGeom>
          <a:noFill/>
          <a:ln/>
        </p:spPr>
        <p:txBody>
          <a:bodyPr wrap="square" lIns="25400" tIns="25400" rIns="25400" bIns="25400" rtlCol="0" anchor="t">
            <a:normAutofit/>
          </a:bodyPr>
          <a:lstStyle/>
          <a:p>
            <a:pPr marL="0" indent="0" algn="r">
              <a:buNone/>
            </a:pPr>
            <a:r>
              <a:rPr lang="en-US" sz="1350" b="1" dirty="0">
                <a:solidFill>
                  <a:srgbClr val="FF5A1F"/>
                </a:solidFill>
                <a:latin typeface="JetBrains Mono" pitchFamily="34" charset="0"/>
                <a:ea typeface="JetBrains Mono" pitchFamily="34" charset="-122"/>
                <a:cs typeface="JetBrains Mono" pitchFamily="34" charset="-120"/>
              </a:rPr>
              <a:t>12%</a:t>
            </a:r>
            <a:endParaRPr lang="en-US" sz="1350" dirty="0"/>
          </a:p>
        </p:txBody>
      </p:sp>
      <p:sp>
        <p:nvSpPr>
          <p:cNvPr id="46" name="Text 44"/>
          <p:cNvSpPr/>
          <p:nvPr/>
        </p:nvSpPr>
        <p:spPr>
          <a:xfrm>
            <a:off x="8363769" y="8325743"/>
            <a:ext cx="1219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7A776E"/>
                </a:solidFill>
                <a:latin typeface="JetBrains Mono" pitchFamily="34" charset="0"/>
                <a:ea typeface="JetBrains Mono" pitchFamily="34" charset="-122"/>
                <a:cs typeface="JetBrains Mono" pitchFamily="34" charset="-120"/>
              </a:rPr>
              <a:t>14%</a:t>
            </a:r>
            <a:endParaRPr lang="en-US" sz="1200" dirty="0"/>
          </a:p>
        </p:txBody>
      </p:sp>
      <p:sp>
        <p:nvSpPr>
          <p:cNvPr id="47" name="Text 45"/>
          <p:cNvSpPr/>
          <p:nvPr/>
        </p:nvSpPr>
        <p:spPr>
          <a:xfrm>
            <a:off x="1133475" y="8792468"/>
            <a:ext cx="6034454" cy="242888"/>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3A3A3A"/>
                </a:solidFill>
                <a:latin typeface="Space Grotesk" pitchFamily="34" charset="0"/>
                <a:ea typeface="Space Grotesk" pitchFamily="34" charset="-122"/>
                <a:cs typeface="Space Grotesk" pitchFamily="34" charset="-120"/>
              </a:rPr>
              <a:t>WACC</a:t>
            </a:r>
            <a:endParaRPr lang="en-US" sz="1275" dirty="0"/>
          </a:p>
        </p:txBody>
      </p:sp>
      <p:sp>
        <p:nvSpPr>
          <p:cNvPr id="48" name="Text 46"/>
          <p:cNvSpPr/>
          <p:nvPr/>
        </p:nvSpPr>
        <p:spPr>
          <a:xfrm>
            <a:off x="7068369" y="8773418"/>
            <a:ext cx="1219200" cy="266700"/>
          </a:xfrm>
          <a:prstGeom prst="rect">
            <a:avLst/>
          </a:prstGeom>
          <a:noFill/>
          <a:ln/>
        </p:spPr>
        <p:txBody>
          <a:bodyPr wrap="square" lIns="25400" tIns="25400" rIns="25400" bIns="25400" rtlCol="0" anchor="t">
            <a:normAutofit/>
          </a:bodyPr>
          <a:lstStyle/>
          <a:p>
            <a:pPr marL="0" indent="0" algn="r">
              <a:buNone/>
            </a:pPr>
            <a:r>
              <a:rPr lang="en-US" sz="1350" b="1" dirty="0">
                <a:solidFill>
                  <a:srgbClr val="FF5A1F"/>
                </a:solidFill>
                <a:latin typeface="JetBrains Mono" pitchFamily="34" charset="0"/>
                <a:ea typeface="JetBrains Mono" pitchFamily="34" charset="-122"/>
                <a:cs typeface="JetBrains Mono" pitchFamily="34" charset="-120"/>
              </a:rPr>
              <a:t>9.5%</a:t>
            </a:r>
            <a:endParaRPr lang="en-US" sz="1350" dirty="0"/>
          </a:p>
        </p:txBody>
      </p:sp>
      <p:sp>
        <p:nvSpPr>
          <p:cNvPr id="49" name="Text 47"/>
          <p:cNvSpPr/>
          <p:nvPr/>
        </p:nvSpPr>
        <p:spPr>
          <a:xfrm>
            <a:off x="8363769" y="8792468"/>
            <a:ext cx="1219200" cy="242888"/>
          </a:xfrm>
          <a:prstGeom prst="rect">
            <a:avLst/>
          </a:prstGeom>
          <a:noFill/>
          <a:ln/>
        </p:spPr>
        <p:txBody>
          <a:bodyPr wrap="square" lIns="25400" tIns="25400" rIns="25400" bIns="25400" rtlCol="0" anchor="t">
            <a:normAutofit/>
          </a:bodyPr>
          <a:lstStyle/>
          <a:p>
            <a:pPr marL="0" indent="0" algn="r">
              <a:buNone/>
            </a:pPr>
            <a:r>
              <a:rPr lang="en-US" sz="1200" dirty="0">
                <a:solidFill>
                  <a:srgbClr val="7A776E"/>
                </a:solidFill>
                <a:latin typeface="JetBrains Mono" pitchFamily="34" charset="0"/>
                <a:ea typeface="JetBrains Mono" pitchFamily="34" charset="-122"/>
                <a:cs typeface="JetBrains Mono" pitchFamily="34" charset="-120"/>
              </a:rPr>
              <a:t>10.5%</a:t>
            </a:r>
            <a:endParaRPr lang="en-US" sz="1200" dirty="0"/>
          </a:p>
        </p:txBody>
      </p:sp>
      <p:sp>
        <p:nvSpPr>
          <p:cNvPr id="50" name="Shape 48"/>
          <p:cNvSpPr/>
          <p:nvPr/>
        </p:nvSpPr>
        <p:spPr>
          <a:xfrm>
            <a:off x="9992544" y="6125468"/>
            <a:ext cx="7342882" cy="3018532"/>
          </a:xfrm>
          <a:prstGeom prst="rect">
            <a:avLst/>
          </a:prstGeom>
          <a:solidFill>
            <a:srgbClr val="FF5A1F">
              <a:alpha val="5000"/>
            </a:srgbClr>
          </a:solidFill>
          <a:ln w="19050">
            <a:solidFill>
              <a:srgbClr val="FF5A1F"/>
            </a:solidFill>
            <a:prstDash val="solid"/>
          </a:ln>
        </p:spPr>
        <p:txBody>
          <a:bodyPr/>
          <a:lstStyle/>
          <a:p>
            <a:endParaRPr lang="en-US"/>
          </a:p>
        </p:txBody>
      </p:sp>
      <p:sp>
        <p:nvSpPr>
          <p:cNvPr id="51" name="Text 49"/>
          <p:cNvSpPr/>
          <p:nvPr/>
        </p:nvSpPr>
        <p:spPr>
          <a:xfrm>
            <a:off x="10240194" y="6373118"/>
            <a:ext cx="7053009" cy="204787"/>
          </a:xfrm>
          <a:prstGeom prst="rect">
            <a:avLst/>
          </a:prstGeom>
          <a:noFill/>
          <a:ln/>
        </p:spPr>
        <p:txBody>
          <a:bodyPr wrap="square" lIns="25400" tIns="25400" rIns="25400" bIns="25400" rtlCol="0" anchor="t">
            <a:normAutofit/>
          </a:bodyPr>
          <a:lstStyle/>
          <a:p>
            <a:pPr marL="0" indent="0" algn="l">
              <a:buNone/>
            </a:pPr>
            <a:r>
              <a:rPr lang="en-US" sz="975" b="1" kern="0" spc="156" dirty="0">
                <a:solidFill>
                  <a:srgbClr val="FF5A1F"/>
                </a:solidFill>
                <a:latin typeface="JetBrains Mono" pitchFamily="34" charset="0"/>
                <a:ea typeface="JetBrains Mono" pitchFamily="34" charset="-122"/>
                <a:cs typeface="JetBrains Mono" pitchFamily="34" charset="-120"/>
              </a:rPr>
              <a:t>ONE-SENTENCE VERDICT</a:t>
            </a:r>
            <a:endParaRPr lang="en-US" sz="975" dirty="0"/>
          </a:p>
        </p:txBody>
      </p:sp>
      <p:sp>
        <p:nvSpPr>
          <p:cNvPr id="52" name="Text 50"/>
          <p:cNvSpPr/>
          <p:nvPr/>
        </p:nvSpPr>
        <p:spPr>
          <a:xfrm>
            <a:off x="10240194" y="6654105"/>
            <a:ext cx="7053009" cy="855166"/>
          </a:xfrm>
          <a:prstGeom prst="rect">
            <a:avLst/>
          </a:prstGeom>
          <a:noFill/>
          <a:ln/>
        </p:spPr>
        <p:txBody>
          <a:bodyPr wrap="square" lIns="25400" tIns="25400" rIns="25400" bIns="25400" rtlCol="0" anchor="t">
            <a:normAutofit/>
          </a:bodyPr>
          <a:lstStyle/>
          <a:p>
            <a:pPr marL="0" indent="0" algn="l">
              <a:lnSpc>
                <a:spcPct val="130000"/>
              </a:lnSpc>
              <a:buNone/>
            </a:pPr>
            <a:r>
              <a:rPr lang="en-US" sz="1650" dirty="0">
                <a:solidFill>
                  <a:srgbClr val="0A0A0A"/>
                </a:solidFill>
                <a:latin typeface="Space Grotesk" pitchFamily="34" charset="0"/>
                <a:ea typeface="Space Grotesk" pitchFamily="34" charset="-122"/>
                <a:cs typeface="Space Grotesk" pitchFamily="34" charset="-120"/>
              </a:rPr>
              <a:t>The market is paying for a </a:t>
            </a:r>
            <a:r>
              <a:rPr lang="en-US" sz="1650" b="1" dirty="0">
                <a:solidFill>
                  <a:srgbClr val="FF5A1F"/>
                </a:solidFill>
                <a:latin typeface="Space Grotesk" pitchFamily="34" charset="0"/>
                <a:ea typeface="Space Grotesk" pitchFamily="34" charset="-122"/>
                <a:cs typeface="Space Grotesk" pitchFamily="34" charset="-120"/>
              </a:rPr>
              <a:t>health-data trajectory </a:t>
            </a:r>
            <a:r>
              <a:rPr lang="en-US" sz="1650" dirty="0">
                <a:solidFill>
                  <a:srgbClr val="0A0A0A"/>
                </a:solidFill>
                <a:latin typeface="Space Grotesk" pitchFamily="34" charset="0"/>
                <a:ea typeface="Space Grotesk" pitchFamily="34" charset="-122"/>
                <a:cs typeface="Space Grotesk" pitchFamily="34" charset="-120"/>
              </a:rPr>
              <a:t>; our DCF supports a </a:t>
            </a:r>
            <a:r>
              <a:rPr lang="en-US" sz="1650" b="1" dirty="0">
                <a:solidFill>
                  <a:srgbClr val="FF5A1F"/>
                </a:solidFill>
                <a:latin typeface="Space Grotesk" pitchFamily="34" charset="0"/>
                <a:ea typeface="Space Grotesk" pitchFamily="34" charset="-122"/>
                <a:cs typeface="Space Grotesk" pitchFamily="34" charset="-120"/>
              </a:rPr>
              <a:t>premium consumer subscription </a:t>
            </a:r>
            <a:r>
              <a:rPr lang="en-US" sz="1650" dirty="0">
                <a:solidFill>
                  <a:srgbClr val="0A0A0A"/>
                </a:solidFill>
                <a:latin typeface="Space Grotesk" pitchFamily="34" charset="0"/>
                <a:ea typeface="Space Grotesk" pitchFamily="34" charset="-122"/>
                <a:cs typeface="Space Grotesk" pitchFamily="34" charset="-120"/>
              </a:rPr>
              <a:t>. Real options close ~70% of the gap — but not all of it.</a:t>
            </a:r>
            <a:endParaRPr lang="en-US" sz="1650" dirty="0"/>
          </a:p>
        </p:txBody>
      </p:sp>
      <p:sp>
        <p:nvSpPr>
          <p:cNvPr id="53" name="Shape 51"/>
          <p:cNvSpPr/>
          <p:nvPr/>
        </p:nvSpPr>
        <p:spPr>
          <a:xfrm>
            <a:off x="10240194" y="7585472"/>
            <a:ext cx="6847582" cy="9525"/>
          </a:xfrm>
          <a:prstGeom prst="rect">
            <a:avLst/>
          </a:prstGeom>
          <a:solidFill>
            <a:srgbClr val="FF5A1F"/>
          </a:solidFill>
          <a:ln/>
        </p:spPr>
        <p:txBody>
          <a:bodyPr/>
          <a:lstStyle/>
          <a:p>
            <a:endParaRPr lang="en-US"/>
          </a:p>
        </p:txBody>
      </p:sp>
      <p:sp>
        <p:nvSpPr>
          <p:cNvPr id="54" name="Text 52"/>
          <p:cNvSpPr/>
          <p:nvPr/>
        </p:nvSpPr>
        <p:spPr>
          <a:xfrm>
            <a:off x="10240194" y="7825978"/>
            <a:ext cx="1633984" cy="204787"/>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FF5A1F"/>
                </a:solidFill>
                <a:latin typeface="JetBrains Mono" pitchFamily="34" charset="0"/>
                <a:ea typeface="JetBrains Mono" pitchFamily="34" charset="-122"/>
                <a:cs typeface="JetBrains Mono" pitchFamily="34" charset="-120"/>
              </a:rPr>
              <a:t>COMMON-EQUIV. GAP</a:t>
            </a:r>
            <a:endParaRPr lang="en-US" sz="975" dirty="0"/>
          </a:p>
        </p:txBody>
      </p:sp>
      <p:sp>
        <p:nvSpPr>
          <p:cNvPr id="55" name="Text 53"/>
          <p:cNvSpPr/>
          <p:nvPr/>
        </p:nvSpPr>
        <p:spPr>
          <a:xfrm>
            <a:off x="15990466" y="7728347"/>
            <a:ext cx="1173510"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FF5A1F"/>
                </a:solidFill>
                <a:latin typeface="JetBrains Mono" pitchFamily="34" charset="0"/>
                <a:ea typeface="JetBrains Mono" pitchFamily="34" charset="-122"/>
                <a:cs typeface="JetBrains Mono" pitchFamily="34" charset="-120"/>
              </a:rPr>
              <a:t>~$1.9B</a:t>
            </a:r>
            <a:endParaRPr lang="en-US" sz="2400" dirty="0"/>
          </a:p>
        </p:txBody>
      </p:sp>
      <p:sp>
        <p:nvSpPr>
          <p:cNvPr id="56" name="Text 54"/>
          <p:cNvSpPr/>
          <p:nvPr/>
        </p:nvSpPr>
        <p:spPr>
          <a:xfrm>
            <a:off x="952500" y="9767888"/>
            <a:ext cx="12603365"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FF5A1F"/>
                </a:solidFill>
                <a:latin typeface="JetBrains Mono" pitchFamily="34" charset="0"/>
                <a:ea typeface="JetBrains Mono" pitchFamily="34" charset="-122"/>
                <a:cs typeface="JetBrains Mono" pitchFamily="34" charset="-120"/>
              </a:rPr>
              <a:t>GORNALL &amp; STREBULAEV (2020) </a:t>
            </a:r>
            <a:r>
              <a:rPr lang="en-US" sz="1050" kern="0" spc="147" dirty="0">
                <a:solidFill>
                  <a:srgbClr val="7A776E"/>
                </a:solidFill>
                <a:latin typeface="JetBrains Mono" pitchFamily="34" charset="0"/>
                <a:ea typeface="JetBrains Mono" pitchFamily="34" charset="-122"/>
                <a:cs typeface="JetBrains Mono" pitchFamily="34" charset="-120"/>
              </a:rPr>
              <a:t>· CAPITAL STRUCTURE (LECTURES 4C, 6A) — LIQUIDATION PREFS ARE DEBT-LIKE CLAIMS SENIOR TO COMMON.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5725329"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09 / 12</a:t>
            </a:r>
            <a:endParaRPr lang="en-US" sz="1050" dirty="0"/>
          </a:p>
        </p:txBody>
      </p:sp>
      <p:sp>
        <p:nvSpPr>
          <p:cNvPr id="4" name="Text 2"/>
          <p:cNvSpPr/>
          <p:nvPr/>
        </p:nvSpPr>
        <p:spPr>
          <a:xfrm>
            <a:off x="16644714"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VERDICT</a:t>
            </a:r>
            <a:endParaRPr lang="en-US" sz="1050" dirty="0"/>
          </a:p>
        </p:txBody>
      </p:sp>
      <p:sp>
        <p:nvSpPr>
          <p:cNvPr id="5" name="Text 3"/>
          <p:cNvSpPr/>
          <p:nvPr/>
        </p:nvSpPr>
        <p:spPr>
          <a:xfrm>
            <a:off x="952500" y="1047750"/>
            <a:ext cx="16874490"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FF5A1F"/>
                </a:solidFill>
                <a:latin typeface="JetBrains Mono" pitchFamily="34" charset="0"/>
                <a:ea typeface="JetBrains Mono" pitchFamily="34" charset="-122"/>
                <a:cs typeface="JetBrains Mono" pitchFamily="34" charset="-120"/>
              </a:rPr>
              <a:t>SLIDE 09 · TRIANGULATION</a:t>
            </a:r>
            <a:endParaRPr lang="en-US" sz="1350" dirty="0"/>
          </a:p>
        </p:txBody>
      </p:sp>
      <p:sp>
        <p:nvSpPr>
          <p:cNvPr id="6" name="Text 4"/>
          <p:cNvSpPr/>
          <p:nvPr/>
        </p:nvSpPr>
        <p:spPr>
          <a:xfrm>
            <a:off x="952500" y="1409700"/>
            <a:ext cx="16874490" cy="63244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b="1" kern="0" spc="-81" dirty="0">
                <a:solidFill>
                  <a:srgbClr val="0A0A0A"/>
                </a:solidFill>
                <a:latin typeface="Space Grotesk" pitchFamily="34" charset="0"/>
                <a:ea typeface="Space Grotesk" pitchFamily="34" charset="-122"/>
                <a:cs typeface="Space Grotesk" pitchFamily="34" charset="-120"/>
              </a:rPr>
              <a:t>The verdict — </a:t>
            </a:r>
            <a:r>
              <a:rPr lang="en-US" sz="4500" b="1" kern="0" spc="-81" dirty="0">
                <a:solidFill>
                  <a:srgbClr val="FF5A1F"/>
                </a:solidFill>
                <a:latin typeface="Space Grotesk" pitchFamily="34" charset="0"/>
                <a:ea typeface="Space Grotesk" pitchFamily="34" charset="-122"/>
                <a:cs typeface="Space Grotesk" pitchFamily="34" charset="-120"/>
              </a:rPr>
              <a:t>modestly over.</a:t>
            </a:r>
            <a:endParaRPr lang="en-US" sz="4500" dirty="0"/>
          </a:p>
        </p:txBody>
      </p:sp>
      <p:sp>
        <p:nvSpPr>
          <p:cNvPr id="7" name="Text 5"/>
          <p:cNvSpPr/>
          <p:nvPr/>
        </p:nvSpPr>
        <p:spPr>
          <a:xfrm>
            <a:off x="952500" y="2137395"/>
            <a:ext cx="14716125" cy="73149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10" dirty="0">
                <a:solidFill>
                  <a:srgbClr val="3A3A3A"/>
                </a:solidFill>
                <a:latin typeface="Space Grotesk" pitchFamily="34" charset="0"/>
                <a:ea typeface="Space Grotesk" pitchFamily="34" charset="-122"/>
                <a:cs typeface="Space Grotesk" pitchFamily="34" charset="-120"/>
              </a:rPr>
              <a:t>Five methods, one chart. The Series G headline sits at the upper edge of the central cluster; only the health-data bucket and DCF + options reach for it.</a:t>
            </a:r>
            <a:endParaRPr lang="en-US" sz="1950" dirty="0"/>
          </a:p>
        </p:txBody>
      </p:sp>
      <p:sp>
        <p:nvSpPr>
          <p:cNvPr id="8" name="Shape 6"/>
          <p:cNvSpPr/>
          <p:nvPr/>
        </p:nvSpPr>
        <p:spPr>
          <a:xfrm>
            <a:off x="3619500" y="3287985"/>
            <a:ext cx="9525" cy="3981673"/>
          </a:xfrm>
          <a:prstGeom prst="rect">
            <a:avLst/>
          </a:prstGeom>
          <a:solidFill>
            <a:srgbClr val="E2DFD8"/>
          </a:solidFill>
          <a:ln/>
        </p:spPr>
        <p:txBody>
          <a:bodyPr/>
          <a:lstStyle/>
          <a:p>
            <a:endParaRPr lang="en-US"/>
          </a:p>
        </p:txBody>
      </p:sp>
      <p:sp>
        <p:nvSpPr>
          <p:cNvPr id="9" name="Shape 7"/>
          <p:cNvSpPr/>
          <p:nvPr/>
        </p:nvSpPr>
        <p:spPr>
          <a:xfrm>
            <a:off x="7048500" y="3287985"/>
            <a:ext cx="9525" cy="3981673"/>
          </a:xfrm>
          <a:prstGeom prst="rect">
            <a:avLst/>
          </a:prstGeom>
          <a:solidFill>
            <a:srgbClr val="E2DFD8"/>
          </a:solidFill>
          <a:ln/>
        </p:spPr>
        <p:txBody>
          <a:bodyPr/>
          <a:lstStyle/>
          <a:p>
            <a:endParaRPr lang="en-US"/>
          </a:p>
        </p:txBody>
      </p:sp>
      <p:sp>
        <p:nvSpPr>
          <p:cNvPr id="10" name="Shape 8"/>
          <p:cNvSpPr/>
          <p:nvPr/>
        </p:nvSpPr>
        <p:spPr>
          <a:xfrm>
            <a:off x="10477500" y="3287985"/>
            <a:ext cx="9525" cy="3981673"/>
          </a:xfrm>
          <a:prstGeom prst="rect">
            <a:avLst/>
          </a:prstGeom>
          <a:solidFill>
            <a:srgbClr val="E2DFD8"/>
          </a:solidFill>
          <a:ln/>
        </p:spPr>
        <p:txBody>
          <a:bodyPr/>
          <a:lstStyle/>
          <a:p>
            <a:endParaRPr lang="en-US"/>
          </a:p>
        </p:txBody>
      </p:sp>
      <p:sp>
        <p:nvSpPr>
          <p:cNvPr id="11" name="Shape 9"/>
          <p:cNvSpPr/>
          <p:nvPr/>
        </p:nvSpPr>
        <p:spPr>
          <a:xfrm>
            <a:off x="13906500" y="3287985"/>
            <a:ext cx="9525" cy="3981673"/>
          </a:xfrm>
          <a:prstGeom prst="rect">
            <a:avLst/>
          </a:prstGeom>
          <a:solidFill>
            <a:srgbClr val="E2DFD8"/>
          </a:solidFill>
          <a:ln/>
        </p:spPr>
        <p:txBody>
          <a:bodyPr/>
          <a:lstStyle/>
          <a:p>
            <a:endParaRPr lang="en-US"/>
          </a:p>
        </p:txBody>
      </p:sp>
      <p:sp>
        <p:nvSpPr>
          <p:cNvPr id="12" name="Shape 10"/>
          <p:cNvSpPr/>
          <p:nvPr/>
        </p:nvSpPr>
        <p:spPr>
          <a:xfrm>
            <a:off x="17335500" y="3287985"/>
            <a:ext cx="9525" cy="3981673"/>
          </a:xfrm>
          <a:prstGeom prst="rect">
            <a:avLst/>
          </a:prstGeom>
          <a:solidFill>
            <a:srgbClr val="E2DFD8"/>
          </a:solidFill>
          <a:ln/>
        </p:spPr>
        <p:txBody>
          <a:bodyPr/>
          <a:lstStyle/>
          <a:p>
            <a:endParaRPr lang="en-US"/>
          </a:p>
        </p:txBody>
      </p:sp>
      <p:sp>
        <p:nvSpPr>
          <p:cNvPr id="13" name="Text 11"/>
          <p:cNvSpPr/>
          <p:nvPr/>
        </p:nvSpPr>
        <p:spPr>
          <a:xfrm>
            <a:off x="3543300" y="3378473"/>
            <a:ext cx="2552700" cy="185738"/>
          </a:xfrm>
          <a:prstGeom prst="rect">
            <a:avLst/>
          </a:prstGeom>
          <a:noFill/>
          <a:ln/>
        </p:spPr>
        <p:txBody>
          <a:bodyPr wrap="square" lIns="25400" tIns="25400" rIns="25400" bIns="25400" rtlCol="0" anchor="t">
            <a:normAutofit lnSpcReduction="10000"/>
          </a:bodyPr>
          <a:lstStyle/>
          <a:p>
            <a:pPr marL="0" indent="0" algn="r">
              <a:buNone/>
            </a:pPr>
            <a:r>
              <a:rPr lang="en-US" sz="900" kern="0" spc="108" dirty="0">
                <a:solidFill>
                  <a:srgbClr val="7A776E"/>
                </a:solidFill>
                <a:latin typeface="JetBrains Mono" pitchFamily="34" charset="0"/>
                <a:ea typeface="JetBrains Mono" pitchFamily="34" charset="-122"/>
                <a:cs typeface="JetBrains Mono" pitchFamily="34" charset="-120"/>
              </a:rPr>
              <a:t>METHOD 01</a:t>
            </a:r>
            <a:endParaRPr lang="en-US" sz="900" dirty="0"/>
          </a:p>
        </p:txBody>
      </p:sp>
      <p:sp>
        <p:nvSpPr>
          <p:cNvPr id="14" name="Text 12"/>
          <p:cNvSpPr/>
          <p:nvPr/>
        </p:nvSpPr>
        <p:spPr>
          <a:xfrm>
            <a:off x="3862983" y="3526110"/>
            <a:ext cx="2309217" cy="280988"/>
          </a:xfrm>
          <a:prstGeom prst="rect">
            <a:avLst/>
          </a:prstGeom>
          <a:noFill/>
          <a:ln/>
        </p:spPr>
        <p:txBody>
          <a:bodyPr wrap="square" lIns="0" tIns="0" rIns="0" bIns="0" rtlCol="0" anchor="t">
            <a:normAutofit/>
          </a:bodyPr>
          <a:lstStyle/>
          <a:p>
            <a:pPr marL="0" indent="0" algn="r">
              <a:buNone/>
            </a:pPr>
            <a:r>
              <a:rPr lang="en-US" sz="1500" dirty="0">
                <a:solidFill>
                  <a:srgbClr val="0A0A0A"/>
                </a:solidFill>
                <a:latin typeface="Space Grotesk" pitchFamily="34" charset="0"/>
                <a:ea typeface="Space Grotesk" pitchFamily="34" charset="-122"/>
                <a:cs typeface="Space Grotesk" pitchFamily="34" charset="-120"/>
              </a:rPr>
              <a:t>DCF — base &amp; sensitivity</a:t>
            </a:r>
            <a:endParaRPr lang="en-US" sz="1500" dirty="0"/>
          </a:p>
        </p:txBody>
      </p:sp>
      <p:sp>
        <p:nvSpPr>
          <p:cNvPr id="15" name="Shape 13"/>
          <p:cNvSpPr/>
          <p:nvPr/>
        </p:nvSpPr>
        <p:spPr>
          <a:xfrm>
            <a:off x="10291763" y="3421335"/>
            <a:ext cx="4347790" cy="304800"/>
          </a:xfrm>
          <a:prstGeom prst="rect">
            <a:avLst/>
          </a:prstGeom>
          <a:solidFill>
            <a:srgbClr val="0A0A0A"/>
          </a:solidFill>
          <a:ln/>
        </p:spPr>
        <p:txBody>
          <a:bodyPr/>
          <a:lstStyle/>
          <a:p>
            <a:endParaRPr lang="en-US"/>
          </a:p>
        </p:txBody>
      </p:sp>
      <p:sp>
        <p:nvSpPr>
          <p:cNvPr id="16" name="Text 14"/>
          <p:cNvSpPr/>
          <p:nvPr/>
        </p:nvSpPr>
        <p:spPr>
          <a:xfrm>
            <a:off x="10406063" y="3478485"/>
            <a:ext cx="3333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5.8</a:t>
            </a:r>
            <a:endParaRPr lang="en-US" sz="1125" dirty="0"/>
          </a:p>
        </p:txBody>
      </p:sp>
      <p:sp>
        <p:nvSpPr>
          <p:cNvPr id="17" name="Text 15"/>
          <p:cNvSpPr/>
          <p:nvPr/>
        </p:nvSpPr>
        <p:spPr>
          <a:xfrm>
            <a:off x="14182353" y="3478485"/>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12.1</a:t>
            </a:r>
            <a:endParaRPr lang="en-US" sz="1125" dirty="0"/>
          </a:p>
        </p:txBody>
      </p:sp>
      <p:sp>
        <p:nvSpPr>
          <p:cNvPr id="18" name="Text 16"/>
          <p:cNvSpPr/>
          <p:nvPr/>
        </p:nvSpPr>
        <p:spPr>
          <a:xfrm>
            <a:off x="3543300" y="3949973"/>
            <a:ext cx="2552700" cy="185738"/>
          </a:xfrm>
          <a:prstGeom prst="rect">
            <a:avLst/>
          </a:prstGeom>
          <a:noFill/>
          <a:ln/>
        </p:spPr>
        <p:txBody>
          <a:bodyPr wrap="square" lIns="25400" tIns="25400" rIns="25400" bIns="25400" rtlCol="0" anchor="t">
            <a:normAutofit lnSpcReduction="10000"/>
          </a:bodyPr>
          <a:lstStyle/>
          <a:p>
            <a:pPr marL="0" indent="0" algn="r">
              <a:buNone/>
            </a:pPr>
            <a:r>
              <a:rPr lang="en-US" sz="900" kern="0" spc="108" dirty="0">
                <a:solidFill>
                  <a:srgbClr val="7A776E"/>
                </a:solidFill>
                <a:latin typeface="JetBrains Mono" pitchFamily="34" charset="0"/>
                <a:ea typeface="JetBrains Mono" pitchFamily="34" charset="-122"/>
                <a:cs typeface="JetBrains Mono" pitchFamily="34" charset="-120"/>
              </a:rPr>
              <a:t>METHOD 02</a:t>
            </a:r>
            <a:endParaRPr lang="en-US" sz="900" dirty="0"/>
          </a:p>
        </p:txBody>
      </p:sp>
      <p:sp>
        <p:nvSpPr>
          <p:cNvPr id="19" name="Text 17"/>
          <p:cNvSpPr/>
          <p:nvPr/>
        </p:nvSpPr>
        <p:spPr>
          <a:xfrm>
            <a:off x="4373314" y="4097610"/>
            <a:ext cx="1798886" cy="280988"/>
          </a:xfrm>
          <a:prstGeom prst="rect">
            <a:avLst/>
          </a:prstGeom>
          <a:noFill/>
          <a:ln/>
        </p:spPr>
        <p:txBody>
          <a:bodyPr wrap="square" lIns="0" tIns="0" rIns="0" bIns="0" rtlCol="0" anchor="t">
            <a:normAutofit/>
          </a:bodyPr>
          <a:lstStyle/>
          <a:p>
            <a:pPr marL="0" indent="0" algn="r">
              <a:buNone/>
            </a:pPr>
            <a:r>
              <a:rPr lang="en-US" sz="1500" dirty="0">
                <a:solidFill>
                  <a:srgbClr val="0A0A0A"/>
                </a:solidFill>
                <a:latin typeface="Space Grotesk" pitchFamily="34" charset="0"/>
                <a:ea typeface="Space Grotesk" pitchFamily="34" charset="-122"/>
                <a:cs typeface="Space Grotesk" pitchFamily="34" charset="-120"/>
              </a:rPr>
              <a:t>DCF + Real Options</a:t>
            </a:r>
            <a:endParaRPr lang="en-US" sz="1500" dirty="0"/>
          </a:p>
        </p:txBody>
      </p:sp>
      <p:sp>
        <p:nvSpPr>
          <p:cNvPr id="20" name="Shape 18"/>
          <p:cNvSpPr/>
          <p:nvPr/>
        </p:nvSpPr>
        <p:spPr>
          <a:xfrm>
            <a:off x="11396663" y="3992835"/>
            <a:ext cx="5176465" cy="304800"/>
          </a:xfrm>
          <a:prstGeom prst="rect">
            <a:avLst/>
          </a:prstGeom>
          <a:solidFill>
            <a:srgbClr val="0A0A0A"/>
          </a:solidFill>
          <a:ln/>
        </p:spPr>
        <p:txBody>
          <a:bodyPr/>
          <a:lstStyle/>
          <a:p>
            <a:endParaRPr lang="en-US"/>
          </a:p>
        </p:txBody>
      </p:sp>
      <p:sp>
        <p:nvSpPr>
          <p:cNvPr id="21" name="Text 19"/>
          <p:cNvSpPr/>
          <p:nvPr/>
        </p:nvSpPr>
        <p:spPr>
          <a:xfrm>
            <a:off x="11510963" y="4049985"/>
            <a:ext cx="3333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7.4</a:t>
            </a:r>
            <a:endParaRPr lang="en-US" sz="1125" dirty="0"/>
          </a:p>
        </p:txBody>
      </p:sp>
      <p:sp>
        <p:nvSpPr>
          <p:cNvPr id="22" name="Shape 20"/>
          <p:cNvSpPr/>
          <p:nvPr/>
        </p:nvSpPr>
        <p:spPr>
          <a:xfrm>
            <a:off x="14502557" y="3992835"/>
            <a:ext cx="2070571" cy="304800"/>
          </a:xfrm>
          <a:prstGeom prst="rect">
            <a:avLst/>
          </a:prstGeom>
          <a:solidFill>
            <a:srgbClr val="FF5A1F"/>
          </a:solidFill>
          <a:ln/>
        </p:spPr>
        <p:txBody>
          <a:bodyPr/>
          <a:lstStyle/>
          <a:p>
            <a:endParaRPr lang="en-US"/>
          </a:p>
        </p:txBody>
      </p:sp>
      <p:sp>
        <p:nvSpPr>
          <p:cNvPr id="23" name="Text 21"/>
          <p:cNvSpPr/>
          <p:nvPr/>
        </p:nvSpPr>
        <p:spPr>
          <a:xfrm>
            <a:off x="16115928" y="4049985"/>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14.9</a:t>
            </a:r>
            <a:endParaRPr lang="en-US" sz="1125" dirty="0"/>
          </a:p>
        </p:txBody>
      </p:sp>
      <p:sp>
        <p:nvSpPr>
          <p:cNvPr id="24" name="Text 22"/>
          <p:cNvSpPr/>
          <p:nvPr/>
        </p:nvSpPr>
        <p:spPr>
          <a:xfrm>
            <a:off x="3543300" y="4521473"/>
            <a:ext cx="2552700" cy="185738"/>
          </a:xfrm>
          <a:prstGeom prst="rect">
            <a:avLst/>
          </a:prstGeom>
          <a:noFill/>
          <a:ln/>
        </p:spPr>
        <p:txBody>
          <a:bodyPr wrap="square" lIns="25400" tIns="25400" rIns="25400" bIns="25400" rtlCol="0" anchor="t">
            <a:normAutofit lnSpcReduction="10000"/>
          </a:bodyPr>
          <a:lstStyle/>
          <a:p>
            <a:pPr marL="0" indent="0" algn="r">
              <a:buNone/>
            </a:pPr>
            <a:r>
              <a:rPr lang="en-US" sz="900" kern="0" spc="108" dirty="0">
                <a:solidFill>
                  <a:srgbClr val="7A776E"/>
                </a:solidFill>
                <a:latin typeface="JetBrains Mono" pitchFamily="34" charset="0"/>
                <a:ea typeface="JetBrains Mono" pitchFamily="34" charset="-122"/>
                <a:cs typeface="JetBrains Mono" pitchFamily="34" charset="-120"/>
              </a:rPr>
              <a:t>METHOD 03A</a:t>
            </a:r>
            <a:endParaRPr lang="en-US" sz="900" dirty="0"/>
          </a:p>
        </p:txBody>
      </p:sp>
      <p:sp>
        <p:nvSpPr>
          <p:cNvPr id="25" name="Text 23"/>
          <p:cNvSpPr/>
          <p:nvPr/>
        </p:nvSpPr>
        <p:spPr>
          <a:xfrm>
            <a:off x="4344219" y="4669110"/>
            <a:ext cx="1827981" cy="280988"/>
          </a:xfrm>
          <a:prstGeom prst="rect">
            <a:avLst/>
          </a:prstGeom>
          <a:noFill/>
          <a:ln/>
        </p:spPr>
        <p:txBody>
          <a:bodyPr wrap="square" lIns="0" tIns="0" rIns="0" bIns="0" rtlCol="0" anchor="t">
            <a:normAutofit/>
          </a:bodyPr>
          <a:lstStyle/>
          <a:p>
            <a:pPr marL="0" indent="0" algn="r">
              <a:buNone/>
            </a:pPr>
            <a:r>
              <a:rPr lang="en-US" sz="1500" dirty="0">
                <a:solidFill>
                  <a:srgbClr val="0A0A0A"/>
                </a:solidFill>
                <a:latin typeface="Space Grotesk" pitchFamily="34" charset="0"/>
                <a:ea typeface="Space Grotesk" pitchFamily="34" charset="-122"/>
                <a:cs typeface="Space Grotesk" pitchFamily="34" charset="-120"/>
              </a:rPr>
              <a:t>Comps — Hardware</a:t>
            </a:r>
            <a:endParaRPr lang="en-US" sz="1500" dirty="0"/>
          </a:p>
        </p:txBody>
      </p:sp>
      <p:sp>
        <p:nvSpPr>
          <p:cNvPr id="26" name="Shape 24"/>
          <p:cNvSpPr/>
          <p:nvPr/>
        </p:nvSpPr>
        <p:spPr>
          <a:xfrm>
            <a:off x="7115175" y="4564335"/>
            <a:ext cx="1933575" cy="304800"/>
          </a:xfrm>
          <a:prstGeom prst="rect">
            <a:avLst/>
          </a:prstGeom>
          <a:solidFill>
            <a:srgbClr val="D14B2A"/>
          </a:solidFill>
          <a:ln/>
        </p:spPr>
        <p:txBody>
          <a:bodyPr/>
          <a:lstStyle/>
          <a:p>
            <a:endParaRPr lang="en-US"/>
          </a:p>
        </p:txBody>
      </p:sp>
      <p:sp>
        <p:nvSpPr>
          <p:cNvPr id="27" name="Text 25"/>
          <p:cNvSpPr/>
          <p:nvPr/>
        </p:nvSpPr>
        <p:spPr>
          <a:xfrm>
            <a:off x="7229475" y="4621485"/>
            <a:ext cx="3333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1.2</a:t>
            </a:r>
            <a:endParaRPr lang="en-US" sz="1125" dirty="0"/>
          </a:p>
        </p:txBody>
      </p:sp>
      <p:sp>
        <p:nvSpPr>
          <p:cNvPr id="28" name="Text 26"/>
          <p:cNvSpPr/>
          <p:nvPr/>
        </p:nvSpPr>
        <p:spPr>
          <a:xfrm>
            <a:off x="8677275" y="4621485"/>
            <a:ext cx="3333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2.8</a:t>
            </a:r>
            <a:endParaRPr lang="en-US" sz="1125" dirty="0"/>
          </a:p>
        </p:txBody>
      </p:sp>
      <p:sp>
        <p:nvSpPr>
          <p:cNvPr id="29" name="Text 27"/>
          <p:cNvSpPr/>
          <p:nvPr/>
        </p:nvSpPr>
        <p:spPr>
          <a:xfrm>
            <a:off x="3543300" y="5092973"/>
            <a:ext cx="2552700" cy="185738"/>
          </a:xfrm>
          <a:prstGeom prst="rect">
            <a:avLst/>
          </a:prstGeom>
          <a:noFill/>
          <a:ln/>
        </p:spPr>
        <p:txBody>
          <a:bodyPr wrap="square" lIns="25400" tIns="25400" rIns="25400" bIns="25400" rtlCol="0" anchor="t">
            <a:normAutofit lnSpcReduction="10000"/>
          </a:bodyPr>
          <a:lstStyle/>
          <a:p>
            <a:pPr marL="0" indent="0" algn="r">
              <a:buNone/>
            </a:pPr>
            <a:r>
              <a:rPr lang="en-US" sz="900" kern="0" spc="108" dirty="0">
                <a:solidFill>
                  <a:srgbClr val="7A776E"/>
                </a:solidFill>
                <a:latin typeface="JetBrains Mono" pitchFamily="34" charset="0"/>
                <a:ea typeface="JetBrains Mono" pitchFamily="34" charset="-122"/>
                <a:cs typeface="JetBrains Mono" pitchFamily="34" charset="-120"/>
              </a:rPr>
              <a:t>METHOD 03B</a:t>
            </a:r>
            <a:endParaRPr lang="en-US" sz="900" dirty="0"/>
          </a:p>
        </p:txBody>
      </p:sp>
      <p:sp>
        <p:nvSpPr>
          <p:cNvPr id="30" name="Text 28"/>
          <p:cNvSpPr/>
          <p:nvPr/>
        </p:nvSpPr>
        <p:spPr>
          <a:xfrm>
            <a:off x="4033689" y="5240610"/>
            <a:ext cx="2138511" cy="280988"/>
          </a:xfrm>
          <a:prstGeom prst="rect">
            <a:avLst/>
          </a:prstGeom>
          <a:noFill/>
          <a:ln/>
        </p:spPr>
        <p:txBody>
          <a:bodyPr wrap="square" lIns="0" tIns="0" rIns="0" bIns="0" rtlCol="0" anchor="t">
            <a:normAutofit/>
          </a:bodyPr>
          <a:lstStyle/>
          <a:p>
            <a:pPr marL="0" indent="0" algn="r">
              <a:buNone/>
            </a:pPr>
            <a:r>
              <a:rPr lang="en-US" sz="1500" dirty="0">
                <a:solidFill>
                  <a:srgbClr val="0A0A0A"/>
                </a:solidFill>
                <a:latin typeface="Space Grotesk" pitchFamily="34" charset="0"/>
                <a:ea typeface="Space Grotesk" pitchFamily="34" charset="-122"/>
                <a:cs typeface="Space Grotesk" pitchFamily="34" charset="-120"/>
              </a:rPr>
              <a:t>Comps — Subscription</a:t>
            </a:r>
            <a:endParaRPr lang="en-US" sz="1500" dirty="0"/>
          </a:p>
        </p:txBody>
      </p:sp>
      <p:sp>
        <p:nvSpPr>
          <p:cNvPr id="31" name="Shape 29"/>
          <p:cNvSpPr/>
          <p:nvPr/>
        </p:nvSpPr>
        <p:spPr>
          <a:xfrm>
            <a:off x="8358188" y="5135835"/>
            <a:ext cx="2071688" cy="304800"/>
          </a:xfrm>
          <a:prstGeom prst="rect">
            <a:avLst/>
          </a:prstGeom>
          <a:solidFill>
            <a:srgbClr val="1F4FB5"/>
          </a:solidFill>
          <a:ln/>
        </p:spPr>
        <p:txBody>
          <a:bodyPr/>
          <a:lstStyle/>
          <a:p>
            <a:endParaRPr lang="en-US"/>
          </a:p>
        </p:txBody>
      </p:sp>
      <p:sp>
        <p:nvSpPr>
          <p:cNvPr id="32" name="Text 30"/>
          <p:cNvSpPr/>
          <p:nvPr/>
        </p:nvSpPr>
        <p:spPr>
          <a:xfrm>
            <a:off x="8472488" y="5192985"/>
            <a:ext cx="3333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3.0</a:t>
            </a:r>
            <a:endParaRPr lang="en-US" sz="1125" dirty="0"/>
          </a:p>
        </p:txBody>
      </p:sp>
      <p:sp>
        <p:nvSpPr>
          <p:cNvPr id="33" name="Text 31"/>
          <p:cNvSpPr/>
          <p:nvPr/>
        </p:nvSpPr>
        <p:spPr>
          <a:xfrm>
            <a:off x="10058400" y="5192985"/>
            <a:ext cx="3333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4.6</a:t>
            </a:r>
            <a:endParaRPr lang="en-US" sz="1125" dirty="0"/>
          </a:p>
        </p:txBody>
      </p:sp>
      <p:sp>
        <p:nvSpPr>
          <p:cNvPr id="34" name="Text 32"/>
          <p:cNvSpPr/>
          <p:nvPr/>
        </p:nvSpPr>
        <p:spPr>
          <a:xfrm>
            <a:off x="3543300" y="5664473"/>
            <a:ext cx="2552700" cy="185738"/>
          </a:xfrm>
          <a:prstGeom prst="rect">
            <a:avLst/>
          </a:prstGeom>
          <a:noFill/>
          <a:ln/>
        </p:spPr>
        <p:txBody>
          <a:bodyPr wrap="square" lIns="25400" tIns="25400" rIns="25400" bIns="25400" rtlCol="0" anchor="t">
            <a:normAutofit lnSpcReduction="10000"/>
          </a:bodyPr>
          <a:lstStyle/>
          <a:p>
            <a:pPr marL="0" indent="0" algn="r">
              <a:buNone/>
            </a:pPr>
            <a:r>
              <a:rPr lang="en-US" sz="900" kern="0" spc="108" dirty="0">
                <a:solidFill>
                  <a:srgbClr val="7A776E"/>
                </a:solidFill>
                <a:latin typeface="JetBrains Mono" pitchFamily="34" charset="0"/>
                <a:ea typeface="JetBrains Mono" pitchFamily="34" charset="-122"/>
                <a:cs typeface="JetBrains Mono" pitchFamily="34" charset="-120"/>
              </a:rPr>
              <a:t>METHOD 03C</a:t>
            </a:r>
            <a:endParaRPr lang="en-US" sz="900" dirty="0"/>
          </a:p>
        </p:txBody>
      </p:sp>
      <p:sp>
        <p:nvSpPr>
          <p:cNvPr id="35" name="Text 33"/>
          <p:cNvSpPr/>
          <p:nvPr/>
        </p:nvSpPr>
        <p:spPr>
          <a:xfrm>
            <a:off x="4138166" y="5812110"/>
            <a:ext cx="2034034" cy="280988"/>
          </a:xfrm>
          <a:prstGeom prst="rect">
            <a:avLst/>
          </a:prstGeom>
          <a:noFill/>
          <a:ln/>
        </p:spPr>
        <p:txBody>
          <a:bodyPr wrap="square" lIns="0" tIns="0" rIns="0" bIns="0" rtlCol="0" anchor="t">
            <a:normAutofit/>
          </a:bodyPr>
          <a:lstStyle/>
          <a:p>
            <a:pPr marL="0" indent="0" algn="r">
              <a:buNone/>
            </a:pPr>
            <a:r>
              <a:rPr lang="en-US" sz="1500" dirty="0">
                <a:solidFill>
                  <a:srgbClr val="0A0A0A"/>
                </a:solidFill>
                <a:latin typeface="Space Grotesk" pitchFamily="34" charset="0"/>
                <a:ea typeface="Space Grotesk" pitchFamily="34" charset="-122"/>
                <a:cs typeface="Space Grotesk" pitchFamily="34" charset="-120"/>
              </a:rPr>
              <a:t>Comps — Health Data</a:t>
            </a:r>
            <a:endParaRPr lang="en-US" sz="1500" dirty="0"/>
          </a:p>
        </p:txBody>
      </p:sp>
      <p:sp>
        <p:nvSpPr>
          <p:cNvPr id="36" name="Shape 34"/>
          <p:cNvSpPr/>
          <p:nvPr/>
        </p:nvSpPr>
        <p:spPr>
          <a:xfrm>
            <a:off x="11396663" y="5707335"/>
            <a:ext cx="3867150" cy="304800"/>
          </a:xfrm>
          <a:prstGeom prst="rect">
            <a:avLst/>
          </a:prstGeom>
          <a:solidFill>
            <a:srgbClr val="1F7A3D"/>
          </a:solidFill>
          <a:ln/>
        </p:spPr>
        <p:txBody>
          <a:bodyPr/>
          <a:lstStyle/>
          <a:p>
            <a:endParaRPr lang="en-US"/>
          </a:p>
        </p:txBody>
      </p:sp>
      <p:sp>
        <p:nvSpPr>
          <p:cNvPr id="37" name="Text 35"/>
          <p:cNvSpPr/>
          <p:nvPr/>
        </p:nvSpPr>
        <p:spPr>
          <a:xfrm>
            <a:off x="11510963" y="5764485"/>
            <a:ext cx="3333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7.4</a:t>
            </a:r>
            <a:endParaRPr lang="en-US" sz="1125" dirty="0"/>
          </a:p>
        </p:txBody>
      </p:sp>
      <p:sp>
        <p:nvSpPr>
          <p:cNvPr id="38" name="Text 36"/>
          <p:cNvSpPr/>
          <p:nvPr/>
        </p:nvSpPr>
        <p:spPr>
          <a:xfrm>
            <a:off x="14806612" y="5764485"/>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solidFill>
                <a:latin typeface="JetBrains Mono" pitchFamily="34" charset="0"/>
                <a:ea typeface="JetBrains Mono" pitchFamily="34" charset="-122"/>
                <a:cs typeface="JetBrains Mono" pitchFamily="34" charset="-120"/>
              </a:rPr>
              <a:t>13.0</a:t>
            </a:r>
            <a:endParaRPr lang="en-US" sz="1125" dirty="0"/>
          </a:p>
        </p:txBody>
      </p:sp>
      <p:sp>
        <p:nvSpPr>
          <p:cNvPr id="39" name="Text 37"/>
          <p:cNvSpPr/>
          <p:nvPr/>
        </p:nvSpPr>
        <p:spPr>
          <a:xfrm>
            <a:off x="3543300" y="6235973"/>
            <a:ext cx="2552700" cy="185738"/>
          </a:xfrm>
          <a:prstGeom prst="rect">
            <a:avLst/>
          </a:prstGeom>
          <a:noFill/>
          <a:ln/>
        </p:spPr>
        <p:txBody>
          <a:bodyPr wrap="square" lIns="25400" tIns="25400" rIns="25400" bIns="25400" rtlCol="0" anchor="t">
            <a:normAutofit lnSpcReduction="10000"/>
          </a:bodyPr>
          <a:lstStyle/>
          <a:p>
            <a:pPr marL="0" indent="0" algn="r">
              <a:buNone/>
            </a:pPr>
            <a:r>
              <a:rPr lang="en-US" sz="900" kern="0" spc="108" dirty="0">
                <a:solidFill>
                  <a:srgbClr val="7A776E"/>
                </a:solidFill>
                <a:latin typeface="JetBrains Mono" pitchFamily="34" charset="0"/>
                <a:ea typeface="JetBrains Mono" pitchFamily="34" charset="-122"/>
                <a:cs typeface="JetBrains Mono" pitchFamily="34" charset="-120"/>
              </a:rPr>
              <a:t>METHOD 04</a:t>
            </a:r>
            <a:endParaRPr lang="en-US" sz="900" dirty="0"/>
          </a:p>
        </p:txBody>
      </p:sp>
      <p:sp>
        <p:nvSpPr>
          <p:cNvPr id="40" name="Text 38"/>
          <p:cNvSpPr/>
          <p:nvPr/>
        </p:nvSpPr>
        <p:spPr>
          <a:xfrm>
            <a:off x="3889325" y="6383610"/>
            <a:ext cx="2282875" cy="280988"/>
          </a:xfrm>
          <a:prstGeom prst="rect">
            <a:avLst/>
          </a:prstGeom>
          <a:noFill/>
          <a:ln/>
        </p:spPr>
        <p:txBody>
          <a:bodyPr wrap="square" lIns="0" tIns="0" rIns="0" bIns="0" rtlCol="0" anchor="t">
            <a:normAutofit/>
          </a:bodyPr>
          <a:lstStyle/>
          <a:p>
            <a:pPr marL="0" indent="0" algn="r">
              <a:buNone/>
            </a:pPr>
            <a:r>
              <a:rPr lang="en-US" sz="1500" dirty="0">
                <a:solidFill>
                  <a:srgbClr val="0A0A0A"/>
                </a:solidFill>
                <a:latin typeface="Space Grotesk" pitchFamily="34" charset="0"/>
                <a:ea typeface="Space Grotesk" pitchFamily="34" charset="-122"/>
                <a:cs typeface="Space Grotesk" pitchFamily="34" charset="-120"/>
              </a:rPr>
              <a:t>Series G common-equiv.</a:t>
            </a:r>
            <a:endParaRPr lang="en-US" sz="1500" dirty="0"/>
          </a:p>
        </p:txBody>
      </p:sp>
      <p:sp>
        <p:nvSpPr>
          <p:cNvPr id="41" name="Shape 39"/>
          <p:cNvSpPr/>
          <p:nvPr/>
        </p:nvSpPr>
        <p:spPr>
          <a:xfrm>
            <a:off x="11811000" y="6278835"/>
            <a:ext cx="690563" cy="304800"/>
          </a:xfrm>
          <a:prstGeom prst="rect">
            <a:avLst/>
          </a:prstGeom>
          <a:solidFill>
            <a:srgbClr val="FFFFFF"/>
          </a:solidFill>
          <a:ln w="19050">
            <a:solidFill>
              <a:srgbClr val="000000"/>
            </a:solidFill>
            <a:prstDash val="solid"/>
          </a:ln>
        </p:spPr>
        <p:txBody>
          <a:bodyPr/>
          <a:lstStyle/>
          <a:p>
            <a:endParaRPr lang="en-US"/>
          </a:p>
        </p:txBody>
      </p:sp>
      <p:sp>
        <p:nvSpPr>
          <p:cNvPr id="42" name="Text 40"/>
          <p:cNvSpPr/>
          <p:nvPr/>
        </p:nvSpPr>
        <p:spPr>
          <a:xfrm>
            <a:off x="11906250" y="6335985"/>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000000"/>
                </a:solidFill>
                <a:latin typeface="JetBrains Mono" pitchFamily="34" charset="0"/>
                <a:ea typeface="JetBrains Mono" pitchFamily="34" charset="-122"/>
                <a:cs typeface="JetBrains Mono" pitchFamily="34" charset="-120"/>
              </a:rPr>
              <a:t>$8.0</a:t>
            </a:r>
            <a:endParaRPr lang="en-US" sz="1125" dirty="0"/>
          </a:p>
        </p:txBody>
      </p:sp>
      <p:sp>
        <p:nvSpPr>
          <p:cNvPr id="43" name="Text 41"/>
          <p:cNvSpPr/>
          <p:nvPr/>
        </p:nvSpPr>
        <p:spPr>
          <a:xfrm>
            <a:off x="12325350" y="6335985"/>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000000"/>
                </a:solidFill>
                <a:latin typeface="JetBrains Mono" pitchFamily="34" charset="0"/>
                <a:ea typeface="JetBrains Mono" pitchFamily="34" charset="-122"/>
                <a:cs typeface="JetBrains Mono" pitchFamily="34" charset="-120"/>
              </a:rPr>
              <a:t>$9.0</a:t>
            </a:r>
            <a:endParaRPr lang="en-US" sz="1125" dirty="0"/>
          </a:p>
        </p:txBody>
      </p:sp>
      <p:sp>
        <p:nvSpPr>
          <p:cNvPr id="44" name="Shape 42"/>
          <p:cNvSpPr/>
          <p:nvPr/>
        </p:nvSpPr>
        <p:spPr>
          <a:xfrm>
            <a:off x="12277725" y="3097485"/>
            <a:ext cx="14288" cy="4172173"/>
          </a:xfrm>
          <a:prstGeom prst="rect">
            <a:avLst/>
          </a:prstGeom>
          <a:solidFill>
            <a:srgbClr val="000000"/>
          </a:solidFill>
          <a:ln/>
        </p:spPr>
        <p:txBody>
          <a:bodyPr/>
          <a:lstStyle/>
          <a:p>
            <a:endParaRPr lang="en-US"/>
          </a:p>
        </p:txBody>
      </p:sp>
      <p:sp>
        <p:nvSpPr>
          <p:cNvPr id="45" name="Text 43"/>
          <p:cNvSpPr/>
          <p:nvPr/>
        </p:nvSpPr>
        <p:spPr>
          <a:xfrm>
            <a:off x="12368213" y="2811735"/>
            <a:ext cx="1450702" cy="204787"/>
          </a:xfrm>
          <a:prstGeom prst="rect">
            <a:avLst/>
          </a:prstGeom>
          <a:noFill/>
          <a:ln/>
        </p:spPr>
        <p:txBody>
          <a:bodyPr wrap="square" lIns="25400" tIns="25400" rIns="25400" bIns="25400" rtlCol="0" anchor="t">
            <a:normAutofit/>
          </a:bodyPr>
          <a:lstStyle/>
          <a:p>
            <a:pPr marL="0" indent="0" algn="l">
              <a:buNone/>
            </a:pPr>
            <a:r>
              <a:rPr lang="en-US" sz="975" kern="0" spc="137" dirty="0">
                <a:solidFill>
                  <a:srgbClr val="000000"/>
                </a:solidFill>
                <a:latin typeface="JetBrains Mono" pitchFamily="34" charset="0"/>
                <a:ea typeface="JetBrains Mono" pitchFamily="34" charset="-122"/>
                <a:cs typeface="JetBrains Mono" pitchFamily="34" charset="-120"/>
              </a:rPr>
              <a:t>$10.1B SERIES G</a:t>
            </a:r>
            <a:endParaRPr lang="en-US" sz="975" dirty="0"/>
          </a:p>
        </p:txBody>
      </p:sp>
      <p:sp>
        <p:nvSpPr>
          <p:cNvPr id="46" name="Shape 44"/>
          <p:cNvSpPr/>
          <p:nvPr/>
        </p:nvSpPr>
        <p:spPr>
          <a:xfrm>
            <a:off x="3619500" y="7260134"/>
            <a:ext cx="13716000" cy="9525"/>
          </a:xfrm>
          <a:prstGeom prst="rect">
            <a:avLst/>
          </a:prstGeom>
          <a:solidFill>
            <a:srgbClr val="0A0A0A"/>
          </a:solidFill>
          <a:ln/>
        </p:spPr>
        <p:txBody>
          <a:bodyPr/>
          <a:lstStyle/>
          <a:p>
            <a:endParaRPr lang="en-US"/>
          </a:p>
        </p:txBody>
      </p:sp>
      <p:sp>
        <p:nvSpPr>
          <p:cNvPr id="47" name="Text 45"/>
          <p:cNvSpPr/>
          <p:nvPr/>
        </p:nvSpPr>
        <p:spPr>
          <a:xfrm>
            <a:off x="3619500" y="7331571"/>
            <a:ext cx="224805" cy="204787"/>
          </a:xfrm>
          <a:prstGeom prst="rect">
            <a:avLst/>
          </a:prstGeom>
          <a:noFill/>
          <a:ln/>
        </p:spPr>
        <p:txBody>
          <a:bodyPr wrap="square" lIns="25400" tIns="25400" rIns="25400" bIns="25400" rtlCol="0" anchor="t">
            <a:normAutofit/>
          </a:bodyPr>
          <a:lstStyle/>
          <a:p>
            <a:pPr marL="0" indent="0" algn="l">
              <a:buNone/>
            </a:pPr>
            <a:r>
              <a:rPr lang="en-US" sz="975" dirty="0">
                <a:solidFill>
                  <a:srgbClr val="7A776E"/>
                </a:solidFill>
                <a:latin typeface="JetBrains Mono" pitchFamily="34" charset="0"/>
                <a:ea typeface="JetBrains Mono" pitchFamily="34" charset="-122"/>
                <a:cs typeface="JetBrains Mono" pitchFamily="34" charset="-120"/>
              </a:rPr>
              <a:t>$0</a:t>
            </a:r>
            <a:endParaRPr lang="en-US" sz="975" dirty="0"/>
          </a:p>
        </p:txBody>
      </p:sp>
      <p:sp>
        <p:nvSpPr>
          <p:cNvPr id="48" name="Text 46"/>
          <p:cNvSpPr/>
          <p:nvPr/>
        </p:nvSpPr>
        <p:spPr>
          <a:xfrm>
            <a:off x="6788423" y="7331571"/>
            <a:ext cx="299145" cy="204787"/>
          </a:xfrm>
          <a:prstGeom prst="rect">
            <a:avLst/>
          </a:prstGeom>
          <a:noFill/>
          <a:ln/>
        </p:spPr>
        <p:txBody>
          <a:bodyPr wrap="square" lIns="25400" tIns="25400" rIns="25400" bIns="25400" rtlCol="0" anchor="t">
            <a:normAutofit/>
          </a:bodyPr>
          <a:lstStyle/>
          <a:p>
            <a:pPr marL="0" indent="0" algn="l">
              <a:buNone/>
            </a:pPr>
            <a:r>
              <a:rPr lang="en-US" sz="975" dirty="0">
                <a:solidFill>
                  <a:srgbClr val="7A776E"/>
                </a:solidFill>
                <a:latin typeface="JetBrains Mono" pitchFamily="34" charset="0"/>
                <a:ea typeface="JetBrains Mono" pitchFamily="34" charset="-122"/>
                <a:cs typeface="JetBrains Mono" pitchFamily="34" charset="-120"/>
              </a:rPr>
              <a:t>$4B</a:t>
            </a:r>
            <a:endParaRPr lang="en-US" sz="975" dirty="0"/>
          </a:p>
        </p:txBody>
      </p:sp>
      <p:sp>
        <p:nvSpPr>
          <p:cNvPr id="49" name="Text 47"/>
          <p:cNvSpPr/>
          <p:nvPr/>
        </p:nvSpPr>
        <p:spPr>
          <a:xfrm>
            <a:off x="10143158" y="7331571"/>
            <a:ext cx="299145" cy="204787"/>
          </a:xfrm>
          <a:prstGeom prst="rect">
            <a:avLst/>
          </a:prstGeom>
          <a:noFill/>
          <a:ln/>
        </p:spPr>
        <p:txBody>
          <a:bodyPr wrap="square" lIns="25400" tIns="25400" rIns="25400" bIns="25400" rtlCol="0" anchor="t">
            <a:normAutofit/>
          </a:bodyPr>
          <a:lstStyle/>
          <a:p>
            <a:pPr marL="0" indent="0" algn="l">
              <a:buNone/>
            </a:pPr>
            <a:r>
              <a:rPr lang="en-US" sz="975" dirty="0">
                <a:solidFill>
                  <a:srgbClr val="7A776E"/>
                </a:solidFill>
                <a:latin typeface="JetBrains Mono" pitchFamily="34" charset="0"/>
                <a:ea typeface="JetBrains Mono" pitchFamily="34" charset="-122"/>
                <a:cs typeface="JetBrains Mono" pitchFamily="34" charset="-120"/>
              </a:rPr>
              <a:t>$8B</a:t>
            </a:r>
            <a:endParaRPr lang="en-US" sz="975" dirty="0"/>
          </a:p>
        </p:txBody>
      </p:sp>
      <p:sp>
        <p:nvSpPr>
          <p:cNvPr id="50" name="Text 48"/>
          <p:cNvSpPr/>
          <p:nvPr/>
        </p:nvSpPr>
        <p:spPr>
          <a:xfrm>
            <a:off x="13460685" y="7331571"/>
            <a:ext cx="373410" cy="204787"/>
          </a:xfrm>
          <a:prstGeom prst="rect">
            <a:avLst/>
          </a:prstGeom>
          <a:noFill/>
          <a:ln/>
        </p:spPr>
        <p:txBody>
          <a:bodyPr wrap="square" lIns="25400" tIns="25400" rIns="25400" bIns="25400" rtlCol="0" anchor="t">
            <a:normAutofit/>
          </a:bodyPr>
          <a:lstStyle/>
          <a:p>
            <a:pPr marL="0" indent="0" algn="l">
              <a:buNone/>
            </a:pPr>
            <a:r>
              <a:rPr lang="en-US" sz="975" dirty="0">
                <a:solidFill>
                  <a:srgbClr val="7A776E"/>
                </a:solidFill>
                <a:latin typeface="JetBrains Mono" pitchFamily="34" charset="0"/>
                <a:ea typeface="JetBrains Mono" pitchFamily="34" charset="-122"/>
                <a:cs typeface="JetBrains Mono" pitchFamily="34" charset="-120"/>
              </a:rPr>
              <a:t>$12B</a:t>
            </a:r>
            <a:endParaRPr lang="en-US" sz="975" dirty="0"/>
          </a:p>
        </p:txBody>
      </p:sp>
      <p:sp>
        <p:nvSpPr>
          <p:cNvPr id="51" name="Text 49"/>
          <p:cNvSpPr/>
          <p:nvPr/>
        </p:nvSpPr>
        <p:spPr>
          <a:xfrm>
            <a:off x="16741080" y="7331571"/>
            <a:ext cx="373410" cy="204787"/>
          </a:xfrm>
          <a:prstGeom prst="rect">
            <a:avLst/>
          </a:prstGeom>
          <a:noFill/>
          <a:ln/>
        </p:spPr>
        <p:txBody>
          <a:bodyPr wrap="square" lIns="25400" tIns="25400" rIns="25400" bIns="25400" rtlCol="0" anchor="t">
            <a:normAutofit/>
          </a:bodyPr>
          <a:lstStyle/>
          <a:p>
            <a:pPr marL="0" indent="0" algn="l">
              <a:buNone/>
            </a:pPr>
            <a:r>
              <a:rPr lang="en-US" sz="975" dirty="0">
                <a:solidFill>
                  <a:srgbClr val="7A776E"/>
                </a:solidFill>
                <a:latin typeface="JetBrains Mono" pitchFamily="34" charset="0"/>
                <a:ea typeface="JetBrains Mono" pitchFamily="34" charset="-122"/>
                <a:cs typeface="JetBrains Mono" pitchFamily="34" charset="-120"/>
              </a:rPr>
              <a:t>$16B</a:t>
            </a:r>
            <a:endParaRPr lang="en-US" sz="975" dirty="0"/>
          </a:p>
        </p:txBody>
      </p:sp>
      <p:sp>
        <p:nvSpPr>
          <p:cNvPr id="52" name="Shape 50"/>
          <p:cNvSpPr/>
          <p:nvPr/>
        </p:nvSpPr>
        <p:spPr>
          <a:xfrm>
            <a:off x="952500" y="7764959"/>
            <a:ext cx="16383000" cy="1379041"/>
          </a:xfrm>
          <a:prstGeom prst="rect">
            <a:avLst/>
          </a:prstGeom>
          <a:solidFill>
            <a:srgbClr val="FF5A1F">
              <a:alpha val="4000"/>
            </a:srgbClr>
          </a:solidFill>
          <a:ln/>
        </p:spPr>
        <p:txBody>
          <a:bodyPr/>
          <a:lstStyle/>
          <a:p>
            <a:endParaRPr lang="en-US"/>
          </a:p>
        </p:txBody>
      </p:sp>
      <p:sp>
        <p:nvSpPr>
          <p:cNvPr id="53" name="Shape 51"/>
          <p:cNvSpPr/>
          <p:nvPr/>
        </p:nvSpPr>
        <p:spPr>
          <a:xfrm>
            <a:off x="952500" y="9124950"/>
            <a:ext cx="16383000" cy="19050"/>
          </a:xfrm>
          <a:prstGeom prst="rect">
            <a:avLst/>
          </a:prstGeom>
          <a:solidFill>
            <a:srgbClr val="FF5A1F"/>
          </a:solidFill>
          <a:ln/>
        </p:spPr>
        <p:txBody>
          <a:bodyPr/>
          <a:lstStyle/>
          <a:p>
            <a:endParaRPr lang="en-US"/>
          </a:p>
        </p:txBody>
      </p:sp>
      <p:sp>
        <p:nvSpPr>
          <p:cNvPr id="54" name="Shape 52"/>
          <p:cNvSpPr/>
          <p:nvPr/>
        </p:nvSpPr>
        <p:spPr>
          <a:xfrm>
            <a:off x="952500" y="7764959"/>
            <a:ext cx="16383000" cy="19050"/>
          </a:xfrm>
          <a:prstGeom prst="rect">
            <a:avLst/>
          </a:prstGeom>
          <a:solidFill>
            <a:srgbClr val="FF5A1F"/>
          </a:solidFill>
          <a:ln/>
        </p:spPr>
        <p:txBody>
          <a:bodyPr/>
          <a:lstStyle/>
          <a:p>
            <a:endParaRPr lang="en-US"/>
          </a:p>
        </p:txBody>
      </p:sp>
      <p:sp>
        <p:nvSpPr>
          <p:cNvPr id="55" name="Text 53"/>
          <p:cNvSpPr/>
          <p:nvPr/>
        </p:nvSpPr>
        <p:spPr>
          <a:xfrm>
            <a:off x="1181100" y="7974509"/>
            <a:ext cx="10791825" cy="998041"/>
          </a:xfrm>
          <a:prstGeom prst="rect">
            <a:avLst/>
          </a:prstGeom>
          <a:noFill/>
          <a:ln/>
        </p:spPr>
        <p:txBody>
          <a:bodyPr wrap="square" lIns="25400" tIns="25400" rIns="25400" bIns="25400" rtlCol="0" anchor="t">
            <a:normAutofit fontScale="92500"/>
          </a:bodyPr>
          <a:lstStyle/>
          <a:p>
            <a:pPr marL="0" indent="0" algn="l">
              <a:lnSpc>
                <a:spcPct val="120000"/>
              </a:lnSpc>
              <a:buNone/>
            </a:pPr>
            <a:r>
              <a:rPr lang="en-US" sz="2100" kern="0" spc="-11" dirty="0">
                <a:solidFill>
                  <a:srgbClr val="0A0A0A"/>
                </a:solidFill>
                <a:latin typeface="Space Grotesk" pitchFamily="34" charset="0"/>
                <a:ea typeface="Space Grotesk" pitchFamily="34" charset="-122"/>
                <a:cs typeface="Space Grotesk" pitchFamily="34" charset="-120"/>
              </a:rPr>
              <a:t>Central estimate </a:t>
            </a:r>
            <a:r>
              <a:rPr lang="en-US" sz="2100" b="1" kern="0" spc="-11" dirty="0">
                <a:solidFill>
                  <a:srgbClr val="FF5A1F"/>
                </a:solidFill>
                <a:latin typeface="Space Grotesk" pitchFamily="34" charset="0"/>
                <a:ea typeface="Space Grotesk" pitchFamily="34" charset="-122"/>
                <a:cs typeface="Space Grotesk" pitchFamily="34" charset="-120"/>
              </a:rPr>
              <a:t>$9.6B </a:t>
            </a:r>
            <a:r>
              <a:rPr lang="en-US" sz="2100" kern="0" spc="-11" dirty="0">
                <a:solidFill>
                  <a:srgbClr val="0A0A0A"/>
                </a:solidFill>
                <a:latin typeface="Space Grotesk" pitchFamily="34" charset="0"/>
                <a:ea typeface="Space Grotesk" pitchFamily="34" charset="-122"/>
                <a:cs typeface="Space Grotesk" pitchFamily="34" charset="-120"/>
              </a:rPr>
              <a:t>· weighted across DCF + options + comps. Series G headline overstates common-equivalent value by </a:t>
            </a:r>
            <a:r>
              <a:rPr lang="en-US" sz="2100" b="1" kern="0" spc="-11" dirty="0">
                <a:solidFill>
                  <a:srgbClr val="FF5A1F"/>
                </a:solidFill>
                <a:latin typeface="Space Grotesk" pitchFamily="34" charset="0"/>
                <a:ea typeface="Space Grotesk" pitchFamily="34" charset="-122"/>
                <a:cs typeface="Space Grotesk" pitchFamily="34" charset="-120"/>
              </a:rPr>
              <a:t>~6% </a:t>
            </a:r>
            <a:r>
              <a:rPr lang="en-US" sz="2100" kern="0" spc="-11" dirty="0">
                <a:solidFill>
                  <a:srgbClr val="0A0A0A"/>
                </a:solidFill>
                <a:latin typeface="Space Grotesk" pitchFamily="34" charset="0"/>
                <a:ea typeface="Space Grotesk" pitchFamily="34" charset="-122"/>
                <a:cs typeface="Space Grotesk" pitchFamily="34" charset="-120"/>
              </a:rPr>
              <a:t>; the market is paying an option premium on the health-data trajectory.</a:t>
            </a:r>
            <a:endParaRPr lang="en-US" sz="2100" dirty="0"/>
          </a:p>
        </p:txBody>
      </p:sp>
      <p:sp>
        <p:nvSpPr>
          <p:cNvPr id="56" name="Text 54"/>
          <p:cNvSpPr/>
          <p:nvPr/>
        </p:nvSpPr>
        <p:spPr>
          <a:xfrm>
            <a:off x="16024845" y="8202067"/>
            <a:ext cx="1082055" cy="542925"/>
          </a:xfrm>
          <a:prstGeom prst="rect">
            <a:avLst/>
          </a:prstGeom>
          <a:noFill/>
          <a:ln/>
        </p:spPr>
        <p:txBody>
          <a:bodyPr wrap="square" lIns="25400" tIns="25400" rIns="25400" bIns="25400" rtlCol="0" anchor="t">
            <a:normAutofit/>
          </a:bodyPr>
          <a:lstStyle/>
          <a:p>
            <a:pPr marL="0" indent="0" algn="r">
              <a:buNone/>
            </a:pPr>
            <a:r>
              <a:rPr lang="en-US" sz="1500" b="1" kern="0" spc="90" dirty="0">
                <a:solidFill>
                  <a:srgbClr val="FF5A1F"/>
                </a:solidFill>
                <a:latin typeface="JetBrains Mono" pitchFamily="34" charset="0"/>
                <a:ea typeface="JetBrains Mono" pitchFamily="34" charset="-122"/>
                <a:cs typeface="JetBrains Mono" pitchFamily="34" charset="-120"/>
              </a:rPr>
              <a:t>VERDICT OVER ~6%</a:t>
            </a:r>
            <a:endParaRPr lang="en-US" sz="1500" dirty="0"/>
          </a:p>
        </p:txBody>
      </p:sp>
      <p:sp>
        <p:nvSpPr>
          <p:cNvPr id="57" name="Text 55"/>
          <p:cNvSpPr/>
          <p:nvPr/>
        </p:nvSpPr>
        <p:spPr>
          <a:xfrm>
            <a:off x="952500" y="9767888"/>
            <a:ext cx="8740995"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SYNTHESIS — NO SINGLE METHOD IS DISPOSITIVE; WEIGHTED VIEW ACROSS METHODS </a:t>
            </a:r>
            <a:r>
              <a:rPr lang="en-US" sz="1050" kern="0" spc="147" dirty="0">
                <a:solidFill>
                  <a:srgbClr val="FF5A1F"/>
                </a:solidFill>
                <a:latin typeface="JetBrains Mono" pitchFamily="34" charset="0"/>
                <a:ea typeface="JetBrains Mono" pitchFamily="34" charset="-122"/>
                <a:cs typeface="JetBrains Mono" pitchFamily="34" charset="-120"/>
              </a:rPr>
              <a:t>(LECTURE 1A)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4639851"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10 / 12</a:t>
            </a:r>
            <a:endParaRPr lang="en-US" sz="1050" dirty="0"/>
          </a:p>
        </p:txBody>
      </p:sp>
      <p:sp>
        <p:nvSpPr>
          <p:cNvPr id="4" name="Text 2"/>
          <p:cNvSpPr/>
          <p:nvPr/>
        </p:nvSpPr>
        <p:spPr>
          <a:xfrm>
            <a:off x="15559236" y="342900"/>
            <a:ext cx="1852464"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HONEST SENSITIVITY</a:t>
            </a:r>
            <a:endParaRPr lang="en-US" sz="1050" dirty="0"/>
          </a:p>
        </p:txBody>
      </p:sp>
      <p:sp>
        <p:nvSpPr>
          <p:cNvPr id="5" name="Text 3"/>
          <p:cNvSpPr/>
          <p:nvPr/>
        </p:nvSpPr>
        <p:spPr>
          <a:xfrm>
            <a:off x="952500" y="1047750"/>
            <a:ext cx="16874490"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FF5A1F"/>
                </a:solidFill>
                <a:latin typeface="JetBrains Mono" pitchFamily="34" charset="0"/>
                <a:ea typeface="JetBrains Mono" pitchFamily="34" charset="-122"/>
                <a:cs typeface="JetBrains Mono" pitchFamily="34" charset="-120"/>
              </a:rPr>
              <a:t>SLIDE 10 · WHAT WOULD CHANGE OUR MIND</a:t>
            </a:r>
            <a:endParaRPr lang="en-US" sz="1350" dirty="0"/>
          </a:p>
        </p:txBody>
      </p:sp>
      <p:sp>
        <p:nvSpPr>
          <p:cNvPr id="6" name="Text 4"/>
          <p:cNvSpPr/>
          <p:nvPr/>
        </p:nvSpPr>
        <p:spPr>
          <a:xfrm>
            <a:off x="952500" y="1409700"/>
            <a:ext cx="16874490" cy="63244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500" b="1" kern="0" spc="-81" dirty="0">
                <a:solidFill>
                  <a:srgbClr val="0A0A0A"/>
                </a:solidFill>
                <a:latin typeface="Space Grotesk" pitchFamily="34" charset="0"/>
                <a:ea typeface="Space Grotesk" pitchFamily="34" charset="-122"/>
                <a:cs typeface="Space Grotesk" pitchFamily="34" charset="-120"/>
              </a:rPr>
              <a:t>Three triggers that flip the verdict.</a:t>
            </a:r>
            <a:endParaRPr lang="en-US" sz="4500" dirty="0"/>
          </a:p>
        </p:txBody>
      </p:sp>
      <p:sp>
        <p:nvSpPr>
          <p:cNvPr id="7" name="Text 5"/>
          <p:cNvSpPr/>
          <p:nvPr/>
        </p:nvSpPr>
        <p:spPr>
          <a:xfrm>
            <a:off x="952500" y="2137395"/>
            <a:ext cx="14716125" cy="38479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kern="0" spc="-10" dirty="0">
                <a:solidFill>
                  <a:srgbClr val="3A3A3A"/>
                </a:solidFill>
                <a:latin typeface="Space Grotesk" pitchFamily="34" charset="0"/>
                <a:ea typeface="Space Grotesk" pitchFamily="34" charset="-122"/>
                <a:cs typeface="Space Grotesk" pitchFamily="34" charset="-120"/>
              </a:rPr>
              <a:t>Assumptions are theses, not knobs. Here are the three that matter most — and what each does to the answer.</a:t>
            </a:r>
            <a:endParaRPr lang="en-US" sz="1950" dirty="0"/>
          </a:p>
        </p:txBody>
      </p:sp>
      <p:sp>
        <p:nvSpPr>
          <p:cNvPr id="8" name="Shape 6"/>
          <p:cNvSpPr/>
          <p:nvPr/>
        </p:nvSpPr>
        <p:spPr>
          <a:xfrm>
            <a:off x="952500" y="2826990"/>
            <a:ext cx="16383000" cy="1097161"/>
          </a:xfrm>
          <a:prstGeom prst="rect">
            <a:avLst/>
          </a:prstGeom>
          <a:solidFill>
            <a:srgbClr val="F6F5F2"/>
          </a:solidFill>
          <a:ln w="9525">
            <a:solidFill>
              <a:srgbClr val="E2DFD8"/>
            </a:solidFill>
            <a:prstDash val="solid"/>
          </a:ln>
        </p:spPr>
        <p:txBody>
          <a:bodyPr/>
          <a:lstStyle/>
          <a:p>
            <a:endParaRPr lang="en-US"/>
          </a:p>
        </p:txBody>
      </p:sp>
      <p:sp>
        <p:nvSpPr>
          <p:cNvPr id="9" name="Text 7"/>
          <p:cNvSpPr/>
          <p:nvPr/>
        </p:nvSpPr>
        <p:spPr>
          <a:xfrm>
            <a:off x="1228725" y="3187452"/>
            <a:ext cx="6858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F5A1F"/>
                </a:solidFill>
                <a:latin typeface="JetBrains Mono" pitchFamily="34" charset="0"/>
                <a:ea typeface="JetBrains Mono" pitchFamily="34" charset="-122"/>
                <a:cs typeface="JetBrains Mono" pitchFamily="34" charset="-120"/>
              </a:rPr>
              <a:t>01</a:t>
            </a:r>
            <a:endParaRPr lang="en-US" sz="2250" dirty="0"/>
          </a:p>
        </p:txBody>
      </p:sp>
      <p:sp>
        <p:nvSpPr>
          <p:cNvPr id="10" name="Text 8"/>
          <p:cNvSpPr/>
          <p:nvPr/>
        </p:nvSpPr>
        <p:spPr>
          <a:xfrm>
            <a:off x="2143125" y="3103215"/>
            <a:ext cx="7073551" cy="582811"/>
          </a:xfrm>
          <a:prstGeom prst="rect">
            <a:avLst/>
          </a:prstGeom>
          <a:noFill/>
          <a:ln/>
        </p:spPr>
        <p:txBody>
          <a:bodyPr wrap="square" lIns="25400" tIns="25400" rIns="25400" bIns="25400" rtlCol="0" anchor="t">
            <a:normAutofit/>
          </a:bodyPr>
          <a:lstStyle/>
          <a:p>
            <a:pPr marL="0" indent="0" algn="l">
              <a:lnSpc>
                <a:spcPct val="130000"/>
              </a:lnSpc>
              <a:buNone/>
            </a:pPr>
            <a:r>
              <a:rPr lang="en-US" sz="1650" dirty="0">
                <a:solidFill>
                  <a:srgbClr val="0A0A0A"/>
                </a:solidFill>
                <a:latin typeface="Space Grotesk" pitchFamily="34" charset="0"/>
                <a:ea typeface="Space Grotesk" pitchFamily="34" charset="-122"/>
                <a:cs typeface="Space Grotesk" pitchFamily="34" charset="-120"/>
              </a:rPr>
              <a:t>Churn runs </a:t>
            </a:r>
            <a:r>
              <a:rPr lang="en-US" sz="1650" b="1" dirty="0">
                <a:solidFill>
                  <a:srgbClr val="FF5A1F"/>
                </a:solidFill>
                <a:latin typeface="Space Grotesk" pitchFamily="34" charset="0"/>
                <a:ea typeface="Space Grotesk" pitchFamily="34" charset="-122"/>
                <a:cs typeface="Space Grotesk" pitchFamily="34" charset="-120"/>
              </a:rPr>
              <a:t>+200 bps </a:t>
            </a:r>
            <a:r>
              <a:rPr lang="en-US" sz="1650" dirty="0">
                <a:solidFill>
                  <a:srgbClr val="0A0A0A"/>
                </a:solidFill>
                <a:latin typeface="Space Grotesk" pitchFamily="34" charset="0"/>
                <a:ea typeface="Space Grotesk" pitchFamily="34" charset="-122"/>
                <a:cs typeface="Space Grotesk" pitchFamily="34" charset="-120"/>
              </a:rPr>
              <a:t>above modeled — terminal lands at 16%, not 14%.</a:t>
            </a:r>
            <a:endParaRPr lang="en-US" sz="1650" dirty="0"/>
          </a:p>
        </p:txBody>
      </p:sp>
      <p:sp>
        <p:nvSpPr>
          <p:cNvPr id="11" name="Text 9"/>
          <p:cNvSpPr/>
          <p:nvPr/>
        </p:nvSpPr>
        <p:spPr>
          <a:xfrm>
            <a:off x="9277350" y="3187452"/>
            <a:ext cx="647700" cy="414338"/>
          </a:xfrm>
          <a:prstGeom prst="rect">
            <a:avLst/>
          </a:prstGeom>
          <a:noFill/>
          <a:ln/>
        </p:spPr>
        <p:txBody>
          <a:bodyPr wrap="square" lIns="25400" tIns="25400" rIns="25400" bIns="25400" rtlCol="0" anchor="t">
            <a:normAutofit/>
          </a:bodyPr>
          <a:lstStyle/>
          <a:p>
            <a:pPr marL="0" indent="0" algn="ctr">
              <a:buNone/>
            </a:pPr>
            <a:r>
              <a:rPr lang="en-US" sz="2250" dirty="0">
                <a:solidFill>
                  <a:srgbClr val="7A776E"/>
                </a:solidFill>
                <a:latin typeface="JetBrains Mono" pitchFamily="34" charset="0"/>
                <a:ea typeface="JetBrains Mono" pitchFamily="34" charset="-122"/>
                <a:cs typeface="JetBrains Mono" pitchFamily="34" charset="-120"/>
              </a:rPr>
              <a:t>→</a:t>
            </a:r>
            <a:endParaRPr lang="en-US" sz="2250" dirty="0"/>
          </a:p>
        </p:txBody>
      </p:sp>
      <p:sp>
        <p:nvSpPr>
          <p:cNvPr id="12" name="Text 10"/>
          <p:cNvSpPr/>
          <p:nvPr/>
        </p:nvSpPr>
        <p:spPr>
          <a:xfrm>
            <a:off x="10191750" y="3103215"/>
            <a:ext cx="7073551" cy="58281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650" dirty="0">
                <a:solidFill>
                  <a:srgbClr val="3A3A3A"/>
                </a:solidFill>
                <a:latin typeface="Space Grotesk" pitchFamily="34" charset="0"/>
                <a:ea typeface="Space Grotesk" pitchFamily="34" charset="-122"/>
                <a:cs typeface="Space Grotesk" pitchFamily="34" charset="-120"/>
              </a:rPr>
              <a:t>DCF base drops </a:t>
            </a:r>
            <a:r>
              <a:rPr lang="en-US" sz="1650" b="1" dirty="0">
                <a:solidFill>
                  <a:srgbClr val="0A0A0A"/>
                </a:solidFill>
                <a:latin typeface="Space Grotesk" pitchFamily="34" charset="0"/>
                <a:ea typeface="Space Grotesk" pitchFamily="34" charset="-122"/>
                <a:cs typeface="Space Grotesk" pitchFamily="34" charset="-120"/>
              </a:rPr>
              <a:t>~14% </a:t>
            </a:r>
            <a:r>
              <a:rPr lang="en-US" sz="1650" dirty="0">
                <a:solidFill>
                  <a:srgbClr val="3A3A3A"/>
                </a:solidFill>
                <a:latin typeface="Space Grotesk" pitchFamily="34" charset="0"/>
                <a:ea typeface="Space Grotesk" pitchFamily="34" charset="-122"/>
                <a:cs typeface="Space Grotesk" pitchFamily="34" charset="-120"/>
              </a:rPr>
              <a:t>. Hardware bucket becomes the correct comp; verdict flips to </a:t>
            </a:r>
            <a:r>
              <a:rPr lang="en-US" sz="1650" b="1" dirty="0">
                <a:solidFill>
                  <a:srgbClr val="0A0A0A"/>
                </a:solidFill>
                <a:latin typeface="Space Grotesk" pitchFamily="34" charset="0"/>
                <a:ea typeface="Space Grotesk" pitchFamily="34" charset="-122"/>
                <a:cs typeface="Space Grotesk" pitchFamily="34" charset="-120"/>
              </a:rPr>
              <a:t>over ~25%.</a:t>
            </a:r>
            <a:endParaRPr lang="en-US" sz="1650" dirty="0"/>
          </a:p>
        </p:txBody>
      </p:sp>
      <p:sp>
        <p:nvSpPr>
          <p:cNvPr id="13" name="Shape 11"/>
          <p:cNvSpPr/>
          <p:nvPr/>
        </p:nvSpPr>
        <p:spPr>
          <a:xfrm>
            <a:off x="952500" y="4152751"/>
            <a:ext cx="16383000" cy="1097161"/>
          </a:xfrm>
          <a:prstGeom prst="rect">
            <a:avLst/>
          </a:prstGeom>
          <a:solidFill>
            <a:srgbClr val="F6F5F2"/>
          </a:solidFill>
          <a:ln w="9525">
            <a:solidFill>
              <a:srgbClr val="E2DFD8"/>
            </a:solidFill>
            <a:prstDash val="solid"/>
          </a:ln>
        </p:spPr>
        <p:txBody>
          <a:bodyPr/>
          <a:lstStyle/>
          <a:p>
            <a:endParaRPr lang="en-US"/>
          </a:p>
        </p:txBody>
      </p:sp>
      <p:sp>
        <p:nvSpPr>
          <p:cNvPr id="14" name="Text 12"/>
          <p:cNvSpPr/>
          <p:nvPr/>
        </p:nvSpPr>
        <p:spPr>
          <a:xfrm>
            <a:off x="1228725" y="4513213"/>
            <a:ext cx="6858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F5A1F"/>
                </a:solidFill>
                <a:latin typeface="JetBrains Mono" pitchFamily="34" charset="0"/>
                <a:ea typeface="JetBrains Mono" pitchFamily="34" charset="-122"/>
                <a:cs typeface="JetBrains Mono" pitchFamily="34" charset="-120"/>
              </a:rPr>
              <a:t>02</a:t>
            </a:r>
            <a:endParaRPr lang="en-US" sz="2250" dirty="0"/>
          </a:p>
        </p:txBody>
      </p:sp>
      <p:sp>
        <p:nvSpPr>
          <p:cNvPr id="15" name="Text 13"/>
          <p:cNvSpPr/>
          <p:nvPr/>
        </p:nvSpPr>
        <p:spPr>
          <a:xfrm>
            <a:off x="2143125" y="4428976"/>
            <a:ext cx="7073551" cy="58281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650" dirty="0">
                <a:solidFill>
                  <a:srgbClr val="0A0A0A"/>
                </a:solidFill>
                <a:latin typeface="Space Grotesk" pitchFamily="34" charset="0"/>
                <a:ea typeface="Space Grotesk" pitchFamily="34" charset="-122"/>
                <a:cs typeface="Space Grotesk" pitchFamily="34" charset="-120"/>
              </a:rPr>
              <a:t>Health-data option </a:t>
            </a:r>
            <a:r>
              <a:rPr lang="en-US" sz="1650" b="1" dirty="0">
                <a:solidFill>
                  <a:srgbClr val="FF5A1F"/>
                </a:solidFill>
                <a:latin typeface="Space Grotesk" pitchFamily="34" charset="0"/>
                <a:ea typeface="Space Grotesk" pitchFamily="34" charset="-122"/>
                <a:cs typeface="Space Grotesk" pitchFamily="34" charset="-120"/>
              </a:rPr>
              <a:t>does not materialize </a:t>
            </a:r>
            <a:r>
              <a:rPr lang="en-US" sz="1650" dirty="0">
                <a:solidFill>
                  <a:srgbClr val="0A0A0A"/>
                </a:solidFill>
                <a:latin typeface="Space Grotesk" pitchFamily="34" charset="0"/>
                <a:ea typeface="Space Grotesk" pitchFamily="34" charset="-122"/>
                <a:cs typeface="Space Grotesk" pitchFamily="34" charset="-120"/>
              </a:rPr>
              <a:t>by Y5 — no FDA reimbursement pathway, no insurer contracts.</a:t>
            </a:r>
            <a:endParaRPr lang="en-US" sz="1650" dirty="0"/>
          </a:p>
        </p:txBody>
      </p:sp>
      <p:sp>
        <p:nvSpPr>
          <p:cNvPr id="16" name="Text 14"/>
          <p:cNvSpPr/>
          <p:nvPr/>
        </p:nvSpPr>
        <p:spPr>
          <a:xfrm>
            <a:off x="9277350" y="4513213"/>
            <a:ext cx="647700" cy="414338"/>
          </a:xfrm>
          <a:prstGeom prst="rect">
            <a:avLst/>
          </a:prstGeom>
          <a:noFill/>
          <a:ln/>
        </p:spPr>
        <p:txBody>
          <a:bodyPr wrap="square" lIns="25400" tIns="25400" rIns="25400" bIns="25400" rtlCol="0" anchor="t">
            <a:normAutofit/>
          </a:bodyPr>
          <a:lstStyle/>
          <a:p>
            <a:pPr marL="0" indent="0" algn="ctr">
              <a:buNone/>
            </a:pPr>
            <a:r>
              <a:rPr lang="en-US" sz="2250" dirty="0">
                <a:solidFill>
                  <a:srgbClr val="7A776E"/>
                </a:solidFill>
                <a:latin typeface="JetBrains Mono" pitchFamily="34" charset="0"/>
                <a:ea typeface="JetBrains Mono" pitchFamily="34" charset="-122"/>
                <a:cs typeface="JetBrains Mono" pitchFamily="34" charset="-120"/>
              </a:rPr>
              <a:t>→</a:t>
            </a:r>
            <a:endParaRPr lang="en-US" sz="2250" dirty="0"/>
          </a:p>
        </p:txBody>
      </p:sp>
      <p:sp>
        <p:nvSpPr>
          <p:cNvPr id="17" name="Text 15"/>
          <p:cNvSpPr/>
          <p:nvPr/>
        </p:nvSpPr>
        <p:spPr>
          <a:xfrm>
            <a:off x="10191750" y="4428976"/>
            <a:ext cx="7073551" cy="58281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650" dirty="0">
                <a:solidFill>
                  <a:srgbClr val="3A3A3A"/>
                </a:solidFill>
                <a:latin typeface="Space Grotesk" pitchFamily="34" charset="0"/>
                <a:ea typeface="Space Grotesk" pitchFamily="34" charset="-122"/>
                <a:cs typeface="Space Grotesk" pitchFamily="34" charset="-120"/>
              </a:rPr>
              <a:t>Option premium collapses; DCF + options range converges to DCF. Central estimate falls to </a:t>
            </a:r>
            <a:r>
              <a:rPr lang="en-US" sz="1650" b="1" dirty="0">
                <a:solidFill>
                  <a:srgbClr val="0A0A0A"/>
                </a:solidFill>
                <a:latin typeface="Space Grotesk" pitchFamily="34" charset="0"/>
                <a:ea typeface="Space Grotesk" pitchFamily="34" charset="-122"/>
                <a:cs typeface="Space Grotesk" pitchFamily="34" charset="-120"/>
              </a:rPr>
              <a:t>~$8.4B.</a:t>
            </a:r>
            <a:endParaRPr lang="en-US" sz="1650" dirty="0"/>
          </a:p>
        </p:txBody>
      </p:sp>
      <p:sp>
        <p:nvSpPr>
          <p:cNvPr id="18" name="Shape 16"/>
          <p:cNvSpPr/>
          <p:nvPr/>
        </p:nvSpPr>
        <p:spPr>
          <a:xfrm>
            <a:off x="952500" y="5478512"/>
            <a:ext cx="16383000" cy="1097161"/>
          </a:xfrm>
          <a:prstGeom prst="rect">
            <a:avLst/>
          </a:prstGeom>
          <a:solidFill>
            <a:srgbClr val="F6F5F2"/>
          </a:solidFill>
          <a:ln w="9525">
            <a:solidFill>
              <a:srgbClr val="E2DFD8"/>
            </a:solidFill>
            <a:prstDash val="solid"/>
          </a:ln>
        </p:spPr>
        <p:txBody>
          <a:bodyPr/>
          <a:lstStyle/>
          <a:p>
            <a:endParaRPr lang="en-US"/>
          </a:p>
        </p:txBody>
      </p:sp>
      <p:sp>
        <p:nvSpPr>
          <p:cNvPr id="19" name="Text 17"/>
          <p:cNvSpPr/>
          <p:nvPr/>
        </p:nvSpPr>
        <p:spPr>
          <a:xfrm>
            <a:off x="1228725" y="5838974"/>
            <a:ext cx="68580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FF5A1F"/>
                </a:solidFill>
                <a:latin typeface="JetBrains Mono" pitchFamily="34" charset="0"/>
                <a:ea typeface="JetBrains Mono" pitchFamily="34" charset="-122"/>
                <a:cs typeface="JetBrains Mono" pitchFamily="34" charset="-120"/>
              </a:rPr>
              <a:t>03</a:t>
            </a:r>
            <a:endParaRPr lang="en-US" sz="2250" dirty="0"/>
          </a:p>
        </p:txBody>
      </p:sp>
      <p:sp>
        <p:nvSpPr>
          <p:cNvPr id="20" name="Text 18"/>
          <p:cNvSpPr/>
          <p:nvPr/>
        </p:nvSpPr>
        <p:spPr>
          <a:xfrm>
            <a:off x="2143125" y="5754737"/>
            <a:ext cx="7073551" cy="58281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650" dirty="0">
                <a:solidFill>
                  <a:srgbClr val="0A0A0A"/>
                </a:solidFill>
                <a:latin typeface="Space Grotesk" pitchFamily="34" charset="0"/>
                <a:ea typeface="Space Grotesk" pitchFamily="34" charset="-122"/>
                <a:cs typeface="Space Grotesk" pitchFamily="34" charset="-120"/>
              </a:rPr>
              <a:t>IPO re-rates to a </a:t>
            </a:r>
            <a:r>
              <a:rPr lang="en-US" sz="1650" b="1" dirty="0">
                <a:solidFill>
                  <a:srgbClr val="FF5A1F"/>
                </a:solidFill>
                <a:latin typeface="Space Grotesk" pitchFamily="34" charset="0"/>
                <a:ea typeface="Space Grotesk" pitchFamily="34" charset="-122"/>
                <a:cs typeface="Space Grotesk" pitchFamily="34" charset="-120"/>
              </a:rPr>
              <a:t>Peloton trajectory </a:t>
            </a:r>
            <a:r>
              <a:rPr lang="en-US" sz="1650" dirty="0">
                <a:solidFill>
                  <a:srgbClr val="0A0A0A"/>
                </a:solidFill>
                <a:latin typeface="Space Grotesk" pitchFamily="34" charset="0"/>
                <a:ea typeface="Space Grotesk" pitchFamily="34" charset="-122"/>
                <a:cs typeface="Space Grotesk" pitchFamily="34" charset="-120"/>
              </a:rPr>
              <a:t>— public market validates the Hardware bucket post-bell.</a:t>
            </a:r>
            <a:endParaRPr lang="en-US" sz="1650" dirty="0"/>
          </a:p>
        </p:txBody>
      </p:sp>
      <p:sp>
        <p:nvSpPr>
          <p:cNvPr id="21" name="Text 19"/>
          <p:cNvSpPr/>
          <p:nvPr/>
        </p:nvSpPr>
        <p:spPr>
          <a:xfrm>
            <a:off x="9277350" y="5838974"/>
            <a:ext cx="647700" cy="414338"/>
          </a:xfrm>
          <a:prstGeom prst="rect">
            <a:avLst/>
          </a:prstGeom>
          <a:noFill/>
          <a:ln/>
        </p:spPr>
        <p:txBody>
          <a:bodyPr wrap="square" lIns="25400" tIns="25400" rIns="25400" bIns="25400" rtlCol="0" anchor="t">
            <a:normAutofit/>
          </a:bodyPr>
          <a:lstStyle/>
          <a:p>
            <a:pPr marL="0" indent="0" algn="ctr">
              <a:buNone/>
            </a:pPr>
            <a:r>
              <a:rPr lang="en-US" sz="2250" dirty="0">
                <a:solidFill>
                  <a:srgbClr val="7A776E"/>
                </a:solidFill>
                <a:latin typeface="JetBrains Mono" pitchFamily="34" charset="0"/>
                <a:ea typeface="JetBrains Mono" pitchFamily="34" charset="-122"/>
                <a:cs typeface="JetBrains Mono" pitchFamily="34" charset="-120"/>
              </a:rPr>
              <a:t>→</a:t>
            </a:r>
            <a:endParaRPr lang="en-US" sz="2250" dirty="0"/>
          </a:p>
        </p:txBody>
      </p:sp>
      <p:sp>
        <p:nvSpPr>
          <p:cNvPr id="22" name="Text 20"/>
          <p:cNvSpPr/>
          <p:nvPr/>
        </p:nvSpPr>
        <p:spPr>
          <a:xfrm>
            <a:off x="10191750" y="5754737"/>
            <a:ext cx="7073551" cy="58281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650" dirty="0">
                <a:solidFill>
                  <a:srgbClr val="3A3A3A"/>
                </a:solidFill>
                <a:latin typeface="Space Grotesk" pitchFamily="34" charset="0"/>
                <a:ea typeface="Space Grotesk" pitchFamily="34" charset="-122"/>
                <a:cs typeface="Space Grotesk" pitchFamily="34" charset="-120"/>
              </a:rPr>
              <a:t>Multiple compresses 60–70% from Series G; Series G overstates common-equivalent by </a:t>
            </a:r>
            <a:r>
              <a:rPr lang="en-US" sz="1650" b="1" dirty="0">
                <a:solidFill>
                  <a:srgbClr val="0A0A0A"/>
                </a:solidFill>
                <a:latin typeface="Space Grotesk" pitchFamily="34" charset="0"/>
                <a:ea typeface="Space Grotesk" pitchFamily="34" charset="-122"/>
                <a:cs typeface="Space Grotesk" pitchFamily="34" charset="-120"/>
              </a:rPr>
              <a:t>~50%</a:t>
            </a:r>
            <a:r>
              <a:rPr lang="en-US" sz="1650" dirty="0">
                <a:solidFill>
                  <a:srgbClr val="3A3A3A"/>
                </a:solidFill>
                <a:latin typeface="Space Grotesk" pitchFamily="34" charset="0"/>
                <a:ea typeface="Space Grotesk" pitchFamily="34" charset="-122"/>
                <a:cs typeface="Space Grotesk" pitchFamily="34" charset="-120"/>
              </a:rPr>
              <a:t>.</a:t>
            </a:r>
            <a:endParaRPr lang="en-US" sz="1650" dirty="0"/>
          </a:p>
        </p:txBody>
      </p:sp>
      <p:sp>
        <p:nvSpPr>
          <p:cNvPr id="23" name="Text 21"/>
          <p:cNvSpPr/>
          <p:nvPr/>
        </p:nvSpPr>
        <p:spPr>
          <a:xfrm>
            <a:off x="952500" y="9767888"/>
            <a:ext cx="5793478"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ASSUMPTIONS ARE THESES, NOT KNOBS. PRE-EMPTS HOSTILE Q&amp;A.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342900"/>
            <a:ext cx="1303065" cy="214313"/>
          </a:xfrm>
          <a:prstGeom prst="rect">
            <a:avLst/>
          </a:prstGeom>
          <a:noFill/>
          <a:ln/>
        </p:spPr>
        <p:txBody>
          <a:bodyPr wrap="square" lIns="25400" tIns="25400" rIns="25400" bIns="25400" rtlCol="0" anchor="t">
            <a:normAutofit/>
          </a:bodyPr>
          <a:lstStyle/>
          <a:p>
            <a:pPr marL="0" indent="0" algn="l">
              <a:buNone/>
            </a:pPr>
            <a:r>
              <a:rPr lang="en-US" sz="1050" b="1" kern="0" spc="336" dirty="0">
                <a:solidFill>
                  <a:srgbClr val="0A0A0A"/>
                </a:solidFill>
                <a:latin typeface="JetBrains Mono" pitchFamily="34" charset="0"/>
                <a:ea typeface="JetBrains Mono" pitchFamily="34" charset="-122"/>
                <a:cs typeface="JetBrains Mono" pitchFamily="34" charset="-120"/>
              </a:rPr>
              <a:t>VALUATION</a:t>
            </a:r>
            <a:r>
              <a:rPr lang="en-US" sz="1050" b="1" kern="0" spc="336" dirty="0">
                <a:solidFill>
                  <a:srgbClr val="FF5A1F"/>
                </a:solidFill>
                <a:latin typeface="JetBrains Mono" pitchFamily="34" charset="0"/>
                <a:ea typeface="JetBrains Mono" pitchFamily="34" charset="-122"/>
                <a:cs typeface="JetBrains Mono" pitchFamily="34" charset="-120"/>
              </a:rPr>
              <a:t>.</a:t>
            </a:r>
            <a:endParaRPr lang="en-US" sz="1050" dirty="0"/>
          </a:p>
        </p:txBody>
      </p:sp>
      <p:sp>
        <p:nvSpPr>
          <p:cNvPr id="3" name="Text 1"/>
          <p:cNvSpPr/>
          <p:nvPr/>
        </p:nvSpPr>
        <p:spPr>
          <a:xfrm>
            <a:off x="15231963" y="342900"/>
            <a:ext cx="766986"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11 / 12</a:t>
            </a:r>
            <a:endParaRPr lang="en-US" sz="1050" dirty="0"/>
          </a:p>
        </p:txBody>
      </p:sp>
      <p:sp>
        <p:nvSpPr>
          <p:cNvPr id="4" name="Text 2"/>
          <p:cNvSpPr/>
          <p:nvPr/>
        </p:nvSpPr>
        <p:spPr>
          <a:xfrm>
            <a:off x="16151349" y="342900"/>
            <a:ext cx="1260351" cy="214313"/>
          </a:xfrm>
          <a:prstGeom prst="rect">
            <a:avLst/>
          </a:prstGeom>
          <a:noFill/>
          <a:ln/>
        </p:spPr>
        <p:txBody>
          <a:bodyPr wrap="square" lIns="25400" tIns="25400" rIns="25400" bIns="25400" rtlCol="0" anchor="t">
            <a:normAutofit/>
          </a:bodyPr>
          <a:lstStyle/>
          <a:p>
            <a:pPr marL="0" indent="0" algn="l">
              <a:buNone/>
            </a:pPr>
            <a:r>
              <a:rPr lang="en-US" sz="1050" kern="0" spc="147" dirty="0">
                <a:solidFill>
                  <a:srgbClr val="7A776E"/>
                </a:solidFill>
                <a:latin typeface="JetBrains Mono" pitchFamily="34" charset="0"/>
                <a:ea typeface="JetBrains Mono" pitchFamily="34" charset="-122"/>
                <a:cs typeface="JetBrains Mono" pitchFamily="34" charset="-120"/>
              </a:rPr>
              <a:t>ONE SENTENCE</a:t>
            </a:r>
            <a:endParaRPr lang="en-US" sz="1050" dirty="0"/>
          </a:p>
        </p:txBody>
      </p:sp>
      <p:sp>
        <p:nvSpPr>
          <p:cNvPr id="5" name="Text 3"/>
          <p:cNvSpPr/>
          <p:nvPr/>
        </p:nvSpPr>
        <p:spPr>
          <a:xfrm>
            <a:off x="952500" y="1333500"/>
            <a:ext cx="16874490" cy="266700"/>
          </a:xfrm>
          <a:prstGeom prst="rect">
            <a:avLst/>
          </a:prstGeom>
          <a:noFill/>
          <a:ln/>
        </p:spPr>
        <p:txBody>
          <a:bodyPr wrap="square" lIns="25400" tIns="25400" rIns="25400" bIns="25400" rtlCol="0" anchor="t">
            <a:normAutofit/>
          </a:bodyPr>
          <a:lstStyle/>
          <a:p>
            <a:pPr marL="0" indent="0" algn="l">
              <a:buNone/>
            </a:pPr>
            <a:r>
              <a:rPr lang="en-US" sz="1350" kern="0" spc="216" dirty="0">
                <a:solidFill>
                  <a:srgbClr val="FF5A1F"/>
                </a:solidFill>
                <a:latin typeface="JetBrains Mono" pitchFamily="34" charset="0"/>
                <a:ea typeface="JetBrains Mono" pitchFamily="34" charset="-122"/>
                <a:cs typeface="JetBrains Mono" pitchFamily="34" charset="-120"/>
              </a:rPr>
              <a:t>SLIDE 11 · CLOSING</a:t>
            </a:r>
            <a:endParaRPr lang="en-US" sz="1350" dirty="0"/>
          </a:p>
        </p:txBody>
      </p:sp>
      <p:sp>
        <p:nvSpPr>
          <p:cNvPr id="6" name="Text 4"/>
          <p:cNvSpPr/>
          <p:nvPr/>
        </p:nvSpPr>
        <p:spPr>
          <a:xfrm>
            <a:off x="952500" y="3667125"/>
            <a:ext cx="15893415" cy="3009900"/>
          </a:xfrm>
          <a:prstGeom prst="rect">
            <a:avLst/>
          </a:prstGeom>
          <a:noFill/>
          <a:ln/>
        </p:spPr>
        <p:txBody>
          <a:bodyPr wrap="square" lIns="25400" tIns="25400" rIns="25400" bIns="25400" rtlCol="0" anchor="t">
            <a:normAutofit/>
          </a:bodyPr>
          <a:lstStyle/>
          <a:p>
            <a:pPr marL="0" indent="0" algn="l">
              <a:lnSpc>
                <a:spcPct val="130000"/>
              </a:lnSpc>
              <a:buNone/>
            </a:pPr>
            <a:r>
              <a:rPr lang="en-US" sz="4500" b="1" kern="0" spc="-90" dirty="0">
                <a:solidFill>
                  <a:srgbClr val="0A0A0A"/>
                </a:solidFill>
                <a:latin typeface="Space Grotesk" pitchFamily="34" charset="0"/>
                <a:ea typeface="Space Grotesk" pitchFamily="34" charset="-122"/>
                <a:cs typeface="Space Grotesk" pitchFamily="34" charset="-120"/>
              </a:rPr>
              <a:t>WHOOP at $10.1B is priced as a </a:t>
            </a:r>
            <a:r>
              <a:rPr lang="en-US" sz="4500" b="1" kern="0" spc="-90" dirty="0">
                <a:solidFill>
                  <a:srgbClr val="FF5A1F"/>
                </a:solidFill>
                <a:latin typeface="Space Grotesk" pitchFamily="34" charset="0"/>
                <a:ea typeface="Space Grotesk" pitchFamily="34" charset="-122"/>
                <a:cs typeface="Space Grotesk" pitchFamily="34" charset="-120"/>
              </a:rPr>
              <a:t>health-data platform. </a:t>
            </a:r>
            <a:r>
              <a:rPr lang="en-US" sz="4500" b="1" kern="0" spc="-90" dirty="0">
                <a:solidFill>
                  <a:srgbClr val="0A0A0A"/>
                </a:solidFill>
                <a:latin typeface="Space Grotesk" pitchFamily="34" charset="0"/>
                <a:ea typeface="Space Grotesk" pitchFamily="34" charset="-122"/>
                <a:cs typeface="Space Grotesk" pitchFamily="34" charset="-120"/>
              </a:rPr>
              <a:t>We value it as a </a:t>
            </a:r>
            <a:r>
              <a:rPr lang="en-US" sz="4500" b="1" kern="0" spc="-90" dirty="0">
                <a:solidFill>
                  <a:srgbClr val="FF5A1F"/>
                </a:solidFill>
                <a:latin typeface="Space Grotesk" pitchFamily="34" charset="0"/>
                <a:ea typeface="Space Grotesk" pitchFamily="34" charset="-122"/>
                <a:cs typeface="Space Grotesk" pitchFamily="34" charset="-120"/>
              </a:rPr>
              <a:t>consumer subscription with optionality </a:t>
            </a:r>
            <a:r>
              <a:rPr lang="en-US" sz="4500" b="1" kern="0" spc="-90" dirty="0">
                <a:solidFill>
                  <a:srgbClr val="0A0A0A"/>
                </a:solidFill>
                <a:latin typeface="Space Grotesk" pitchFamily="34" charset="0"/>
                <a:ea typeface="Space Grotesk" pitchFamily="34" charset="-122"/>
                <a:cs typeface="Space Grotesk" pitchFamily="34" charset="-120"/>
              </a:rPr>
              <a:t>and find the headline overstates common-equivalent value by </a:t>
            </a:r>
            <a:r>
              <a:rPr lang="en-US" sz="4500" b="1" kern="0" spc="-90" dirty="0">
                <a:solidFill>
                  <a:srgbClr val="FF5A1F"/>
                </a:solidFill>
                <a:latin typeface="Space Grotesk" pitchFamily="34" charset="0"/>
                <a:ea typeface="Space Grotesk" pitchFamily="34" charset="-122"/>
                <a:cs typeface="Space Grotesk" pitchFamily="34" charset="-120"/>
              </a:rPr>
              <a:t>~6%.</a:t>
            </a:r>
            <a:endParaRPr lang="en-US" sz="4500" dirty="0"/>
          </a:p>
        </p:txBody>
      </p:sp>
      <p:sp>
        <p:nvSpPr>
          <p:cNvPr id="7" name="Text 5"/>
          <p:cNvSpPr/>
          <p:nvPr/>
        </p:nvSpPr>
        <p:spPr>
          <a:xfrm>
            <a:off x="952500" y="8743950"/>
            <a:ext cx="16874490" cy="438150"/>
          </a:xfrm>
          <a:prstGeom prst="rect">
            <a:avLst/>
          </a:prstGeom>
          <a:noFill/>
          <a:ln/>
        </p:spPr>
        <p:txBody>
          <a:bodyPr wrap="square" lIns="25400" tIns="25400" rIns="25400" bIns="25400" rtlCol="0" anchor="t">
            <a:normAutofit/>
          </a:bodyPr>
          <a:lstStyle/>
          <a:p>
            <a:pPr marL="0" indent="0" algn="l">
              <a:buNone/>
            </a:pPr>
            <a:r>
              <a:rPr lang="en-US" sz="2400" kern="0" spc="384" dirty="0">
                <a:solidFill>
                  <a:srgbClr val="7A776E"/>
                </a:solidFill>
                <a:latin typeface="JetBrains Mono" pitchFamily="34" charset="0"/>
                <a:ea typeface="JetBrains Mono" pitchFamily="34" charset="-122"/>
                <a:cs typeface="JetBrains Mono" pitchFamily="34" charset="-120"/>
              </a:rPr>
              <a:t>QUESTIONS </a:t>
            </a:r>
            <a:r>
              <a:rPr lang="en-US" sz="2400" kern="0" spc="384" dirty="0">
                <a:solidFill>
                  <a:srgbClr val="FF5A1F"/>
                </a:solidFill>
                <a:latin typeface="JetBrains Mono" pitchFamily="34" charset="0"/>
                <a:ea typeface="JetBrains Mono" pitchFamily="34" charset="-122"/>
                <a:cs typeface="JetBrains Mono" pitchFamily="34" charset="-120"/>
              </a:rPr>
              <a: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71D91F4-A5FA-5F4A-9378-E24E9750FA3A}">
  <we:reference id="wa200010001" version="1.0.0.1" store="en-US" storeType="OMEX"/>
  <we:alternateReferences>
    <we:reference id="wa200010001" version="1.0.0.1"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4203</TotalTime>
  <Words>2394</Words>
  <Application>Microsoft Macintosh PowerPoint</Application>
  <PresentationFormat>Custom</PresentationFormat>
  <Paragraphs>473</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Inter Tight</vt:lpstr>
      <vt:lpstr>JetBrains Mono</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Landon Brice</cp:lastModifiedBy>
  <cp:revision>2</cp:revision>
  <dcterms:created xsi:type="dcterms:W3CDTF">2026-05-04T18:50:28Z</dcterms:created>
  <dcterms:modified xsi:type="dcterms:W3CDTF">2026-05-10T14:14:36Z</dcterms:modified>
</cp:coreProperties>
</file>