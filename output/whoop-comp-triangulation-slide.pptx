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645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6E2C"/>
                </a:solidFill>
                <a:latin typeface="Calibri"/>
              </a:rPr>
              <a:t>COMPARABLE COMPANIES DISCONNECT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6916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Series G prices outside every public-comp thesis — top of healthcare is 5.96×,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6916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WHOOP bookings is 9.2× pricing near OURA.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627632"/>
            <a:ext cx="1746504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1828800"/>
            <a:ext cx="1243584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091940"/>
            <a:ext cx="1243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[ paste existing scatter here  ·  EV / NTM Revenue × NTM Growth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411980"/>
            <a:ext cx="1243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tier-coded dots, WHOOP @ 9.2× / 19.4× callout, OURA anchor at 120%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84480" y="1828800"/>
            <a:ext cx="4892040" cy="5074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13080" y="2011680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6E2C"/>
                </a:solidFill>
                <a:latin typeface="Calibri"/>
              </a:rPr>
              <a:t>THE PLATFORM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13080" y="2395728"/>
            <a:ext cx="443484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WHOOP @ Series G prices at ~19× recognized revenue / ~9× bookings — outside every public tier (highest public anchor: Masimo 5.96×).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No bucket-weighting scheme reaches $10.1B without 70%+ weight on Bucket 3 — which Series G investors implicitly do.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WHOOP combines four commercial vectors (consumer sub + clinical-grade hardware + B2B Unite + health-data platform) no public comp holds together. +14.4% intrinsic premium ≈ what gets priced when the fourth vector becomes publicly visible.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7040880"/>
            <a:ext cx="17465040" cy="30175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7205472"/>
            <a:ext cx="17007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6E2C"/>
                </a:solidFill>
                <a:latin typeface="Calibri"/>
              </a:rPr>
              <a:t>COMP-IMPLIED VALUATION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7498079"/>
            <a:ext cx="17007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1F3A5F"/>
                </a:solidFill>
                <a:latin typeface="Calibri"/>
              </a:rPr>
              <a:t>Static comps converge $5.1–5.9B. Series G prices $10.1B. The ~$4.2B gap is what the DCF + real-options must defend.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80160" y="9281160"/>
            <a:ext cx="1609344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80160" y="92811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94000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$0B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62400" y="92811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50920" y="94000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$2B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44640" y="92811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33160" y="94000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$4B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26880" y="92811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15400" y="94000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$6B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009120" y="92811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597640" y="94000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$8B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691360" y="92811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279880" y="94000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$10B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7373600" y="92811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962120" y="94000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$12B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8778240"/>
            <a:ext cx="1072896" cy="502920"/>
          </a:xfrm>
          <a:prstGeom prst="rect">
            <a:avLst/>
          </a:prstGeom>
          <a:solidFill>
            <a:srgbClr val="FF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8567928"/>
            <a:ext cx="26273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E66E2C"/>
                </a:solidFill>
                <a:latin typeface="Calibri"/>
              </a:rPr>
              <a:t>STATIC-COMP BAND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19872" y="8778240"/>
            <a:ext cx="0" cy="50292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046720" y="9208008"/>
            <a:ext cx="146304" cy="14630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83210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3A5F"/>
                </a:solidFill>
                <a:latin typeface="Calibri"/>
              </a:rPr>
              <a:t>$5.1B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85222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1827"/>
                </a:solidFill>
                <a:latin typeface="Calibri"/>
              </a:rPr>
              <a:t>Bear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790432" y="8778240"/>
            <a:ext cx="0" cy="50292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717280" y="9208008"/>
            <a:ext cx="146304" cy="14630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76032" y="83210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3A5F"/>
                </a:solidFill>
                <a:latin typeface="Calibri"/>
              </a:rPr>
              <a:t>$5.6B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6032" y="85222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1827"/>
                </a:solidFill>
                <a:latin typeface="Calibri"/>
              </a:rPr>
              <a:t>Base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92768" y="8778240"/>
            <a:ext cx="0" cy="50292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119616" y="9208008"/>
            <a:ext cx="146304" cy="14630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8368" y="83210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3A5F"/>
                </a:solidFill>
                <a:latin typeface="Calibri"/>
              </a:rPr>
              <a:t>$5.9B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8368" y="85222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1827"/>
                </a:solidFill>
                <a:latin typeface="Calibri"/>
              </a:rPr>
              <a:t>Bull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9765792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97383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Bear  40/40/20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9921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blended 4.6×</a:t>
            </a:r>
          </a:p>
        </p:txBody>
      </p:sp>
      <p:sp>
        <p:nvSpPr>
          <p:cNvPr id="47" name="Oval 46"/>
          <p:cNvSpPr/>
          <p:nvPr/>
        </p:nvSpPr>
        <p:spPr>
          <a:xfrm>
            <a:off x="3017520" y="9765792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46120" y="97383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Base  20/40/40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9921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blended 5.1×</a:t>
            </a:r>
          </a:p>
        </p:txBody>
      </p:sp>
      <p:sp>
        <p:nvSpPr>
          <p:cNvPr id="50" name="Oval 49"/>
          <p:cNvSpPr/>
          <p:nvPr/>
        </p:nvSpPr>
        <p:spPr>
          <a:xfrm>
            <a:off x="5303520" y="9765792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97383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Bull  10/30/60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2120" y="9921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blended 5.4×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85760" y="10149840"/>
            <a:ext cx="4023360" cy="914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985760" y="10104119"/>
            <a:ext cx="0" cy="182881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009120" y="10104119"/>
            <a:ext cx="0" cy="182881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574280" y="101315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$5B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97640" y="101315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$8B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92000" y="10113264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Precedent M&amp;A (14 deals, current-regime medtech 6.6–10.1×)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85760" y="10652760"/>
            <a:ext cx="2682240" cy="914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7985760" y="10607040"/>
            <a:ext cx="0" cy="18288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668000" y="10607040"/>
            <a:ext cx="0" cy="18288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574280" y="1063447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$5B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56520" y="1063447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$7B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50880" y="10616184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Secondary market — Hiive order book (39–51% discount)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825472" y="8778240"/>
            <a:ext cx="0" cy="502920"/>
          </a:xfrm>
          <a:prstGeom prst="line">
            <a:avLst/>
          </a:prstGeom>
          <a:ln w="19050">
            <a:solidFill>
              <a:srgbClr val="E66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4724888" y="9180576"/>
            <a:ext cx="201168" cy="201168"/>
          </a:xfrm>
          <a:prstGeom prst="ellipse">
            <a:avLst/>
          </a:prstGeom>
          <a:solidFill>
            <a:srgbClr val="E66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911072" y="83210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66E2C"/>
                </a:solidFill>
                <a:latin typeface="Calibri"/>
              </a:rPr>
              <a:t>$10.1B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545312" y="85222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66E2C"/>
                </a:solidFill>
                <a:latin typeface="Calibri"/>
              </a:rPr>
              <a:t>Series G mark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192768" y="7863840"/>
            <a:ext cx="5632704" cy="0"/>
          </a:xfrm>
          <a:prstGeom prst="line">
            <a:avLst/>
          </a:prstGeom>
          <a:ln w="19050">
            <a:solidFill>
              <a:srgbClr val="E66E2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192768" y="7863840"/>
            <a:ext cx="0" cy="164591"/>
          </a:xfrm>
          <a:prstGeom prst="line">
            <a:avLst/>
          </a:prstGeom>
          <a:ln w="19050">
            <a:solidFill>
              <a:srgbClr val="E66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4825472" y="7863840"/>
            <a:ext cx="0" cy="164591"/>
          </a:xfrm>
          <a:prstGeom prst="line">
            <a:avLst/>
          </a:prstGeom>
          <a:ln w="19050">
            <a:solidFill>
              <a:srgbClr val="E66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723120" y="74797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66E2C"/>
                </a:solidFill>
                <a:latin typeface="Calibri"/>
              </a:rPr>
              <a:t>GAP  ≈  $4.2B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94320" y="7726679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11827"/>
                </a:solidFill>
                <a:latin typeface="Calibri"/>
              </a:rPr>
              <a:t>bridged by ~1.7× growth premium (103% vs. comps 10–26%) + real-option layer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10058400"/>
            <a:ext cx="17373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Sources: S&amp;P Capital IQ (Apr 16, 2026) · comp-trading-multiples-summary.md · precedent-transactions.md · secondary-market-pricing.md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7373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66E2C"/>
                </a:solidFill>
                <a:latin typeface="Calibri"/>
              </a:rPr>
              <a:t>TRIANGULATION STRIP — DROP-IN 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486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Group the shapes below and paste over the bottom of the live comp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7465040" cy="30175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7007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6E2C"/>
                </a:solidFill>
                <a:latin typeface="Calibri"/>
              </a:rPr>
              <a:t>COMP-IMPLIED VALUATION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7007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1F3A5F"/>
                </a:solidFill>
                <a:latin typeface="Calibri"/>
              </a:rPr>
              <a:t>Static comps converge $5.1–5.9B. Series G prices $10.1B. The ~$4.2B gap is what the DCF + real-options must defend.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0" y="3337560"/>
            <a:ext cx="1609344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80160" y="33375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34564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$0B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2400" y="33375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50920" y="34564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$2B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44640" y="33375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33160" y="34564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$4B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0" y="33375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15400" y="34564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$6B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009120" y="33375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97640" y="34564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$8B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691360" y="33375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279880" y="34564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$10B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373600" y="3337560"/>
            <a:ext cx="0" cy="9144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962120" y="345643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$12B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9872" y="2834639"/>
            <a:ext cx="1072896" cy="502920"/>
          </a:xfrm>
          <a:prstGeom prst="rect">
            <a:avLst/>
          </a:prstGeom>
          <a:solidFill>
            <a:srgbClr val="FF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2" y="2624328"/>
            <a:ext cx="26273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E66E2C"/>
                </a:solidFill>
                <a:latin typeface="Calibri"/>
              </a:rPr>
              <a:t>STATIC-COMP BAND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19872" y="2834639"/>
            <a:ext cx="0" cy="502921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046720" y="3264408"/>
            <a:ext cx="146304" cy="14630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2377439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3A5F"/>
                </a:solidFill>
                <a:latin typeface="Calibri"/>
              </a:rPr>
              <a:t>$5.1B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25786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1827"/>
                </a:solidFill>
                <a:latin typeface="Calibri"/>
              </a:rPr>
              <a:t>Bear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90432" y="2834639"/>
            <a:ext cx="0" cy="502921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717280" y="3264408"/>
            <a:ext cx="146304" cy="14630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6032" y="2377439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3A5F"/>
                </a:solidFill>
                <a:latin typeface="Calibri"/>
              </a:rPr>
              <a:t>$5.6B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6032" y="25786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1827"/>
                </a:solidFill>
                <a:latin typeface="Calibri"/>
              </a:rPr>
              <a:t>Base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92768" y="2834639"/>
            <a:ext cx="0" cy="502921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119616" y="3264408"/>
            <a:ext cx="146304" cy="14630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8368" y="2377439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3A5F"/>
                </a:solidFill>
                <a:latin typeface="Calibri"/>
              </a:rPr>
              <a:t>$5.9B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8368" y="25786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11827"/>
                </a:solidFill>
                <a:latin typeface="Calibri"/>
              </a:rPr>
              <a:t>Bull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3822191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37947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Bear  40/40/20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39776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blended 4.6×</a:t>
            </a:r>
          </a:p>
        </p:txBody>
      </p:sp>
      <p:sp>
        <p:nvSpPr>
          <p:cNvPr id="39" name="Oval 38"/>
          <p:cNvSpPr/>
          <p:nvPr/>
        </p:nvSpPr>
        <p:spPr>
          <a:xfrm>
            <a:off x="3017520" y="3822191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37947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Base  20/40/40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39776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blended 5.1×</a:t>
            </a:r>
          </a:p>
        </p:txBody>
      </p:sp>
      <p:sp>
        <p:nvSpPr>
          <p:cNvPr id="42" name="Oval 41"/>
          <p:cNvSpPr/>
          <p:nvPr/>
        </p:nvSpPr>
        <p:spPr>
          <a:xfrm>
            <a:off x="5303520" y="3822191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37947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Bull  10/30/60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39776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blended 5.4×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85760" y="4206240"/>
            <a:ext cx="4023360" cy="914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7985760" y="4160520"/>
            <a:ext cx="0" cy="18288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009120" y="4160520"/>
            <a:ext cx="0" cy="18288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574280" y="41879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$5B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97640" y="41879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$8B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92000" y="4169663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Precedent M&amp;A (14 deals, current-regime medtech 6.6–10.1×)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85760" y="4709160"/>
            <a:ext cx="2682240" cy="914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7985760" y="4663440"/>
            <a:ext cx="0" cy="18288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668000" y="4663440"/>
            <a:ext cx="0" cy="18288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574280" y="469087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$5B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56520" y="469087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$7B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50880" y="4672584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Secondary market — Hiive order book (39–51% discount)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4825472" y="2834639"/>
            <a:ext cx="0" cy="502921"/>
          </a:xfrm>
          <a:prstGeom prst="line">
            <a:avLst/>
          </a:prstGeom>
          <a:ln w="19050">
            <a:solidFill>
              <a:srgbClr val="E66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4724888" y="3236976"/>
            <a:ext cx="201168" cy="201168"/>
          </a:xfrm>
          <a:prstGeom prst="ellipse">
            <a:avLst/>
          </a:prstGeom>
          <a:solidFill>
            <a:srgbClr val="E66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911072" y="2377439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66E2C"/>
                </a:solidFill>
                <a:latin typeface="Calibri"/>
              </a:rPr>
              <a:t>$10.1B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545312" y="25786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66E2C"/>
                </a:solidFill>
                <a:latin typeface="Calibri"/>
              </a:rPr>
              <a:t>Series G mark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92768" y="1920239"/>
            <a:ext cx="5632704" cy="0"/>
          </a:xfrm>
          <a:prstGeom prst="line">
            <a:avLst/>
          </a:prstGeom>
          <a:ln w="19050">
            <a:solidFill>
              <a:srgbClr val="E66E2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192768" y="1920239"/>
            <a:ext cx="0" cy="164592"/>
          </a:xfrm>
          <a:prstGeom prst="line">
            <a:avLst/>
          </a:prstGeom>
          <a:ln w="19050">
            <a:solidFill>
              <a:srgbClr val="E66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4825472" y="1920239"/>
            <a:ext cx="0" cy="164592"/>
          </a:xfrm>
          <a:prstGeom prst="line">
            <a:avLst/>
          </a:prstGeom>
          <a:ln w="19050">
            <a:solidFill>
              <a:srgbClr val="E66E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723120" y="1536191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66E2C"/>
                </a:solidFill>
                <a:latin typeface="Calibri"/>
              </a:rPr>
              <a:t>GAP  ≈  $4.2B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4320" y="1783079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11827"/>
                </a:solidFill>
                <a:latin typeface="Calibri"/>
              </a:rPr>
              <a:t>bridged by ~1.7× growth premium (103% vs. comps 10–26%) + real-option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