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800" kern="0" dirty="0">
                <a:solidFill>
                  <a:srgbClr val="00B4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WHOOP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1200" kern="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INC.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Company Valuation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Committee Memo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206240"/>
            <a:ext cx="9144000" cy="777240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2519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  |  Series G: $10.1B Post-Money  |  $1.1B Revenue Run-Rate  |  2.5M+ Members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Thesis, key metrics, verdict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527048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727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572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model, products, competitive position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002536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0482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0482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Competitive Landscape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0482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TAM, SAM, positioning vs. Oura/Apple/Garmin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478024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5237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5237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5237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build, margins, unit economics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2953512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9992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2999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— DCF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2999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Scenario-based with real-options layer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42900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474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— Comps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Three-bucket comparable company analysis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3904488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9502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71600" y="3950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Football Field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54880" y="3950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Five-method triangulation summary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" y="4379976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4256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71600" y="4425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Considerations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54880" y="44256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 case, Peloton parallel, key risks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08660" y="1051560"/>
            <a:ext cx="1691640" cy="137160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8660" y="11430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$10.1B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08660" y="18745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Post-Money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20340" y="1051560"/>
            <a:ext cx="1691640" cy="137160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20340" y="11430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4CF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$1.1B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20340" y="18745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Run-Rate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32020" y="1051560"/>
            <a:ext cx="1691640" cy="137160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32020" y="11430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103%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32020" y="18745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Sub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43700" y="1051560"/>
            <a:ext cx="1691640" cy="137160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43700" y="11430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4CF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CF+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43700" y="18745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Flow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697480"/>
            <a:ext cx="7680960" cy="201168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2697480"/>
            <a:ext cx="54864" cy="2011680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27889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Thesis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154680"/>
            <a:ext cx="7132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$3.6B (2021) to $10.1B (2026) re-rating reflects three drivers: (1) revenue grew ~5.5x while the multiple actually compressed, (2) healthcare pivot gained credibility via FDA clearances and Abbott/Mayo strategic investment, and (3) Rule of 40 elite status with 103% growth + cash flow positive.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central question: does intrinsic value plus real-option upside support the $10.1B mark, or is the mark ahead of fundamentals?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COMPANY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356616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 2012, Boston MA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CEO: Will Ahmed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+ subscription model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2.5M+ members globally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FDA-cleared ECG, BP Insights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Abbott + Mayo strategic investors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G: $575M (Mar 2026)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IPO trajectory ~2027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657600" cy="356616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Stack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6916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WHOOP 5.0 Strap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189280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wearable hardware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0" y="21488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Platform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35000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$30/mo analytics engine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26060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WHOOP Coach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80720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coaching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30632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Labs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326440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biomarker analysis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35204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Healthspan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372160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Longevity tracking suite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39776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 Insights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417880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FDA-cleared blood pressure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B4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&amp;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LANDSCAPE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sizing, competitive positioning, and moat analysis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POSITIONING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[Competitive matrix / positioning chart to be populated with research data]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B4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build, margin trajectory, and unit economics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BUILD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70432"/>
                <a:gridCol w="1170432"/>
                <a:gridCol w="1170432"/>
                <a:gridCol w="1170432"/>
                <a:gridCol w="1170432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808080"/>
                          </a:solidFill>
                        </a:rPr>
                        <a:t>($mm)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B4A0"/>
                          </a:solidFill>
                        </a:rPr>
                        <a:t>2024A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B4A0"/>
                          </a:solidFill>
                        </a:rPr>
                        <a:t>2025A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B4A0"/>
                          </a:solidFill>
                        </a:rPr>
                        <a:t>2026E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B4A0"/>
                          </a:solidFill>
                        </a:rPr>
                        <a:t>2027E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B4A0"/>
                          </a:solidFill>
                        </a:rPr>
                        <a:t>2028E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Members (000s)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Net Adds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Churn 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ARPU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Sub Revenue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HW Revenue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Total Revenue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YoY Growth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B4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VALUATION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DCF ANALYSIS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Scenario-based DCF with real-options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DCF — KEY ASSUMPTIONS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[Assumptions table and scenario parameters — to be populated from model]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DCF — SENSITIVITY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[WACC vs. Terminal Growth sensitivity matrix — to be populated from model]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OPTIONS LAYER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474720" cy="164592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54864" cy="1645920"/>
          </a:xfrm>
          <a:prstGeom prst="rect">
            <a:avLst/>
          </a:prstGeom>
          <a:solidFill>
            <a:srgbClr val="44CF6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234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/ Reimbursement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554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Abbott + Mayo partnerships, FDA clearances, insurance pathway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P: [TBD]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3474720" cy="164592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54864" cy="1645920"/>
          </a:xfrm>
          <a:prstGeom prst="rect">
            <a:avLst/>
          </a:prstGeom>
          <a:solidFill>
            <a:srgbClr val="44CF6C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234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Expansion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554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EU, Gulf states, LatAm, Asia-Pac market entry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P: [TBD]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3474720" cy="164592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108960"/>
            <a:ext cx="54864" cy="1645920"/>
          </a:xfrm>
          <a:prstGeom prst="rect">
            <a:avLst/>
          </a:prstGeom>
          <a:solidFill>
            <a:srgbClr val="44CF6C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246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Enterprise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566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wellness, clinical deployment, pro teams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P: [TBD]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108960"/>
            <a:ext cx="3474720" cy="164592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108960"/>
            <a:ext cx="54864" cy="1645920"/>
          </a:xfrm>
          <a:prstGeom prst="rect">
            <a:avLst/>
          </a:prstGeom>
          <a:solidFill>
            <a:srgbClr val="44CF6C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246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Women's Health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566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feature gap vs. Oura Ring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P: [TBD]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B4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VALUATION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COMPARABLE COMPANIES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Three-bucket framework: hardware, subscription, health data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THREE-BUCKET COMP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2377440" cy="320040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23774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1–3x Rev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Garmin, GoPro, Logitech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097280"/>
            <a:ext cx="2377440" cy="320040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097280"/>
            <a:ext cx="2377440" cy="54864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371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2–5x Rev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66160" y="27432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Peloton, Netflix, Spotify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377440" cy="320040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97280"/>
            <a:ext cx="2377440" cy="54864"/>
          </a:xfrm>
          <a:prstGeom prst="rect">
            <a:avLst/>
          </a:prstGeom>
          <a:solidFill>
            <a:srgbClr val="44CF6C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371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Data /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Device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4CF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6–10x Rev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9360" y="27432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Dexcom, ResMed, Masimo,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Insulet, Abbott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 weighting is itself an argument — the defensible weighting scheme is part of the work.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B4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FOOTBALL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FIELD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Five-method valuation triangulation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VALUATION TRIANGULATION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[Football field horizontal bar chart — to be generated from model outputs]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097280"/>
            <a:ext cx="0" cy="2743200"/>
          </a:xfrm>
          <a:prstGeom prst="line">
            <a:avLst/>
          </a:prstGeom>
          <a:noFill/>
          <a:ln w="25400">
            <a:solidFill>
              <a:srgbClr val="00B4A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66344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G: $10.1B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Implied Range: $[X]B — $[X]B  |  Weighted Average: $[X]B  |  vs. Series G: [X]% premium/(discount)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B4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RISKS &amp;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CONSIDERATIONS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 case, Peloton parallel, and key risk factors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PELOTON QUESTION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WHOOP is not Peloton — and where the argument breaks down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566160" cy="310896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3566160" cy="54864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WHOOP Advantages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be populated with differentiation analysis]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3566160" cy="310896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463040"/>
            <a:ext cx="3566160" cy="54864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Risks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be populated with parallel risk analysis]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RISK FACTORS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3474720" cy="100584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51560"/>
            <a:ext cx="54864" cy="100584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143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&amp; Retention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463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Post-year-1 retention curve unknown; hardware novelty fade risk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3474720" cy="100584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51560"/>
            <a:ext cx="54864" cy="100584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43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/ Big Tech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Watch health features closing capability gap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3474720" cy="100584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377440"/>
            <a:ext cx="54864" cy="100584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468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pathway dependency; international regulatory divergence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377440"/>
            <a:ext cx="3474720" cy="100584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377440"/>
            <a:ext cx="54864" cy="100584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468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subsidization; BOM cost and payback period uncertainty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703320"/>
            <a:ext cx="3474720" cy="100584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703320"/>
            <a:ext cx="54864" cy="100584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Support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114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G mark may embed IPO optionality premium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703320"/>
            <a:ext cx="3474720" cy="100584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703320"/>
            <a:ext cx="54864" cy="100584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4114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Oura Gen 3 / Samsung / Google Pixel Watch acceleration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VERDICT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182880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54864" cy="1828800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4630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[Valuation verdict and recommendation — to be populated after model completion]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7680960" cy="1280160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5661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$[X]B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4114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Intrinsic Value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0" y="35661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$10.1B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0" y="4114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G Mark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0" y="35661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[X]%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17920" y="4114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Premium/(Discount)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WHOOP Inc. — Private Company Valuation</dc:title>
  <dc:subject>PptxGenJS Presentation</dc:subject>
  <dc:creator>WHOOP Valuation Team</dc:creator>
  <cp:lastModifiedBy>WHOOP Valuation Team</cp:lastModifiedBy>
  <cp:revision>1</cp:revision>
  <dcterms:created xsi:type="dcterms:W3CDTF">2026-04-16T04:23:09Z</dcterms:created>
  <dcterms:modified xsi:type="dcterms:W3CDTF">2026-04-16T04:23:09Z</dcterms:modified>
</cp:coreProperties>
</file>